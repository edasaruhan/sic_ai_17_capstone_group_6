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slides/charts/chart1.xml" ContentType="application/vnd.openxmlformats-officedocument.drawingml.chart+xml"/>
  <Override PartName="/ppt/notesSlides/notesSlide3.xml" ContentType="application/vnd.openxmlformats-officedocument.presentationml.notesSlide+xml"/>
  <Override PartName="/ppt/slides/slide4.xml" ContentType="application/vnd.openxmlformats-officedocument.presentationml.slide+xml"/>
  <Override PartName="/ppt/slides/charts/chart2.xml" ContentType="application/vnd.openxmlformats-officedocument.drawingml.chart+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3.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e5a9289fcd9b467c" /><Relationship Type="http://schemas.openxmlformats.org/officeDocument/2006/relationships/extended-properties" Target="/docProps/app.xml" Id="Rc9d24286ac2b4339" /><Relationship Type="http://schemas.openxmlformats.org/officeDocument/2006/relationships/officeDocument" Target="/ppt/presentation.xml" Id="Re1283334850f4740" /></Relationships>
</file>

<file path=ppt/presentation.xml><?xml version="1.0" encoding="utf-8"?>
<p:presentation xmlns:p="http://schemas.openxmlformats.org/presentationml/2006/main">
  <p:sldMasterIdLst>
    <p:sldMasterId xmlns:r="http://schemas.openxmlformats.org/officeDocument/2006/relationships" id="2147483648" r:id="R02e84285ebc540b7"/>
  </p:sldMasterIdLst>
  <p:notesMasterIdLst>
    <p:notesMasterId xmlns:r="http://schemas.openxmlformats.org/officeDocument/2006/relationships" r:id="Re5f872df51b44f28"/>
  </p:notesMasterIdLst>
  <p:sldIdLst>
    <p:sldId xmlns:r="http://schemas.openxmlformats.org/officeDocument/2006/relationships" id="256" r:id="R2f327c5a206f4c14"/>
    <p:sldId xmlns:r="http://schemas.openxmlformats.org/officeDocument/2006/relationships" id="257" r:id="Rc9082418b78d4823"/>
    <p:sldId xmlns:r="http://schemas.openxmlformats.org/officeDocument/2006/relationships" id="258" r:id="Rbfd975cf06b24cbf"/>
    <p:sldId xmlns:r="http://schemas.openxmlformats.org/officeDocument/2006/relationships" id="259" r:id="R6a060aefe8cb4409"/>
    <p:sldId xmlns:r="http://schemas.openxmlformats.org/officeDocument/2006/relationships" id="260" r:id="R26dddc163d2349df"/>
    <p:sldId xmlns:r="http://schemas.openxmlformats.org/officeDocument/2006/relationships" id="261" r:id="Rf2b38572ae394ea8"/>
    <p:sldId xmlns:r="http://schemas.openxmlformats.org/officeDocument/2006/relationships" id="262" r:id="R67d967145ca64ff4"/>
    <p:sldId xmlns:r="http://schemas.openxmlformats.org/officeDocument/2006/relationships" id="263" r:id="R8bdfab2bce2342b8"/>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2d5f508a79b4f86" /><Relationship Type="http://schemas.openxmlformats.org/officeDocument/2006/relationships/slideMaster" Target="/ppt/slideMasters/slideMaster1.xml" Id="R02e84285ebc540b7" /><Relationship Type="http://schemas.openxmlformats.org/officeDocument/2006/relationships/notesMaster" Target="/ppt/notesMasters/notesMaster1.xml" Id="Re5f872df51b44f28" /><Relationship Type="http://schemas.openxmlformats.org/officeDocument/2006/relationships/presProps" Target="/ppt/presProps.xml" Id="Rc26cc49964144d7f" /><Relationship Type="http://schemas.openxmlformats.org/officeDocument/2006/relationships/tableStyles" Target="/ppt/tableStyles.xml" Id="R50dc6feab9de4e0d" /><Relationship Type="http://schemas.openxmlformats.org/officeDocument/2006/relationships/slide" Target="/ppt/slides/slide1.xml" Id="R2f327c5a206f4c14" /><Relationship Type="http://schemas.openxmlformats.org/officeDocument/2006/relationships/slide" Target="/ppt/slides/slide2.xml" Id="Rc9082418b78d4823" /><Relationship Type="http://schemas.openxmlformats.org/officeDocument/2006/relationships/slide" Target="/ppt/slides/slide3.xml" Id="Rbfd975cf06b24cbf" /><Relationship Type="http://schemas.openxmlformats.org/officeDocument/2006/relationships/slide" Target="/ppt/slides/slide4.xml" Id="R6a060aefe8cb4409" /><Relationship Type="http://schemas.openxmlformats.org/officeDocument/2006/relationships/slide" Target="/ppt/slides/slide5.xml" Id="R26dddc163d2349df" /><Relationship Type="http://schemas.openxmlformats.org/officeDocument/2006/relationships/slide" Target="/ppt/slides/slide6.xml" Id="Rf2b38572ae394ea8" /><Relationship Type="http://schemas.openxmlformats.org/officeDocument/2006/relationships/slide" Target="/ppt/slides/slide7.xml" Id="R67d967145ca64ff4" /><Relationship Type="http://schemas.openxmlformats.org/officeDocument/2006/relationships/slide" Target="/ppt/slides/slide8.xml" Id="R8bdfab2bce2342b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1510d3129574bd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8ceb2e1487d4717" /><Relationship Type="http://schemas.openxmlformats.org/officeDocument/2006/relationships/notesMaster" Target="/ppt/notesMasters/notesMaster1.xml" Id="R92344651df044f12" /></Relationships>
</file>

<file path=ppt/notesSlides/_rels/notesSlide2.xml.rels>&#65279;<?xml version="1.0" encoding="utf-8"?><Relationships xmlns="http://schemas.openxmlformats.org/package/2006/relationships"><Relationship Type="http://schemas.openxmlformats.org/officeDocument/2006/relationships/slide" Target="/ppt/slides/slide2.xml" Id="R3ee756a1a9c94094" /><Relationship Type="http://schemas.openxmlformats.org/officeDocument/2006/relationships/notesMaster" Target="/ppt/notesMasters/notesMaster1.xml" Id="Rce8ab0850d784734" /></Relationships>
</file>

<file path=ppt/notesSlides/_rels/notesSlide3.xml.rels>&#65279;<?xml version="1.0" encoding="utf-8"?><Relationships xmlns="http://schemas.openxmlformats.org/package/2006/relationships"><Relationship Type="http://schemas.openxmlformats.org/officeDocument/2006/relationships/slide" Target="/ppt/slides/slide3.xml" Id="Rf19dc7041aae4d8c" /><Relationship Type="http://schemas.openxmlformats.org/officeDocument/2006/relationships/notesMaster" Target="/ppt/notesMasters/notesMaster1.xml" Id="R305603097fa04078" /></Relationships>
</file>

<file path=ppt/notesSlides/_rels/notesSlide4.xml.rels>&#65279;<?xml version="1.0" encoding="utf-8"?><Relationships xmlns="http://schemas.openxmlformats.org/package/2006/relationships"><Relationship Type="http://schemas.openxmlformats.org/officeDocument/2006/relationships/slide" Target="/ppt/slides/slide4.xml" Id="Rb050320d1a9642a6" /><Relationship Type="http://schemas.openxmlformats.org/officeDocument/2006/relationships/notesMaster" Target="/ppt/notesMasters/notesMaster1.xml" Id="R252baae737724a43" /></Relationships>
</file>

<file path=ppt/notesSlides/_rels/notesSlide5.xml.rels>&#65279;<?xml version="1.0" encoding="utf-8"?><Relationships xmlns="http://schemas.openxmlformats.org/package/2006/relationships"><Relationship Type="http://schemas.openxmlformats.org/officeDocument/2006/relationships/slide" Target="/ppt/slides/slide5.xml" Id="R546b61b473d347b9" /><Relationship Type="http://schemas.openxmlformats.org/officeDocument/2006/relationships/notesMaster" Target="/ppt/notesMasters/notesMaster1.xml" Id="Rd63cfad4f69841fd" /></Relationships>
</file>

<file path=ppt/notesSlides/_rels/notesSlide6.xml.rels>&#65279;<?xml version="1.0" encoding="utf-8"?><Relationships xmlns="http://schemas.openxmlformats.org/package/2006/relationships"><Relationship Type="http://schemas.openxmlformats.org/officeDocument/2006/relationships/slide" Target="/ppt/slides/slide6.xml" Id="Reb42f96cb82141ad" /><Relationship Type="http://schemas.openxmlformats.org/officeDocument/2006/relationships/notesMaster" Target="/ppt/notesMasters/notesMaster1.xml" Id="Rea0706aad9f44024" /></Relationships>
</file>

<file path=ppt/notesSlides/_rels/notesSlide7.xml.rels>&#65279;<?xml version="1.0" encoding="utf-8"?><Relationships xmlns="http://schemas.openxmlformats.org/package/2006/relationships"><Relationship Type="http://schemas.openxmlformats.org/officeDocument/2006/relationships/slide" Target="/ppt/slides/slide7.xml" Id="Rc00fa38ffa7a449d" /><Relationship Type="http://schemas.openxmlformats.org/officeDocument/2006/relationships/notesMaster" Target="/ppt/notesMasters/notesMaster1.xml" Id="R758dbe21e0794416" /></Relationships>
</file>

<file path=ppt/notesSlides/_rels/notesSlide8.xml.rels>&#65279;<?xml version="1.0" encoding="utf-8"?><Relationships xmlns="http://schemas.openxmlformats.org/package/2006/relationships"><Relationship Type="http://schemas.openxmlformats.org/officeDocument/2006/relationships/slide" Target="/ppt/slides/slide8.xml" Id="R69f3ce7b965f4f00" /><Relationship Type="http://schemas.openxmlformats.org/officeDocument/2006/relationships/notesMaster" Target="/ppt/notesMasters/notesMaster1.xml" Id="R7e13b0a23ea34f7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Türkçe konuşmacı notu — 20 saniye.</a:t>
            </a:r>
          </a:p>
          <a:p xmlns:a="http://schemas.openxmlformats.org/drawingml/2006/main">
            <a:r>
              <a:t/>
            </a:r>
          </a:p>
          <a:p xmlns:a="http://schemas.openxmlformats.org/drawingml/2006/main">
            <a:r>
              <a:t>Merhaba. Samsung Innovation Campus AI in Marketing capstone projemiz Retail Location Intelligence. Çankaya’daki kafe girişimcilerinin müşteri çevresine erişim ve rekabet koşullarını karşılaştırarak aday bölgeleri daha hızlı seçmesini desteklemeyi amaçlıyoruz. Bugün problemi, karar yaklaşımını, AI doğrulamasını ve sonraki adımı anlatacağım.</a:t>
            </a:r>
          </a:p>
          <a:p xmlns:a="http://schemas.openxmlformats.org/drawingml/2006/main">
            <a:r>
              <a:t/>
            </a:r>
          </a:p>
          <a:p xmlns:a="http://schemas.openxmlformats.org/drawingml/2006/main">
            <a:r>
              <a:t>Sources: https://github.com/edasaruhan/SIC_AI_17_Capstone_Group_6/tree/58ce550c027d3ddce9f209fe3979bea849d5716a (app.py; src/scoring.py; src/cafe_similarity.py; docs/model_validation.md; data/processed). Technical baseline 58ce550; narrative updated 6 October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Türkçe konuşmacı notu — 40 saniye.</a:t>
            </a:r>
          </a:p>
          <a:p xmlns:a="http://schemas.openxmlformats.org/drawingml/2006/main">
            <a:r>
              <a:t/>
            </a:r>
          </a:p>
          <a:p xmlns:a="http://schemas.openxmlformats.org/drawingml/2006/main">
            <a:r>
              <a:t>Hedef kullanıcımız yeni bir kafe açmayı düşünen girişimci. Temel soru, hangi bölgelerin saha incelemesine değer olduğu. Nüfus, yakın kurumlar, ulaşım ve rekabet bilgileri ayrı ayrı incelendiğinde karşılaştırma zorlaşıyor. Biz bunları ortak bir mekânsal birimde birleştiriyoruz. Pazarlama bağlantısı, işletmenin hedeflediği müşteri çevresine hangi bölgelerde daha iyi erişebileceğini değerlendirmesi. Ancak müşteri tercihlerini veya segment üyeliğini doğrudan gözlemlemiyoruz. Bu nedenle sonuç, müşteri talebinin kesin tahmini değil; girişimcinin kendi konseptiyle birlikte yorumlayacağı bir bölge eleme desteği.</a:t>
            </a:r>
          </a:p>
          <a:p xmlns:a="http://schemas.openxmlformats.org/drawingml/2006/main">
            <a:r>
              <a:t/>
            </a:r>
          </a:p>
          <a:p xmlns:a="http://schemas.openxmlformats.org/drawingml/2006/main">
            <a:r>
              <a:t>Sources: https://github.com/edasaruhan/SIC_AI_17_Capstone_Group_6/tree/58ce550c027d3ddce9f209fe3979bea849d5716a (app.py; src/scoring.py; src/cafe_similarity.py; docs/model_validation.md; data/processed). Technical baseline 58ce550; narrative updated 6 October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Türkçe konuşmacı notu — 40 saniye.</a:t>
            </a:r>
          </a:p>
          <a:p xmlns:a="http://schemas.openxmlformats.org/drawingml/2006/main">
            <a:r>
              <a:t/>
            </a:r>
          </a:p>
          <a:p xmlns:a="http://schemas.openxmlformats.org/drawingml/2006/main">
            <a:r>
              <a:t>Çalışma alanı Ankara’nın Çankaya ilçesi. Kayıtlı veri, 300 metrelik 5.361 hücreden ve 121 mahalle etiketinden oluşuyor. OpenStreetMap yerleri ve ulaşım çevresini, depodaki 2025 nüfus verisi ise konut nüfusunu temsil ediyor. Grafikte 500 metrelik çevresinde en az bir kafe bulunan 817 hücreyi görüyoruz; oran yüzde 15,24. Bu, farklı işletmelerin sayısı değil, hücrelerdeki kafe varlığı. Komşu hücrelerin tamponları örtüşebilir. Nüfus da yaya trafiği anlamına gelmez. Yaş verisinin eksik olması ve bazı yeni talep katmanlarının kayıtlı ızgarada bulunmaması, müşteri segmentasyonu iddiamızı sınırlar.</a:t>
            </a:r>
          </a:p>
          <a:p xmlns:a="http://schemas.openxmlformats.org/drawingml/2006/main">
            <a:r>
              <a:t/>
            </a:r>
          </a:p>
          <a:p xmlns:a="http://schemas.openxmlformats.org/drawingml/2006/main">
            <a:r>
              <a:t>Sources: https://github.com/edasaruhan/SIC_AI_17_Capstone_Group_6/tree/58ce550c027d3ddce9f209fe3979bea849d5716a (app.py; src/scoring.py; src/cafe_similarity.py; docs/model_validation.md; data/processed). Technical baseline 58ce550; narrative updated 6 October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Türkçe konuşmacı notu — 45 saniye.</a:t>
            </a:r>
          </a:p>
          <a:p xmlns:a="http://schemas.openxmlformats.org/drawingml/2006/main">
            <a:r>
              <a:t/>
            </a:r>
          </a:p>
          <a:p xmlns:a="http://schemas.openxmlformats.org/drawingml/2006/main">
            <a:r>
              <a:t>Ana sıralama, çok ölçütlü karar analizi yani MCDA ile yapılıyor. Varsayılan pozitif ağırlıklar talep için 0,45, erişim için 0,25 ve nüfus için 0,20; kendi toplamlarına bölünüyor. Grafikte normalize edilmiş paylar var. Restoran doygunluğu ve yoğun kafe rekabeti puanı azaltabiliyor. Kullanıcı senaryosunu değiştirdiğinde katkıları inceleyebiliyor; bu ağırlıklar satış verisinden öğrenilmiş değil. Random Forest ise ayrı bir karşılaştırma katmanı. On iki mekânsal girdiden, mevcut kafelerin bulunduğu çevrelere benzerliği değerlendiriyor. MCDA puanıyla birleştirilmiş kârlılık skoru üretmiyoruz. İki katman farklı sorulara yanıt verdiği için kullanıcı ikisini birlikte, ama ayrı anlamlarıyla yorumluyor.</a:t>
            </a:r>
          </a:p>
          <a:p xmlns:a="http://schemas.openxmlformats.org/drawingml/2006/main">
            <a:r>
              <a:t/>
            </a:r>
          </a:p>
          <a:p xmlns:a="http://schemas.openxmlformats.org/drawingml/2006/main">
            <a:r>
              <a:t>Sources: https://github.com/edasaruhan/SIC_AI_17_Capstone_Group_6/tree/58ce550c027d3ddce9f209fe3979bea849d5716a (app.py; src/scoring.py; src/cafe_similarity.py; docs/model_validation.md; data/processed). Technical baseline 58ce550; narrative updated 6 October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Türkçe konuşmacı notu — 45 saniye.</a:t>
            </a:r>
          </a:p>
          <a:p xmlns:a="http://schemas.openxmlformats.org/drawingml/2006/main">
            <a:r>
              <a:t/>
            </a:r>
          </a:p>
          <a:p xmlns:a="http://schemas.openxmlformats.org/drawingml/2006/main">
            <a:r>
              <a:t>AI bölümünde Random Forest kullanıyoruz: 300 ağaç, en fazla sekiz derinlik ve dengelenmiş sınıf ağırlıkları. Doğrulama beş katlı ve mahalle bazlı; bir mahalle tamamen tek katta kalıyor. Eksik değer medyanı yalnız eğitim bölümünde hesaplanıyor. Kafe varlığı, çeşitlilik girdisinden çıkarılmış durumda ve hedef bilgisi modele girdi olmuyor. Ekrandaki benzerlik, yalnız ilgili hücrenin dışarıda tutulduğu tahmine dayanıyor. Kayıtlı doğrulamanın ortalama ROC-AUC değeri 0,960; katlar 0,900 ile 0,990 arasında. Bu teknik sonuç mevcut kafe varlığını ayırt etmeyi gösterir. Mahalle sınırındaki örtüşen çevreler bağımlılık yaratabilir; bağımsız test veya ticari başarı doğrulaması yapılmış değil.</a:t>
            </a:r>
          </a:p>
          <a:p xmlns:a="http://schemas.openxmlformats.org/drawingml/2006/main">
            <a:r>
              <a:t/>
            </a:r>
          </a:p>
          <a:p xmlns:a="http://schemas.openxmlformats.org/drawingml/2006/main">
            <a:r>
              <a:t>Sources: https://github.com/edasaruhan/SIC_AI_17_Capstone_Group_6/tree/58ce550c027d3ddce9f209fe3979bea849d5716a (app.py; src/scoring.py; src/cafe_similarity.py; docs/model_validation.md; data/processed). Technical baseline 58ce550; narrative updated 6 October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Türkçe konuşmacı notu — 40 saniye.</a:t>
            </a:r>
          </a:p>
          <a:p xmlns:a="http://schemas.openxmlformats.org/drawingml/2006/main">
            <a:r>
              <a:t/>
            </a:r>
          </a:p>
          <a:p xmlns:a="http://schemas.openxmlformats.org/drawingml/2006/main">
            <a:r>
              <a:t>Kullanım akışı dört adım. Önce kullanıcı mahalleyi ve ilgilendiği çevreyi seçiyor. Ardından talep, erişim, nüfus ve rekabet senaryosunun ağırlıklarını düzenliyor. Haritadaki adayların puan katkılarını, ayrı AI benzerliğini ve rekabet uyarılarını karşılaştırıyor. Son olarak seçtiği bölgelerde kira, gerçek yaya hareketi ve kafe konseptine uygunluğu sahada kontrol ediyor. Yanındaki harita depodaki eski görsel örneği; güncel sonuçların ekran görüntüsü olarak sunulmuyor. Uygulama güncel kodla puanları yeniden hesaplıyor. Eksik katmanlar veya ham kafe koordinatları yoksa ilgili puanların geçici niteliği kullanıcıya gösteriliyor.</a:t>
            </a:r>
          </a:p>
          <a:p xmlns:a="http://schemas.openxmlformats.org/drawingml/2006/main">
            <a:r>
              <a:t/>
            </a:r>
          </a:p>
          <a:p xmlns:a="http://schemas.openxmlformats.org/drawingml/2006/main">
            <a:r>
              <a:t>Sources: https://github.com/edasaruhan/SIC_AI_17_Capstone_Group_6/tree/58ce550c027d3ddce9f209fe3979bea849d5716a (app.py; src/scoring.py; src/cafe_similarity.py; docs/model_validation.md; data/processed). Technical baseline 58ce550; narrative updated 6 October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Türkçe konuşmacı notu — 35 saniye.</a:t>
            </a:r>
          </a:p>
          <a:p xmlns:a="http://schemas.openxmlformats.org/drawingml/2006/main">
            <a:r>
              <a:t/>
            </a:r>
          </a:p>
          <a:p xmlns:a="http://schemas.openxmlformats.org/drawingml/2006/main">
            <a:r>
              <a:t>Çalışan teslimat, yerel olarak açılabilen Streamlit uygulaması ve Docker yapılandırması. Teknik temel main sürümünde Python 3.11 ve 3.12 için 43 test başarılıydı. Testler puanlama, sızıntı önlemleri, çapraz doğrulama ve uygulama akışlarını kapsıyor. Buradaki son güncelleme anlatımı ve dokümantasyonu hizalıyor; karar algoritmasını değiştirmiyor. Sınırlamalarımız eksik OpenStreetMap kapsamı, dolaylı müşteri göstergeleri ve bazı eski veri katmanları. Serileştirilmiş model veya ayrı tahmin API’si yok; model uygulamada hesaplanıp önbelleğe alınıyor. Daha geniş kullanım için veri sürümleme, yönetim erişimi ve dağıtım doğrulaması gerekiyor.</a:t>
            </a:r>
          </a:p>
          <a:p xmlns:a="http://schemas.openxmlformats.org/drawingml/2006/main">
            <a:r>
              <a:t/>
            </a:r>
          </a:p>
          <a:p xmlns:a="http://schemas.openxmlformats.org/drawingml/2006/main">
            <a:r>
              <a:t>Sources: https://github.com/edasaruhan/SIC_AI_17_Capstone_Group_6/tree/58ce550c027d3ddce9f209fe3979bea849d5716a (app.py; src/scoring.py; src/cafe_similarity.py; docs/model_validation.md; data/processed). Technical baseline 58ce550; narrative updated 6 October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Türkçe konuşmacı notu — 35 saniye.</a:t>
            </a:r>
          </a:p>
          <a:p xmlns:a="http://schemas.openxmlformats.org/drawingml/2006/main">
            <a:r>
              <a:t/>
            </a:r>
          </a:p>
          <a:p xmlns:a="http://schemas.openxmlformats.org/drawingml/2006/main">
            <a:r>
              <a:t>Bir sonraki adım, pazarlama değerini ölçen küçük bir kullanıcı pilotu. Aynı bölge ve aynı kafe konsepti için önce manuel harita incelemesi, sonra uygulamayla aday eleme görevi verilebilir; sıra etkisini azaltmak için görev sırası dengelenmeli. Medyan tamamlama süresiyle birlikte kısa listenin kalite ve gerekçe yeterliliği incelenmeli. Hız kazanımı henüz kanıtlanmadı. Teknik tarafta daha güçlü mekânsal doğrulama ve veri kapsamı iyileştirmesi gerekli. Projenin vaadi, girişimcinin yerine karar vermek değil; erişim ve rekabet koşullarını görünür kılarak saha incelemesine daha odaklı hazırlanmasını sağlamak. Teşekkür ederim.</a:t>
            </a:r>
          </a:p>
          <a:p xmlns:a="http://schemas.openxmlformats.org/drawingml/2006/main">
            <a:r>
              <a:t/>
            </a:r>
          </a:p>
          <a:p xmlns:a="http://schemas.openxmlformats.org/drawingml/2006/main">
            <a:r>
              <a:t>Sources: https://github.com/edasaruhan/SIC_AI_17_Capstone_Group_6/tree/58ce550c027d3ddce9f209fe3979bea849d5716a (app.py; src/scoring.py; src/cafe_similarity.py; docs/model_validation.md; data/processed). Technical baseline 58ce550; narrative updated 6 October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888d6194d944be1"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96edf67c67244137"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5952abe9ffbd4048"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4efe6fe412234169"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70903d462608456d"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2da312aff889402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E2397DFF-4441-4950-A9C8-290FAF6D3A2E}"/>
              </a:ext>
            </a:extLst>
          </p:cNvPr>
          <p:cNvSpPr>
            <a:spLocks xmlns:a="http://schemas.openxmlformats.org/drawingml/2006/main" noGrp="1"/>
          </p:cNvSpPr>
          <p:nvPr/>
        </p:nvSpPr>
        <p:spPr>
          <a:xfrm xmlns:a="http://schemas.openxmlformats.org/drawingml/2006/main">
            <a:off x="5791200" y="22098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343FCFE5-BBEA-49D2-B4BF-00EA129ABE7F}"/>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2AE764D2-732A-4CEB-A3E4-091157DA08DA}"/>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941EF0FD-4F52-403E-93B1-3E61DA624723}"/>
              </a:ext>
            </a:extLst>
          </p:cNvPr>
          <p:cNvSpPr>
            <a:spLocks xmlns:a="http://schemas.openxmlformats.org/drawingml/2006/main" noGrp="1"/>
          </p:cNvSpPr>
          <p:nvPr/>
        </p:nvSpPr>
        <p:spPr>
          <a:xfrm xmlns:a="http://schemas.openxmlformats.org/drawingml/2006/main">
            <a:off x="5791200" y="24765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3AD5E956-139E-46DA-A3A7-17A0B7F0380D}"/>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A000A9D6-E5CE-4998-9C30-676B8F51173A}"/>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4DEFDC70-F983-4808-BF55-075459A8564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72A37095-289D-46C8-B0FE-A593548D1616}"/>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6BB106DF-435B-420A-9CF7-E0A3232A2AA2}"/>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4E4402EE-26E7-48DD-B1EE-D774F88B9C8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E17A08EB-7E37-4891-BC2B-050677866B88}"/>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DFF47C32-142D-4876-9434-9B34BCF15EF0}"/>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FD1548C5-9377-425F-8058-90E323F4F894}"/>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33AEB47B-CE02-4705-9130-E6BD83966B4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23C09B4D-AA4A-4744-8A21-2CD7213F21CD}"/>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8087006e6f14aa4" /><Relationship Type="http://schemas.openxmlformats.org/officeDocument/2006/relationships/slideLayout" Target="/ppt/slideLayouts/slideLayout1.xml" Id="R83f6c211229d49c6" /><Relationship Type="http://schemas.openxmlformats.org/officeDocument/2006/relationships/slideLayout" Target="/ppt/slideLayouts/slideLayout2.xml" Id="Ra16da63a47fe49d2" /><Relationship Type="http://schemas.openxmlformats.org/officeDocument/2006/relationships/slideLayout" Target="/ppt/slideLayouts/slideLayout3.xml" Id="Rc71b7720748a474d" /><Relationship Type="http://schemas.openxmlformats.org/officeDocument/2006/relationships/slideLayout" Target="/ppt/slideLayouts/slideLayout4.xml" Id="R48b9d68f6e1c4829" /><Relationship Type="http://schemas.openxmlformats.org/officeDocument/2006/relationships/slideLayout" Target="/ppt/slideLayouts/slideLayout5.xml" Id="Rb6f15799aa1c4e0e" /><Relationship Type="http://schemas.openxmlformats.org/officeDocument/2006/relationships/slideLayout" Target="/ppt/slideLayouts/slideLayout6.xml" Id="Rf49b42d049b149c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3f6c211229d49c6"/>
    <p:sldLayoutId xmlns:r="http://schemas.openxmlformats.org/officeDocument/2006/relationships" id="2147483650" r:id="Ra16da63a47fe49d2"/>
    <p:sldLayoutId xmlns:r="http://schemas.openxmlformats.org/officeDocument/2006/relationships" id="2147483651" r:id="Rc71b7720748a474d"/>
    <p:sldLayoutId xmlns:r="http://schemas.openxmlformats.org/officeDocument/2006/relationships" id="2147483652" r:id="R48b9d68f6e1c4829"/>
    <p:sldLayoutId xmlns:r="http://schemas.openxmlformats.org/officeDocument/2006/relationships" id="2147483653" r:id="Rb6f15799aa1c4e0e"/>
    <p:sldLayoutId xmlns:r="http://schemas.openxmlformats.org/officeDocument/2006/relationships" id="2147483654" r:id="Rf49b42d049b149c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982240aceccc4011" /><Relationship Type="http://schemas.openxmlformats.org/officeDocument/2006/relationships/notesSlide" Target="/ppt/notesSlides/notesSlide1.xml" Id="R30c66ca911ba4258"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441ff75c77ec4254" /><Relationship Type="http://schemas.openxmlformats.org/officeDocument/2006/relationships/notesSlide" Target="/ppt/notesSlides/notesSlide2.xml" Id="Rd166b9b773494b84"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777da0785f2a4423" /><Relationship Type="http://schemas.openxmlformats.org/officeDocument/2006/relationships/chart" Target="/ppt/slides/charts/chart1.xml" Id="R9e8067041ffd4997" /><Relationship Type="http://schemas.openxmlformats.org/officeDocument/2006/relationships/notesSlide" Target="/ppt/notesSlides/notesSlide3.xml" Id="Rce84a46bf22442f6"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52411224eb6446d4" /><Relationship Type="http://schemas.openxmlformats.org/officeDocument/2006/relationships/chart" Target="/ppt/slides/charts/chart2.xml" Id="Ra4865557b81f4031" /><Relationship Type="http://schemas.openxmlformats.org/officeDocument/2006/relationships/notesSlide" Target="/ppt/notesSlides/notesSlide4.xml" Id="Rbe97084e45b649ab"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4e46ed45f941459c" /><Relationship Type="http://schemas.openxmlformats.org/officeDocument/2006/relationships/chart" Target="/ppt/slides/charts/chart3.xml" Id="R3413bc2ff46643ea" /><Relationship Type="http://schemas.openxmlformats.org/officeDocument/2006/relationships/notesSlide" Target="/ppt/notesSlides/notesSlide5.xml" Id="Rd3174817df7f438d"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40894ae1d6d446ad" /><Relationship Type="http://schemas.openxmlformats.org/officeDocument/2006/relationships/image" Target="/ppt/media/image.png" Id="R7facee4f4ed6465b" /><Relationship Type="http://schemas.openxmlformats.org/officeDocument/2006/relationships/notesSlide" Target="/ppt/notesSlides/notesSlide6.xml" Id="R3ad2264b2386435c"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14e626eb2d1a4754" /><Relationship Type="http://schemas.openxmlformats.org/officeDocument/2006/relationships/notesSlide" Target="/ppt/notesSlides/notesSlide7.xml" Id="R14e3df1b6fcf417e"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692d392b61334b7a" /><Relationship Type="http://schemas.openxmlformats.org/officeDocument/2006/relationships/notesSlide" Target="/ppt/notesSlides/notesSlide8.xml" Id="Rb6f2ba997684488a"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Grid cells</c:v>
          </c:tx>
          <c:spPr>
            <a:solidFill xmlns:a="http://schemas.openxmlformats.org/drawingml/2006/main">
              <a:srgbClr val="167AAB"/>
            </a:solidFill>
          </c:spPr>
          <c:cat>
            <c:strRef>
              <c:f>'Chart Data'!$A$2:$A$3</c:f>
              <c:strCache>
                <c:ptCount val="2"/>
                <c:pt idx="0">
                  <c:v>Café presence</c:v>
                </c:pt>
                <c:pt idx="1">
                  <c:v>No café presence</c:v>
                </c:pt>
              </c:strCache>
            </c:strRef>
          </c:cat>
          <c:val>
            <c:numRef>
              <c:f>'Chart Data'!$B$2:$B$3</c:f>
              <c:numCache>
                <c:formatCode>General</c:formatCode>
                <c:ptCount val="2"/>
                <c:pt idx="0">
                  <c:v>817</c:v>
                </c:pt>
                <c:pt idx="1">
                  <c:v>4544</c:v>
                </c:pt>
              </c:numCache>
            </c:numRef>
          </c:val>
        </c:ser>
        <c:dLbls>
          <c:txPr>
            <a:bodyPr xmlns:a="http://schemas.openxmlformats.org/drawingml/2006/main" anchorCtr="1"/>
            <a:lstStyle xmlns:a="http://schemas.openxmlformats.org/drawingml/2006/main"/>
            <a:p xmlns:a="http://schemas.openxmlformats.org/drawingml/2006/main">
              <a:pPr>
                <a:defRPr sz="1650">
                  <a:latin typeface="DejaVu Sans"/>
                  <a:ea typeface="DejaVu Sans"/>
                  <a:cs typeface="DejaVu Sans"/>
                </a:defRPr>
              </a:pPr>
            </a:p>
          </c:txPr>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666666"/>
                </a:solidFill>
                <a:latin typeface="DejaVu Sans"/>
                <a:ea typeface="DejaVu Sans"/>
                <a:cs typeface="DejaVu Sans"/>
              </a:defRPr>
            </a:pPr>
          </a:p>
        </c:txPr>
        <c:crossAx val="48672768"/>
      </c:catAx>
      <c:valAx>
        <c:axId val="48672768"/>
        <c:scaling>
          <c:orientation val="minMax"/>
          <c:max val="5000"/>
          <c:min val="0"/>
        </c:scaling>
        <c:delete val="0"/>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DejaVu Sans"/>
                <a:ea typeface="DejaVu Sans"/>
                <a:cs typeface="DejaVu Sans"/>
              </a:defRPr>
            </a:pPr>
          </a:p>
        </c:txPr>
        <c:crossAx val="48650112"/>
        <c:crossBetween val="between"/>
        <c:majorUnit val="1000"/>
      </c:valAx>
    </c:plotArea>
    <c:plotVisOnly val="1"/>
  </c:chart>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Normalized positive weight</c:v>
          </c:tx>
          <c:spPr>
            <a:solidFill xmlns:a="http://schemas.openxmlformats.org/drawingml/2006/main">
              <a:srgbClr val="167AAB"/>
            </a:solidFill>
          </c:spPr>
          <c:cat>
            <c:strRef>
              <c:f>'Chart Data'!$A$2:$A$4</c:f>
              <c:strCache>
                <c:ptCount val="3"/>
                <c:pt idx="0">
                  <c:v>Demand</c:v>
                </c:pt>
                <c:pt idx="1">
                  <c:v>Access</c:v>
                </c:pt>
                <c:pt idx="2">
                  <c:v>Population</c:v>
                </c:pt>
              </c:strCache>
            </c:strRef>
          </c:cat>
          <c:val>
            <c:numRef>
              <c:f>'Chart Data'!$B$2:$B$4</c:f>
              <c:numCache>
                <c:formatCode>0.0</c:formatCode>
                <c:ptCount val="3"/>
                <c:pt idx="0">
                  <c:v>50</c:v>
                </c:pt>
                <c:pt idx="1">
                  <c:v>27.8</c:v>
                </c:pt>
                <c:pt idx="2">
                  <c:v>22.2</c:v>
                </c:pt>
              </c:numCache>
            </c:numRef>
          </c:val>
        </c:ser>
        <c:dLbls>
          <c:txPr>
            <a:bodyPr xmlns:a="http://schemas.openxmlformats.org/drawingml/2006/main" anchorCtr="1"/>
            <a:lstStyle xmlns:a="http://schemas.openxmlformats.org/drawingml/2006/main"/>
            <a:p xmlns:a="http://schemas.openxmlformats.org/drawingml/2006/main">
              <a:pPr>
                <a:defRPr sz="1650">
                  <a:latin typeface="DejaVu Sans"/>
                  <a:ea typeface="DejaVu Sans"/>
                  <a:cs typeface="DejaVu Sans"/>
                </a:defRPr>
              </a:pPr>
            </a:p>
          </c:txPr>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666666"/>
                </a:solidFill>
                <a:latin typeface="DejaVu Sans"/>
                <a:ea typeface="DejaVu Sans"/>
                <a:cs typeface="DejaVu Sans"/>
              </a:defRPr>
            </a:pPr>
          </a:p>
        </c:txPr>
        <c:crossAx val="48672768"/>
      </c:catAx>
      <c:valAx>
        <c:axId val="48672768"/>
        <c:scaling>
          <c:orientation val="minMax"/>
          <c:max val="60"/>
          <c:min val="0"/>
        </c:scaling>
        <c:delete val="0"/>
        <c:axPos val="l"/>
        <c:numFmt formatCode="0&quot;%&quot;"/>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DejaVu Sans"/>
                <a:ea typeface="DejaVu Sans"/>
                <a:cs typeface="DejaVu Sans"/>
              </a:defRPr>
            </a:pPr>
          </a:p>
        </c:txPr>
        <c:crossAx val="48650112"/>
        <c:crossBetween val="between"/>
        <c:majorUnit val="20"/>
      </c:valAx>
    </c:plotArea>
    <c:plotVisOnly val="1"/>
  </c:chart>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ROC-AUC</c:v>
          </c:tx>
          <c:spPr>
            <a:solidFill xmlns:a="http://schemas.openxmlformats.org/drawingml/2006/main">
              <a:srgbClr val="167AAB"/>
            </a:solidFill>
          </c:spPr>
          <c:cat>
            <c:strRef>
              <c:f>'Chart Data'!$A$2:$A$6</c:f>
              <c:strCache>
                <c:ptCount val="5"/>
                <c:pt idx="0">
                  <c:v>Fold 1</c:v>
                </c:pt>
                <c:pt idx="1">
                  <c:v>Fold 2</c:v>
                </c:pt>
                <c:pt idx="2">
                  <c:v>Fold 3</c:v>
                </c:pt>
                <c:pt idx="3">
                  <c:v>Fold 4</c:v>
                </c:pt>
                <c:pt idx="4">
                  <c:v>Fold 5</c:v>
                </c:pt>
              </c:strCache>
            </c:strRef>
          </c:cat>
          <c:val>
            <c:numRef>
              <c:f>'Chart Data'!$B$2:$B$6</c:f>
              <c:numCache>
                <c:formatCode>0.000</c:formatCode>
                <c:ptCount val="5"/>
                <c:pt idx="0">
                  <c:v>0.99</c:v>
                </c:pt>
                <c:pt idx="1">
                  <c:v>0.9</c:v>
                </c:pt>
                <c:pt idx="2">
                  <c:v>0.953</c:v>
                </c:pt>
                <c:pt idx="3">
                  <c:v>0.972</c:v>
                </c:pt>
                <c:pt idx="4">
                  <c:v>0.985</c:v>
                </c:pt>
              </c:numCache>
            </c:numRef>
          </c:val>
        </c:ser>
        <c:dLbls>
          <c:txPr>
            <a:bodyPr xmlns:a="http://schemas.openxmlformats.org/drawingml/2006/main" anchorCtr="1"/>
            <a:lstStyle xmlns:a="http://schemas.openxmlformats.org/drawingml/2006/main"/>
            <a:p xmlns:a="http://schemas.openxmlformats.org/drawingml/2006/main">
              <a:pPr>
                <a:defRPr sz="1575">
                  <a:latin typeface="DejaVu Sans"/>
                  <a:ea typeface="DejaVu Sans"/>
                  <a:cs typeface="DejaVu Sans"/>
                </a:defRPr>
              </a:pPr>
            </a:p>
          </c:txPr>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666666"/>
                </a:solidFill>
                <a:latin typeface="DejaVu Sans"/>
                <a:ea typeface="DejaVu Sans"/>
                <a:cs typeface="DejaVu Sans"/>
              </a:defRPr>
            </a:pPr>
          </a:p>
        </c:txPr>
        <c:crossAx val="48672768"/>
      </c:catAx>
      <c:valAx>
        <c:axId val="48672768"/>
        <c:scaling>
          <c:orientation val="minMax"/>
          <c:max val="1.05"/>
          <c:min val="0"/>
        </c:scaling>
        <c:delete val="0"/>
        <c:axPos val="l"/>
        <c:numFmt formatCode="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DejaVu Sans"/>
                <a:ea typeface="DejaVu Sans"/>
                <a:cs typeface="DejaVu Sans"/>
              </a:defRPr>
            </a:pPr>
          </a:p>
        </c:txPr>
        <c:crossAx val="48650112"/>
        <c:crossBetween val="between"/>
        <c:majorUnit val="0.25"/>
      </c:valAx>
    </c:plotArea>
    <c:plotVisOnly val="1"/>
  </c:chart>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06997D5-15D7-4FA1-B80D-05F81898F27C}"/>
              </a:ext>
            </a:extLst>
          </p:cNvPr>
          <p:cNvSpPr>
            <a:spLocks xmlns:a="http://schemas.openxmlformats.org/drawingml/2006/main" noGrp="1"/>
          </p:cNvSpPr>
          <p:nvPr/>
        </p:nvSpPr>
        <p:spPr>
          <a:xfrm xmlns:a="http://schemas.openxmlformats.org/drawingml/2006/main">
            <a:off x="609600" y="304800"/>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1">
                <a:solidFill>
                  <a:srgbClr val="167AAB"/>
                </a:solidFill>
                <a:latin typeface="DejaVu Sans"/>
                <a:ea typeface="DejaVu Sans"/>
                <a:cs typeface="DejaVu Sans"/>
              </a:defRPr>
            </a:pPr>
            <a:r>
              <a:rPr sz="1350" b="1">
                <a:solidFill>
                  <a:srgbClr val="167AAB"/>
                </a:solidFill>
                <a:latin typeface="DejaVu Sans"/>
                <a:ea typeface="DejaVu Sans"/>
                <a:cs typeface="DejaVu Sans"/>
              </a:rPr>
              <a:t>SAMSUNG INNOVATION CAMPUS  /  AI IN MARKETING</a:t>
            </a:r>
          </a:p>
        </p:txBody>
      </p:sp>
      <p:sp>
        <p:nvSpPr>
          <p:cNvPr id="2" name="">
            <a:extLst xmlns:a="http://schemas.openxmlformats.org/drawingml/2006/main">
              <a:ext uri="{FF2B5EF4-FFF2-40B4-BE49-F238E27FC236}">
                <a16:creationId xmlns:a16="http://schemas.microsoft.com/office/drawing/2014/main" id="{343EAAEE-2EDA-4A0A-BC0C-394A4A6BA831}"/>
              </a:ext>
            </a:extLst>
          </p:cNvPr>
          <p:cNvSpPr>
            <a:spLocks xmlns:a="http://schemas.openxmlformats.org/drawingml/2006/main" noGrp="1"/>
          </p:cNvSpPr>
          <p:nvPr/>
        </p:nvSpPr>
        <p:spPr>
          <a:xfrm xmlns:a="http://schemas.openxmlformats.org/drawingml/2006/main">
            <a:off x="609600" y="9525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142E44"/>
                </a:solidFill>
                <a:latin typeface="DejaVu Sans"/>
                <a:ea typeface="DejaVu Sans"/>
                <a:cs typeface="DejaVu Sans"/>
              </a:defRPr>
            </a:pPr>
            <a:r>
              <a:rPr sz="3450" b="1">
                <a:solidFill>
                  <a:srgbClr val="142E44"/>
                </a:solidFill>
                <a:latin typeface="DejaVu Sans"/>
                <a:ea typeface="DejaVu Sans"/>
                <a:cs typeface="DejaVu Sans"/>
              </a:rPr>
              <a:t>Retail Location Intelligence</a:t>
            </a:r>
          </a:p>
        </p:txBody>
      </p:sp>
      <p:sp>
        <p:nvSpPr>
          <p:cNvPr id="3" name="">
            <a:extLst xmlns:a="http://schemas.openxmlformats.org/drawingml/2006/main">
              <a:ext uri="{FF2B5EF4-FFF2-40B4-BE49-F238E27FC236}">
                <a16:creationId xmlns:a16="http://schemas.microsoft.com/office/drawing/2014/main" id="{5207C9A9-45A3-49F5-B0D5-198469DBB153}"/>
              </a:ext>
            </a:extLst>
          </p:cNvPr>
          <p:cNvSpPr>
            <a:spLocks xmlns:a="http://schemas.openxmlformats.org/drawingml/2006/main" noGrp="1"/>
          </p:cNvSpPr>
          <p:nvPr/>
        </p:nvSpPr>
        <p:spPr>
          <a:xfrm xmlns:a="http://schemas.openxmlformats.org/drawingml/2006/main">
            <a:off x="609600" y="1943100"/>
            <a:ext cx="1082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879"/>
                </a:solidFill>
                <a:latin typeface="DejaVu Sans"/>
                <a:ea typeface="DejaVu Sans"/>
                <a:cs typeface="DejaVu Sans"/>
              </a:defRPr>
            </a:pPr>
            <a:r>
              <a:rPr sz="1800" b="0">
                <a:solidFill>
                  <a:srgbClr val="526879"/>
                </a:solidFill>
                <a:latin typeface="DejaVu Sans"/>
                <a:ea typeface="DejaVu Sans"/>
                <a:cs typeface="DejaVu Sans"/>
              </a:rPr>
              <a:t>AI-supported market planning for café entrepreneurs</a:t>
            </a:r>
          </a:p>
        </p:txBody>
      </p:sp>
      <p:sp>
        <p:nvSpPr>
          <p:cNvPr id="4" name="">
            <a:extLst xmlns:a="http://schemas.openxmlformats.org/drawingml/2006/main">
              <a:ext uri="{FF2B5EF4-FFF2-40B4-BE49-F238E27FC236}">
                <a16:creationId xmlns:a16="http://schemas.microsoft.com/office/drawing/2014/main" id="{E3D6F432-0F1C-4E3C-AD03-F102D206BCD3}"/>
              </a:ext>
            </a:extLst>
          </p:cNvPr>
          <p:cNvSpPr>
            <a:spLocks xmlns:a="http://schemas.openxmlformats.org/drawingml/2006/main" noGrp="1"/>
          </p:cNvSpPr>
          <p:nvPr/>
        </p:nvSpPr>
        <p:spPr>
          <a:xfrm xmlns:a="http://schemas.openxmlformats.org/drawingml/2006/main">
            <a:off x="609600" y="6343650"/>
            <a:ext cx="952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26879"/>
                </a:solidFill>
                <a:latin typeface="DejaVu Sans"/>
                <a:ea typeface="DejaVu Sans"/>
                <a:cs typeface="DejaVu Sans"/>
              </a:defRPr>
            </a:pPr>
            <a:r>
              <a:rPr sz="1200" b="0">
                <a:solidFill>
                  <a:srgbClr val="526879"/>
                </a:solidFill>
                <a:latin typeface="DejaVu Sans"/>
                <a:ea typeface="DejaVu Sans"/>
                <a:cs typeface="DejaVu Sans"/>
              </a:rPr>
              <a:t>Retail Location Intelligence  •  Group 6</a:t>
            </a:r>
          </a:p>
        </p:txBody>
      </p:sp>
      <p:sp>
        <p:nvSpPr>
          <p:cNvPr id="5" name="">
            <a:extLst xmlns:a="http://schemas.openxmlformats.org/drawingml/2006/main">
              <a:ext uri="{FF2B5EF4-FFF2-40B4-BE49-F238E27FC236}">
                <a16:creationId xmlns:a16="http://schemas.microsoft.com/office/drawing/2014/main" id="{8ECED411-1F6C-4CF4-B2DB-3869BD740B4B}"/>
              </a:ext>
            </a:extLst>
          </p:cNvPr>
          <p:cNvSpPr>
            <a:spLocks xmlns:a="http://schemas.openxmlformats.org/drawingml/2006/main" noGrp="1"/>
          </p:cNvSpPr>
          <p:nvPr/>
        </p:nvSpPr>
        <p:spPr>
          <a:xfrm xmlns:a="http://schemas.openxmlformats.org/drawingml/2006/main">
            <a:off x="10572750" y="6343650"/>
            <a:ext cx="10096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26879"/>
                </a:solidFill>
                <a:latin typeface="DejaVu Sans"/>
                <a:ea typeface="DejaVu Sans"/>
                <a:cs typeface="DejaVu Sans"/>
              </a:defRPr>
            </a:pPr>
            <a:r>
              <a:rPr sz="1200" b="0">
                <a:solidFill>
                  <a:srgbClr val="526879"/>
                </a:solidFill>
                <a:latin typeface="DejaVu Sans"/>
                <a:ea typeface="DejaVu Sans"/>
                <a:cs typeface="DejaVu Sans"/>
              </a:rPr>
              <a:t>01 / 08</a:t>
            </a:r>
          </a:p>
        </p:txBody>
      </p:sp>
      <p:sp>
        <p:nvSpPr>
          <p:cNvPr id="6" name="">
            <a:extLst xmlns:a="http://schemas.openxmlformats.org/drawingml/2006/main">
              <a:ext uri="{FF2B5EF4-FFF2-40B4-BE49-F238E27FC236}">
                <a16:creationId xmlns:a16="http://schemas.microsoft.com/office/drawing/2014/main" id="{FE13D4D0-6D40-4B60-A0CA-C9CC78B5671C}"/>
              </a:ext>
            </a:extLst>
          </p:cNvPr>
          <p:cNvSpPr>
            <a:spLocks xmlns:a="http://schemas.openxmlformats.org/drawingml/2006/main" noGrp="1"/>
          </p:cNvSpPr>
          <p:nvPr/>
        </p:nvSpPr>
        <p:spPr>
          <a:xfrm xmlns:a="http://schemas.openxmlformats.org/drawingml/2006/main">
            <a:off x="609600" y="2895600"/>
            <a:ext cx="10191750" cy="1952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E44"/>
                </a:solidFill>
                <a:latin typeface="DejaVu Sans"/>
                <a:ea typeface="DejaVu Sans"/>
                <a:cs typeface="DejaVu Sans"/>
              </a:defRPr>
            </a:pPr>
            <a:r>
              <a:rPr sz="3300" b="1">
                <a:solidFill>
                  <a:srgbClr val="142E44"/>
                </a:solidFill>
                <a:latin typeface="DejaVu Sans"/>
                <a:ea typeface="DejaVu Sans"/>
                <a:cs typeface="DejaVu Sans"/>
              </a:rPr>
              <a:t>Reach the right surroundings.</a:t>
            </a:r>
          </a:p>
          <a:p xmlns:a="http://schemas.openxmlformats.org/drawingml/2006/main">
            <a:pPr>
              <a:defRPr sz="3300" b="1">
                <a:solidFill>
                  <a:srgbClr val="142E44"/>
                </a:solidFill>
                <a:latin typeface="DejaVu Sans"/>
                <a:ea typeface="DejaVu Sans"/>
                <a:cs typeface="DejaVu Sans"/>
              </a:defRPr>
            </a:pPr>
            <a:r>
              <a:rPr sz="3300" b="1">
                <a:solidFill>
                  <a:srgbClr val="142E44"/>
                </a:solidFill>
                <a:latin typeface="DejaVu Sans"/>
                <a:ea typeface="DejaVu Sans"/>
                <a:cs typeface="DejaVu Sans"/>
              </a:rPr>
              <a:t>Compare competition.</a:t>
            </a:r>
          </a:p>
          <a:p xmlns:a="http://schemas.openxmlformats.org/drawingml/2006/main">
            <a:pPr>
              <a:defRPr sz="3300" b="1">
                <a:solidFill>
                  <a:srgbClr val="142E44"/>
                </a:solidFill>
                <a:latin typeface="DejaVu Sans"/>
                <a:ea typeface="DejaVu Sans"/>
                <a:cs typeface="DejaVu Sans"/>
              </a:defRPr>
            </a:pPr>
            <a:r>
              <a:rPr sz="3300" b="1">
                <a:solidFill>
                  <a:srgbClr val="142E44"/>
                </a:solidFill>
                <a:latin typeface="DejaVu Sans"/>
                <a:ea typeface="DejaVu Sans"/>
                <a:cs typeface="DejaVu Sans"/>
              </a:rPr>
              <a:t>Shortlist areas for fieldwork.</a:t>
            </a:r>
          </a:p>
        </p:txBody>
      </p:sp>
      <p:sp>
        <p:nvSpPr>
          <p:cNvPr id="7" name="">
            <a:extLst xmlns:a="http://schemas.openxmlformats.org/drawingml/2006/main">
              <a:ext uri="{FF2B5EF4-FFF2-40B4-BE49-F238E27FC236}">
                <a16:creationId xmlns:a16="http://schemas.microsoft.com/office/drawing/2014/main" id="{CF9F6264-5F02-445C-BA04-CEAE7A5869AD}"/>
              </a:ext>
            </a:extLst>
          </p:cNvPr>
          <p:cNvSpPr>
            <a:spLocks xmlns:a="http://schemas.openxmlformats.org/drawingml/2006/main" noGrp="1"/>
          </p:cNvSpPr>
          <p:nvPr/>
        </p:nvSpPr>
        <p:spPr>
          <a:xfrm xmlns:a="http://schemas.openxmlformats.org/drawingml/2006/main">
            <a:off x="609600" y="5448300"/>
            <a:ext cx="1047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7AAB"/>
                </a:solidFill>
                <a:latin typeface="DejaVu Sans"/>
                <a:ea typeface="DejaVu Sans"/>
                <a:cs typeface="DejaVu Sans"/>
              </a:defRPr>
            </a:pPr>
            <a:r>
              <a:rPr sz="1950" b="0">
                <a:solidFill>
                  <a:srgbClr val="167AAB"/>
                </a:solidFill>
                <a:latin typeface="DejaVu Sans"/>
                <a:ea typeface="DejaVu Sans"/>
                <a:cs typeface="DejaVu Sans"/>
              </a:rPr>
              <a:t>Çankaya, Ankara  |  Decision-support prototype</a:t>
            </a:r>
          </a:p>
        </p:txBody>
      </p:sp>
    </p:spTree>
    <p:extLst>
      <p:ext uri="{BB962C8B-B14F-4D97-AF65-F5344CB8AC3E}">
        <p14:creationId xmlns:p14="http://schemas.microsoft.com/office/powerpoint/2010/main" val="1887556154"/>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D2BE35E-FC41-42DD-AA16-0CE291661939}"/>
              </a:ext>
            </a:extLst>
          </p:cNvPr>
          <p:cNvSpPr>
            <a:spLocks xmlns:a="http://schemas.openxmlformats.org/drawingml/2006/main" noGrp="1"/>
          </p:cNvSpPr>
          <p:nvPr/>
        </p:nvSpPr>
        <p:spPr>
          <a:xfrm xmlns:a="http://schemas.openxmlformats.org/drawingml/2006/main">
            <a:off x="609600" y="304800"/>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1">
                <a:solidFill>
                  <a:srgbClr val="167AAB"/>
                </a:solidFill>
                <a:latin typeface="DejaVu Sans"/>
                <a:ea typeface="DejaVu Sans"/>
                <a:cs typeface="DejaVu Sans"/>
              </a:defRPr>
            </a:pPr>
            <a:r>
              <a:rPr sz="1350" b="1">
                <a:solidFill>
                  <a:srgbClr val="167AAB"/>
                </a:solidFill>
                <a:latin typeface="DejaVu Sans"/>
                <a:ea typeface="DejaVu Sans"/>
                <a:cs typeface="DejaVu Sans"/>
              </a:rPr>
              <a:t>SAMSUNG INNOVATION CAMPUS  /  AI IN MARKETING</a:t>
            </a:r>
          </a:p>
        </p:txBody>
      </p:sp>
      <p:sp>
        <p:nvSpPr>
          <p:cNvPr id="2" name="">
            <a:extLst xmlns:a="http://schemas.openxmlformats.org/drawingml/2006/main">
              <a:ext uri="{FF2B5EF4-FFF2-40B4-BE49-F238E27FC236}">
                <a16:creationId xmlns:a16="http://schemas.microsoft.com/office/drawing/2014/main" id="{A8A28809-291C-412E-AFC3-6B9BBCBD363E}"/>
              </a:ext>
            </a:extLst>
          </p:cNvPr>
          <p:cNvSpPr>
            <a:spLocks xmlns:a="http://schemas.openxmlformats.org/drawingml/2006/main" noGrp="1"/>
          </p:cNvSpPr>
          <p:nvPr/>
        </p:nvSpPr>
        <p:spPr>
          <a:xfrm xmlns:a="http://schemas.openxmlformats.org/drawingml/2006/main">
            <a:off x="609600" y="9525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142E44"/>
                </a:solidFill>
                <a:latin typeface="DejaVu Sans"/>
                <a:ea typeface="DejaVu Sans"/>
                <a:cs typeface="DejaVu Sans"/>
              </a:defRPr>
            </a:pPr>
            <a:r>
              <a:rPr sz="3450" b="1">
                <a:solidFill>
                  <a:srgbClr val="142E44"/>
                </a:solidFill>
                <a:latin typeface="DejaVu Sans"/>
                <a:ea typeface="DejaVu Sans"/>
                <a:cs typeface="DejaVu Sans"/>
              </a:rPr>
              <a:t>A marketing decision before opening</a:t>
            </a:r>
          </a:p>
        </p:txBody>
      </p:sp>
      <p:sp>
        <p:nvSpPr>
          <p:cNvPr id="3" name="">
            <a:extLst xmlns:a="http://schemas.openxmlformats.org/drawingml/2006/main">
              <a:ext uri="{FF2B5EF4-FFF2-40B4-BE49-F238E27FC236}">
                <a16:creationId xmlns:a16="http://schemas.microsoft.com/office/drawing/2014/main" id="{CF9D8A79-77E9-4DA1-AB15-F6E56703D60A}"/>
              </a:ext>
            </a:extLst>
          </p:cNvPr>
          <p:cNvSpPr>
            <a:spLocks xmlns:a="http://schemas.openxmlformats.org/drawingml/2006/main" noGrp="1"/>
          </p:cNvSpPr>
          <p:nvPr/>
        </p:nvSpPr>
        <p:spPr>
          <a:xfrm xmlns:a="http://schemas.openxmlformats.org/drawingml/2006/main">
            <a:off x="609600" y="1943100"/>
            <a:ext cx="1082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879"/>
                </a:solidFill>
                <a:latin typeface="DejaVu Sans"/>
                <a:ea typeface="DejaVu Sans"/>
                <a:cs typeface="DejaVu Sans"/>
              </a:defRPr>
            </a:pPr>
            <a:r>
              <a:rPr sz="1800" b="0">
                <a:solidFill>
                  <a:srgbClr val="526879"/>
                </a:solidFill>
                <a:latin typeface="DejaVu Sans"/>
                <a:ea typeface="DejaVu Sans"/>
                <a:cs typeface="DejaVu Sans"/>
              </a:rPr>
              <a:t>Geographic market planning: the “Place” dimension of marketing.</a:t>
            </a:r>
          </a:p>
        </p:txBody>
      </p:sp>
      <p:sp>
        <p:nvSpPr>
          <p:cNvPr id="4" name="">
            <a:extLst xmlns:a="http://schemas.openxmlformats.org/drawingml/2006/main">
              <a:ext uri="{FF2B5EF4-FFF2-40B4-BE49-F238E27FC236}">
                <a16:creationId xmlns:a16="http://schemas.microsoft.com/office/drawing/2014/main" id="{FC072CAE-144E-46C8-A193-8B39F0FCA52E}"/>
              </a:ext>
            </a:extLst>
          </p:cNvPr>
          <p:cNvSpPr>
            <a:spLocks xmlns:a="http://schemas.openxmlformats.org/drawingml/2006/main" noGrp="1"/>
          </p:cNvSpPr>
          <p:nvPr/>
        </p:nvSpPr>
        <p:spPr>
          <a:xfrm xmlns:a="http://schemas.openxmlformats.org/drawingml/2006/main">
            <a:off x="609600" y="6343650"/>
            <a:ext cx="952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26879"/>
                </a:solidFill>
                <a:latin typeface="DejaVu Sans"/>
                <a:ea typeface="DejaVu Sans"/>
                <a:cs typeface="DejaVu Sans"/>
              </a:defRPr>
            </a:pPr>
            <a:r>
              <a:rPr sz="1200" b="0">
                <a:solidFill>
                  <a:srgbClr val="526879"/>
                </a:solidFill>
                <a:latin typeface="DejaVu Sans"/>
                <a:ea typeface="DejaVu Sans"/>
                <a:cs typeface="DejaVu Sans"/>
              </a:rPr>
              <a:t>Retail Location Intelligence  •  Group 6</a:t>
            </a:r>
          </a:p>
        </p:txBody>
      </p:sp>
      <p:sp>
        <p:nvSpPr>
          <p:cNvPr id="5" name="">
            <a:extLst xmlns:a="http://schemas.openxmlformats.org/drawingml/2006/main">
              <a:ext uri="{FF2B5EF4-FFF2-40B4-BE49-F238E27FC236}">
                <a16:creationId xmlns:a16="http://schemas.microsoft.com/office/drawing/2014/main" id="{7EEC03EF-7F94-4BF1-8AFC-3EB64D21D90D}"/>
              </a:ext>
            </a:extLst>
          </p:cNvPr>
          <p:cNvSpPr>
            <a:spLocks xmlns:a="http://schemas.openxmlformats.org/drawingml/2006/main" noGrp="1"/>
          </p:cNvSpPr>
          <p:nvPr/>
        </p:nvSpPr>
        <p:spPr>
          <a:xfrm xmlns:a="http://schemas.openxmlformats.org/drawingml/2006/main">
            <a:off x="10572750" y="6343650"/>
            <a:ext cx="10096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26879"/>
                </a:solidFill>
                <a:latin typeface="DejaVu Sans"/>
                <a:ea typeface="DejaVu Sans"/>
                <a:cs typeface="DejaVu Sans"/>
              </a:defRPr>
            </a:pPr>
            <a:r>
              <a:rPr sz="1200" b="0">
                <a:solidFill>
                  <a:srgbClr val="526879"/>
                </a:solidFill>
                <a:latin typeface="DejaVu Sans"/>
                <a:ea typeface="DejaVu Sans"/>
                <a:cs typeface="DejaVu Sans"/>
              </a:rPr>
              <a:t>02 / 08</a:t>
            </a:r>
          </a:p>
        </p:txBody>
      </p:sp>
      <p:sp>
        <p:nvSpPr>
          <p:cNvPr id="6" name="">
            <a:extLst xmlns:a="http://schemas.openxmlformats.org/drawingml/2006/main">
              <a:ext uri="{FF2B5EF4-FFF2-40B4-BE49-F238E27FC236}">
                <a16:creationId xmlns:a16="http://schemas.microsoft.com/office/drawing/2014/main" id="{CC7E51E5-CD71-4059-A435-BAF0FDE0F8A5}"/>
              </a:ext>
            </a:extLst>
          </p:cNvPr>
          <p:cNvSpPr>
            <a:spLocks xmlns:a="http://schemas.openxmlformats.org/drawingml/2006/main" noGrp="1"/>
          </p:cNvSpPr>
          <p:nvPr/>
        </p:nvSpPr>
        <p:spPr>
          <a:xfrm xmlns:a="http://schemas.openxmlformats.org/drawingml/2006/main">
            <a:off x="609600" y="3028950"/>
            <a:ext cx="304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67AAB"/>
                </a:solidFill>
                <a:latin typeface="DejaVu Sans"/>
                <a:ea typeface="DejaVu Sans"/>
                <a:cs typeface="DejaVu Sans"/>
              </a:defRPr>
            </a:pPr>
            <a:r>
              <a:rPr sz="2250" b="1">
                <a:solidFill>
                  <a:srgbClr val="167AAB"/>
                </a:solidFill>
                <a:latin typeface="DejaVu Sans"/>
                <a:ea typeface="DejaVu Sans"/>
                <a:cs typeface="DejaVu Sans"/>
              </a:rPr>
              <a:t>User</a:t>
            </a:r>
          </a:p>
        </p:txBody>
      </p:sp>
      <p:sp>
        <p:nvSpPr>
          <p:cNvPr id="7" name="">
            <a:extLst xmlns:a="http://schemas.openxmlformats.org/drawingml/2006/main">
              <a:ext uri="{FF2B5EF4-FFF2-40B4-BE49-F238E27FC236}">
                <a16:creationId xmlns:a16="http://schemas.microsoft.com/office/drawing/2014/main" id="{EFB7DD77-59BB-487B-80BC-8CA2C5C0E7B4}"/>
              </a:ext>
            </a:extLst>
          </p:cNvPr>
          <p:cNvSpPr>
            <a:spLocks xmlns:a="http://schemas.openxmlformats.org/drawingml/2006/main" noGrp="1"/>
          </p:cNvSpPr>
          <p:nvPr/>
        </p:nvSpPr>
        <p:spPr>
          <a:xfrm xmlns:a="http://schemas.openxmlformats.org/drawingml/2006/main">
            <a:off x="609600" y="3619500"/>
            <a:ext cx="30480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42E44"/>
                </a:solidFill>
                <a:latin typeface="DejaVu Sans"/>
                <a:ea typeface="DejaVu Sans"/>
                <a:cs typeface="DejaVu Sans"/>
              </a:defRPr>
            </a:pPr>
            <a:r>
              <a:rPr sz="2100" b="0">
                <a:solidFill>
                  <a:srgbClr val="142E44"/>
                </a:solidFill>
                <a:latin typeface="DejaVu Sans"/>
                <a:ea typeface="DejaVu Sans"/>
                <a:cs typeface="DejaVu Sans"/>
              </a:rPr>
              <a:t>Café entrepreneurs</a:t>
            </a:r>
          </a:p>
          <a:p xmlns:a="http://schemas.openxmlformats.org/drawingml/2006/main">
            <a:pPr>
              <a:defRPr sz="2100" b="0">
                <a:solidFill>
                  <a:srgbClr val="142E44"/>
                </a:solidFill>
                <a:latin typeface="DejaVu Sans"/>
                <a:ea typeface="DejaVu Sans"/>
                <a:cs typeface="DejaVu Sans"/>
              </a:defRPr>
            </a:pPr>
            <a:r>
              <a:rPr sz="2100" b="0">
                <a:solidFill>
                  <a:srgbClr val="142E44"/>
                </a:solidFill>
                <a:latin typeface="DejaVu Sans"/>
                <a:ea typeface="DejaVu Sans"/>
                <a:cs typeface="DejaVu Sans"/>
              </a:rPr>
              <a:t>choosing candidate areas</a:t>
            </a:r>
          </a:p>
        </p:txBody>
      </p:sp>
      <p:sp>
        <p:nvSpPr>
          <p:cNvPr id="8" name="">
            <a:extLst xmlns:a="http://schemas.openxmlformats.org/drawingml/2006/main">
              <a:ext uri="{FF2B5EF4-FFF2-40B4-BE49-F238E27FC236}">
                <a16:creationId xmlns:a16="http://schemas.microsoft.com/office/drawing/2014/main" id="{E02707E4-999D-4344-880E-6681E7E73CDE}"/>
              </a:ext>
            </a:extLst>
          </p:cNvPr>
          <p:cNvSpPr>
            <a:spLocks xmlns:a="http://schemas.openxmlformats.org/drawingml/2006/main" noGrp="1"/>
          </p:cNvSpPr>
          <p:nvPr/>
        </p:nvSpPr>
        <p:spPr>
          <a:xfrm xmlns:a="http://schemas.openxmlformats.org/drawingml/2006/main">
            <a:off x="4286250" y="3028950"/>
            <a:ext cx="304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67AAB"/>
                </a:solidFill>
                <a:latin typeface="DejaVu Sans"/>
                <a:ea typeface="DejaVu Sans"/>
                <a:cs typeface="DejaVu Sans"/>
              </a:defRPr>
            </a:pPr>
            <a:r>
              <a:rPr sz="2250" b="1">
                <a:solidFill>
                  <a:srgbClr val="167AAB"/>
                </a:solidFill>
                <a:latin typeface="DejaVu Sans"/>
                <a:ea typeface="DejaVu Sans"/>
                <a:cs typeface="DejaVu Sans"/>
              </a:rPr>
              <a:t>Decision</a:t>
            </a:r>
          </a:p>
        </p:txBody>
      </p:sp>
      <p:sp>
        <p:nvSpPr>
          <p:cNvPr id="9" name="">
            <a:extLst xmlns:a="http://schemas.openxmlformats.org/drawingml/2006/main">
              <a:ext uri="{FF2B5EF4-FFF2-40B4-BE49-F238E27FC236}">
                <a16:creationId xmlns:a16="http://schemas.microsoft.com/office/drawing/2014/main" id="{DE10B89F-5264-4CC4-BBCC-C9E336E182A6}"/>
              </a:ext>
            </a:extLst>
          </p:cNvPr>
          <p:cNvSpPr>
            <a:spLocks xmlns:a="http://schemas.openxmlformats.org/drawingml/2006/main" noGrp="1"/>
          </p:cNvSpPr>
          <p:nvPr/>
        </p:nvSpPr>
        <p:spPr>
          <a:xfrm xmlns:a="http://schemas.openxmlformats.org/drawingml/2006/main">
            <a:off x="4286250" y="3619500"/>
            <a:ext cx="30480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42E44"/>
                </a:solidFill>
                <a:latin typeface="DejaVu Sans"/>
                <a:ea typeface="DejaVu Sans"/>
                <a:cs typeface="DejaVu Sans"/>
              </a:defRPr>
            </a:pPr>
            <a:r>
              <a:rPr sz="2100" b="0">
                <a:solidFill>
                  <a:srgbClr val="142E44"/>
                </a:solidFill>
                <a:latin typeface="DejaVu Sans"/>
                <a:ea typeface="DejaVu Sans"/>
                <a:cs typeface="DejaVu Sans"/>
              </a:rPr>
              <a:t>Access to customer</a:t>
            </a:r>
          </a:p>
          <a:p xmlns:a="http://schemas.openxmlformats.org/drawingml/2006/main">
            <a:pPr>
              <a:defRPr sz="2100" b="0">
                <a:solidFill>
                  <a:srgbClr val="142E44"/>
                </a:solidFill>
                <a:latin typeface="DejaVu Sans"/>
                <a:ea typeface="DejaVu Sans"/>
                <a:cs typeface="DejaVu Sans"/>
              </a:defRPr>
            </a:pPr>
            <a:r>
              <a:rPr sz="2100" b="0">
                <a:solidFill>
                  <a:srgbClr val="142E44"/>
                </a:solidFill>
                <a:latin typeface="DejaVu Sans"/>
                <a:ea typeface="DejaVu Sans"/>
                <a:cs typeface="DejaVu Sans"/>
              </a:rPr>
              <a:t>surroundings and</a:t>
            </a:r>
          </a:p>
          <a:p xmlns:a="http://schemas.openxmlformats.org/drawingml/2006/main">
            <a:pPr>
              <a:defRPr sz="2100" b="0">
                <a:solidFill>
                  <a:srgbClr val="142E44"/>
                </a:solidFill>
                <a:latin typeface="DejaVu Sans"/>
                <a:ea typeface="DejaVu Sans"/>
                <a:cs typeface="DejaVu Sans"/>
              </a:defRPr>
            </a:pPr>
            <a:r>
              <a:rPr sz="2100" b="0">
                <a:solidFill>
                  <a:srgbClr val="142E44"/>
                </a:solidFill>
                <a:latin typeface="DejaVu Sans"/>
                <a:ea typeface="DejaVu Sans"/>
                <a:cs typeface="DejaVu Sans"/>
              </a:rPr>
              <a:t>competitive context</a:t>
            </a:r>
          </a:p>
        </p:txBody>
      </p:sp>
      <p:sp>
        <p:nvSpPr>
          <p:cNvPr id="10" name="">
            <a:extLst xmlns:a="http://schemas.openxmlformats.org/drawingml/2006/main">
              <a:ext uri="{FF2B5EF4-FFF2-40B4-BE49-F238E27FC236}">
                <a16:creationId xmlns:a16="http://schemas.microsoft.com/office/drawing/2014/main" id="{94F4DC95-5150-4017-84F2-F4C58CB5EC01}"/>
              </a:ext>
            </a:extLst>
          </p:cNvPr>
          <p:cNvSpPr>
            <a:spLocks xmlns:a="http://schemas.openxmlformats.org/drawingml/2006/main" noGrp="1"/>
          </p:cNvSpPr>
          <p:nvPr/>
        </p:nvSpPr>
        <p:spPr>
          <a:xfrm xmlns:a="http://schemas.openxmlformats.org/drawingml/2006/main">
            <a:off x="8020050" y="3028950"/>
            <a:ext cx="3381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67AAB"/>
                </a:solidFill>
                <a:latin typeface="DejaVu Sans"/>
                <a:ea typeface="DejaVu Sans"/>
                <a:cs typeface="DejaVu Sans"/>
              </a:defRPr>
            </a:pPr>
            <a:r>
              <a:rPr sz="2250" b="1">
                <a:solidFill>
                  <a:srgbClr val="167AAB"/>
                </a:solidFill>
                <a:latin typeface="DejaVu Sans"/>
                <a:ea typeface="DejaVu Sans"/>
                <a:cs typeface="DejaVu Sans"/>
              </a:rPr>
              <a:t>Value to test</a:t>
            </a:r>
          </a:p>
        </p:txBody>
      </p:sp>
      <p:sp>
        <p:nvSpPr>
          <p:cNvPr id="11" name="">
            <a:extLst xmlns:a="http://schemas.openxmlformats.org/drawingml/2006/main">
              <a:ext uri="{FF2B5EF4-FFF2-40B4-BE49-F238E27FC236}">
                <a16:creationId xmlns:a16="http://schemas.microsoft.com/office/drawing/2014/main" id="{5AECE1DC-1EF4-4BA1-AC2C-101B9D860E6F}"/>
              </a:ext>
            </a:extLst>
          </p:cNvPr>
          <p:cNvSpPr>
            <a:spLocks xmlns:a="http://schemas.openxmlformats.org/drawingml/2006/main" noGrp="1"/>
          </p:cNvSpPr>
          <p:nvPr/>
        </p:nvSpPr>
        <p:spPr>
          <a:xfrm xmlns:a="http://schemas.openxmlformats.org/drawingml/2006/main">
            <a:off x="8020050" y="3619500"/>
            <a:ext cx="3381375"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42E44"/>
                </a:solidFill>
                <a:latin typeface="DejaVu Sans"/>
                <a:ea typeface="DejaVu Sans"/>
                <a:cs typeface="DejaVu Sans"/>
              </a:defRPr>
            </a:pPr>
            <a:r>
              <a:rPr sz="2100" b="0">
                <a:solidFill>
                  <a:srgbClr val="142E44"/>
                </a:solidFill>
                <a:latin typeface="DejaVu Sans"/>
                <a:ea typeface="DejaVu Sans"/>
                <a:cs typeface="DejaVu Sans"/>
              </a:rPr>
              <a:t>Less time preparing</a:t>
            </a:r>
          </a:p>
          <a:p xmlns:a="http://schemas.openxmlformats.org/drawingml/2006/main">
            <a:pPr>
              <a:defRPr sz="2100" b="0">
                <a:solidFill>
                  <a:srgbClr val="142E44"/>
                </a:solidFill>
                <a:latin typeface="DejaVu Sans"/>
                <a:ea typeface="DejaVu Sans"/>
                <a:cs typeface="DejaVu Sans"/>
              </a:defRPr>
            </a:pPr>
            <a:r>
              <a:rPr sz="2100" b="0">
                <a:solidFill>
                  <a:srgbClr val="142E44"/>
                </a:solidFill>
                <a:latin typeface="DejaVu Sans"/>
                <a:ea typeface="DejaVu Sans"/>
                <a:cs typeface="DejaVu Sans"/>
              </a:rPr>
              <a:t>a useful shortlist</a:t>
            </a:r>
          </a:p>
        </p:txBody>
      </p:sp>
      <p:sp>
        <p:nvSpPr>
          <p:cNvPr id="12" name="">
            <a:extLst xmlns:a="http://schemas.openxmlformats.org/drawingml/2006/main">
              <a:ext uri="{FF2B5EF4-FFF2-40B4-BE49-F238E27FC236}">
                <a16:creationId xmlns:a16="http://schemas.microsoft.com/office/drawing/2014/main" id="{E81AF4FD-2BB7-476E-A4FE-7B0DFDD44696}"/>
              </a:ext>
            </a:extLst>
          </p:cNvPr>
          <p:cNvSpPr>
            <a:spLocks xmlns:a="http://schemas.openxmlformats.org/drawingml/2006/main" noGrp="1"/>
          </p:cNvSpPr>
          <p:nvPr/>
        </p:nvSpPr>
        <p:spPr>
          <a:xfrm xmlns:a="http://schemas.openxmlformats.org/drawingml/2006/main">
            <a:off x="609600" y="5657850"/>
            <a:ext cx="1095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26879"/>
                </a:solidFill>
                <a:latin typeface="DejaVu Sans"/>
                <a:ea typeface="DejaVu Sans"/>
                <a:cs typeface="DejaVu Sans"/>
              </a:defRPr>
            </a:pPr>
            <a:r>
              <a:rPr sz="1725" b="0">
                <a:solidFill>
                  <a:srgbClr val="526879"/>
                </a:solidFill>
                <a:latin typeface="DejaVu Sans"/>
                <a:ea typeface="DejaVu Sans"/>
                <a:cs typeface="DejaVu Sans"/>
              </a:rPr>
              <a:t>Time savings are a proposed pilot KPI; they have not been measured.</a:t>
            </a:r>
          </a:p>
        </p:txBody>
      </p:sp>
    </p:spTree>
    <p:extLst>
      <p:ext uri="{BB962C8B-B14F-4D97-AF65-F5344CB8AC3E}">
        <p14:creationId xmlns:p14="http://schemas.microsoft.com/office/powerpoint/2010/main" val="1959603280"/>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5A173CD3-17A3-4469-908B-5483D66A6C15}"/>
              </a:ext>
            </a:extLst>
          </p:cNvPr>
          <p:cNvSpPr>
            <a:spLocks xmlns:a="http://schemas.openxmlformats.org/drawingml/2006/main" noGrp="1"/>
          </p:cNvSpPr>
          <p:nvPr/>
        </p:nvSpPr>
        <p:spPr>
          <a:xfrm xmlns:a="http://schemas.openxmlformats.org/drawingml/2006/main">
            <a:off x="609600" y="304800"/>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1">
                <a:solidFill>
                  <a:srgbClr val="167AAB"/>
                </a:solidFill>
                <a:latin typeface="DejaVu Sans"/>
                <a:ea typeface="DejaVu Sans"/>
                <a:cs typeface="DejaVu Sans"/>
              </a:defRPr>
            </a:pPr>
            <a:r>
              <a:rPr sz="1350" b="1">
                <a:solidFill>
                  <a:srgbClr val="167AAB"/>
                </a:solidFill>
                <a:latin typeface="DejaVu Sans"/>
                <a:ea typeface="DejaVu Sans"/>
                <a:cs typeface="DejaVu Sans"/>
              </a:rPr>
              <a:t>SAMSUNG INNOVATION CAMPUS  /  AI IN MARKETING</a:t>
            </a:r>
          </a:p>
        </p:txBody>
      </p:sp>
      <p:sp>
        <p:nvSpPr>
          <p:cNvPr id="2" name="">
            <a:extLst xmlns:a="http://schemas.openxmlformats.org/drawingml/2006/main">
              <a:ext uri="{FF2B5EF4-FFF2-40B4-BE49-F238E27FC236}">
                <a16:creationId xmlns:a16="http://schemas.microsoft.com/office/drawing/2014/main" id="{48F27F2B-5613-47FA-BF6A-EE77AD52B7F8}"/>
              </a:ext>
            </a:extLst>
          </p:cNvPr>
          <p:cNvSpPr>
            <a:spLocks xmlns:a="http://schemas.openxmlformats.org/drawingml/2006/main" noGrp="1"/>
          </p:cNvSpPr>
          <p:nvPr/>
        </p:nvSpPr>
        <p:spPr>
          <a:xfrm xmlns:a="http://schemas.openxmlformats.org/drawingml/2006/main">
            <a:off x="609600" y="9525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142E44"/>
                </a:solidFill>
                <a:latin typeface="DejaVu Sans"/>
                <a:ea typeface="DejaVu Sans"/>
                <a:cs typeface="DejaVu Sans"/>
              </a:defRPr>
            </a:pPr>
            <a:r>
              <a:rPr sz="3450" b="1">
                <a:solidFill>
                  <a:srgbClr val="142E44"/>
                </a:solidFill>
                <a:latin typeface="DejaVu Sans"/>
                <a:ea typeface="DejaVu Sans"/>
                <a:cs typeface="DejaVu Sans"/>
              </a:rPr>
              <a:t>A common spatial evidence base</a:t>
            </a:r>
          </a:p>
        </p:txBody>
      </p:sp>
      <p:sp>
        <p:nvSpPr>
          <p:cNvPr id="3" name="">
            <a:extLst xmlns:a="http://schemas.openxmlformats.org/drawingml/2006/main">
              <a:ext uri="{FF2B5EF4-FFF2-40B4-BE49-F238E27FC236}">
                <a16:creationId xmlns:a16="http://schemas.microsoft.com/office/drawing/2014/main" id="{C9369091-6771-474B-B2FA-E2A7A7A0E82D}"/>
              </a:ext>
            </a:extLst>
          </p:cNvPr>
          <p:cNvSpPr>
            <a:spLocks xmlns:a="http://schemas.openxmlformats.org/drawingml/2006/main" noGrp="1"/>
          </p:cNvSpPr>
          <p:nvPr/>
        </p:nvSpPr>
        <p:spPr>
          <a:xfrm xmlns:a="http://schemas.openxmlformats.org/drawingml/2006/main">
            <a:off x="609600" y="1943100"/>
            <a:ext cx="1082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879"/>
                </a:solidFill>
                <a:latin typeface="DejaVu Sans"/>
                <a:ea typeface="DejaVu Sans"/>
                <a:cs typeface="DejaVu Sans"/>
              </a:defRPr>
            </a:pPr>
            <a:r>
              <a:rPr sz="1800" b="0">
                <a:solidFill>
                  <a:srgbClr val="526879"/>
                </a:solidFill>
                <a:latin typeface="DejaVu Sans"/>
                <a:ea typeface="DejaVu Sans"/>
                <a:cs typeface="DejaVu Sans"/>
              </a:rPr>
              <a:t>Open place data and aggregate residential population.</a:t>
            </a:r>
          </a:p>
        </p:txBody>
      </p:sp>
      <p:sp>
        <p:nvSpPr>
          <p:cNvPr id="4" name="">
            <a:extLst xmlns:a="http://schemas.openxmlformats.org/drawingml/2006/main">
              <a:ext uri="{FF2B5EF4-FFF2-40B4-BE49-F238E27FC236}">
                <a16:creationId xmlns:a16="http://schemas.microsoft.com/office/drawing/2014/main" id="{5B6BCA5A-0125-429A-A6F1-18D4B816A156}"/>
              </a:ext>
            </a:extLst>
          </p:cNvPr>
          <p:cNvSpPr>
            <a:spLocks xmlns:a="http://schemas.openxmlformats.org/drawingml/2006/main" noGrp="1"/>
          </p:cNvSpPr>
          <p:nvPr/>
        </p:nvSpPr>
        <p:spPr>
          <a:xfrm xmlns:a="http://schemas.openxmlformats.org/drawingml/2006/main">
            <a:off x="609600" y="6343650"/>
            <a:ext cx="952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26879"/>
                </a:solidFill>
                <a:latin typeface="DejaVu Sans"/>
                <a:ea typeface="DejaVu Sans"/>
                <a:cs typeface="DejaVu Sans"/>
              </a:defRPr>
            </a:pPr>
            <a:r>
              <a:rPr sz="1200" b="0">
                <a:solidFill>
                  <a:srgbClr val="526879"/>
                </a:solidFill>
                <a:latin typeface="DejaVu Sans"/>
                <a:ea typeface="DejaVu Sans"/>
                <a:cs typeface="DejaVu Sans"/>
              </a:rPr>
              <a:t>Retail Location Intelligence  •  Group 6</a:t>
            </a:r>
          </a:p>
        </p:txBody>
      </p:sp>
      <p:sp>
        <p:nvSpPr>
          <p:cNvPr id="5" name="">
            <a:extLst xmlns:a="http://schemas.openxmlformats.org/drawingml/2006/main">
              <a:ext uri="{FF2B5EF4-FFF2-40B4-BE49-F238E27FC236}">
                <a16:creationId xmlns:a16="http://schemas.microsoft.com/office/drawing/2014/main" id="{2879430C-D2C9-4091-A9C7-9784A55CC1BA}"/>
              </a:ext>
            </a:extLst>
          </p:cNvPr>
          <p:cNvSpPr>
            <a:spLocks xmlns:a="http://schemas.openxmlformats.org/drawingml/2006/main" noGrp="1"/>
          </p:cNvSpPr>
          <p:nvPr/>
        </p:nvSpPr>
        <p:spPr>
          <a:xfrm xmlns:a="http://schemas.openxmlformats.org/drawingml/2006/main">
            <a:off x="10572750" y="6343650"/>
            <a:ext cx="10096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26879"/>
                </a:solidFill>
                <a:latin typeface="DejaVu Sans"/>
                <a:ea typeface="DejaVu Sans"/>
                <a:cs typeface="DejaVu Sans"/>
              </a:defRPr>
            </a:pPr>
            <a:r>
              <a:rPr sz="1200" b="0">
                <a:solidFill>
                  <a:srgbClr val="526879"/>
                </a:solidFill>
                <a:latin typeface="DejaVu Sans"/>
                <a:ea typeface="DejaVu Sans"/>
                <a:cs typeface="DejaVu Sans"/>
              </a:rPr>
              <a:t>03 / 08</a:t>
            </a:r>
          </a:p>
        </p:txBody>
      </p:sp>
      <p:graphicFrame>
        <p:nvGraphicFramePr>
          <p:cNvPr id="15" name="Chart"/>
          <p:cNvGraphicFramePr/>
          <p:nvPr/>
        </p:nvGraphicFramePr>
        <p:xfrm>
          <a:off xmlns:a="http://schemas.openxmlformats.org/drawingml/2006/main" x="609600" y="2914650"/>
          <a:ext xmlns:a="http://schemas.openxmlformats.org/drawingml/2006/main" cx="6762750" cy="2895600"/>
        </p:xfrm>
        <a:graphic xmlns:a="http://schemas.openxmlformats.org/drawingml/2006/main">
          <a:graphicData uri="http://schemas.openxmlformats.org/drawingml/2006/chart">
            <c:chart xmlns:r="http://schemas.openxmlformats.org/officeDocument/2006/relationships" xmlns:c="http://schemas.openxmlformats.org/drawingml/2006/chart" r:id="R9e8067041ffd4997"/>
          </a:graphicData>
        </a:graphic>
      </p:graphicFrame>
      <p:sp>
        <p:nvSpPr>
          <p:cNvPr id="7" name="">
            <a:extLst xmlns:a="http://schemas.openxmlformats.org/drawingml/2006/main">
              <a:ext uri="{FF2B5EF4-FFF2-40B4-BE49-F238E27FC236}">
                <a16:creationId xmlns:a16="http://schemas.microsoft.com/office/drawing/2014/main" id="{6677D594-0F16-416F-A7C7-6B676BC27983}"/>
              </a:ext>
            </a:extLst>
          </p:cNvPr>
          <p:cNvSpPr>
            <a:spLocks xmlns:a="http://schemas.openxmlformats.org/drawingml/2006/main" noGrp="1"/>
          </p:cNvSpPr>
          <p:nvPr/>
        </p:nvSpPr>
        <p:spPr>
          <a:xfrm xmlns:a="http://schemas.openxmlformats.org/drawingml/2006/main">
            <a:off x="8020050" y="2990850"/>
            <a:ext cx="333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1">
                <a:solidFill>
                  <a:srgbClr val="142E44"/>
                </a:solidFill>
                <a:latin typeface="DejaVu Sans"/>
                <a:ea typeface="DejaVu Sans"/>
                <a:cs typeface="DejaVu Sans"/>
              </a:defRPr>
            </a:pPr>
            <a:r>
              <a:rPr sz="2850" b="1">
                <a:solidFill>
                  <a:srgbClr val="142E44"/>
                </a:solidFill>
                <a:latin typeface="DejaVu Sans"/>
                <a:ea typeface="DejaVu Sans"/>
                <a:cs typeface="DejaVu Sans"/>
              </a:rPr>
              <a:t>5,361 cells</a:t>
            </a:r>
          </a:p>
        </p:txBody>
      </p:sp>
      <p:sp>
        <p:nvSpPr>
          <p:cNvPr id="8" name="">
            <a:extLst xmlns:a="http://schemas.openxmlformats.org/drawingml/2006/main">
              <a:ext uri="{FF2B5EF4-FFF2-40B4-BE49-F238E27FC236}">
                <a16:creationId xmlns:a16="http://schemas.microsoft.com/office/drawing/2014/main" id="{A83D8D5D-F158-497C-BE08-B42B4A7D2A61}"/>
              </a:ext>
            </a:extLst>
          </p:cNvPr>
          <p:cNvSpPr>
            <a:spLocks xmlns:a="http://schemas.openxmlformats.org/drawingml/2006/main" noGrp="1"/>
          </p:cNvSpPr>
          <p:nvPr/>
        </p:nvSpPr>
        <p:spPr>
          <a:xfrm xmlns:a="http://schemas.openxmlformats.org/drawingml/2006/main">
            <a:off x="8020050" y="3810000"/>
            <a:ext cx="34290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42E44"/>
                </a:solidFill>
                <a:latin typeface="DejaVu Sans"/>
                <a:ea typeface="DejaVu Sans"/>
                <a:cs typeface="DejaVu Sans"/>
              </a:defRPr>
            </a:pPr>
            <a:r>
              <a:rPr sz="1950" b="0">
                <a:solidFill>
                  <a:srgbClr val="142E44"/>
                </a:solidFill>
                <a:latin typeface="DejaVu Sans"/>
                <a:ea typeface="DejaVu Sans"/>
                <a:cs typeface="DejaVu Sans"/>
              </a:rPr>
              <a:t>300 m grid</a:t>
            </a:r>
          </a:p>
          <a:p xmlns:a="http://schemas.openxmlformats.org/drawingml/2006/main">
            <a:pPr>
              <a:defRPr sz="1950" b="0">
                <a:solidFill>
                  <a:srgbClr val="142E44"/>
                </a:solidFill>
                <a:latin typeface="DejaVu Sans"/>
                <a:ea typeface="DejaVu Sans"/>
                <a:cs typeface="DejaVu Sans"/>
              </a:defRPr>
            </a:pPr>
            <a:r>
              <a:rPr sz="1950" b="0">
                <a:solidFill>
                  <a:srgbClr val="142E44"/>
                </a:solidFill>
                <a:latin typeface="DejaVu Sans"/>
                <a:ea typeface="DejaVu Sans"/>
                <a:cs typeface="DejaVu Sans"/>
              </a:rPr>
              <a:t>121 neighborhood labels</a:t>
            </a:r>
          </a:p>
          <a:p xmlns:a="http://schemas.openxmlformats.org/drawingml/2006/main">
            <a:pPr>
              <a:defRPr sz="1950" b="0">
                <a:solidFill>
                  <a:srgbClr val="142E44"/>
                </a:solidFill>
                <a:latin typeface="DejaVu Sans"/>
                <a:ea typeface="DejaVu Sans"/>
                <a:cs typeface="DejaVu Sans"/>
              </a:defRPr>
            </a:pPr>
            <a:r>
              <a:rPr sz="1950" b="0">
                <a:solidFill>
                  <a:srgbClr val="142E44"/>
                </a:solidFill>
                <a:latin typeface="DejaVu Sans"/>
                <a:ea typeface="DejaVu Sans"/>
                <a:cs typeface="DejaVu Sans"/>
              </a:rPr>
              <a:t>15.24% café-positive cells</a:t>
            </a:r>
          </a:p>
        </p:txBody>
      </p:sp>
      <p:sp>
        <p:nvSpPr>
          <p:cNvPr id="9" name="">
            <a:extLst xmlns:a="http://schemas.openxmlformats.org/drawingml/2006/main">
              <a:ext uri="{FF2B5EF4-FFF2-40B4-BE49-F238E27FC236}">
                <a16:creationId xmlns:a16="http://schemas.microsoft.com/office/drawing/2014/main" id="{06D819C5-9337-4F0D-8354-16AFCB81A053}"/>
              </a:ext>
            </a:extLst>
          </p:cNvPr>
          <p:cNvSpPr>
            <a:spLocks xmlns:a="http://schemas.openxmlformats.org/drawingml/2006/main" noGrp="1"/>
          </p:cNvSpPr>
          <p:nvPr/>
        </p:nvSpPr>
        <p:spPr>
          <a:xfrm xmlns:a="http://schemas.openxmlformats.org/drawingml/2006/main">
            <a:off x="609600" y="5848350"/>
            <a:ext cx="10763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526879"/>
                </a:solidFill>
                <a:latin typeface="DejaVu Sans"/>
                <a:ea typeface="DejaVu Sans"/>
                <a:cs typeface="DejaVu Sans"/>
              </a:defRPr>
            </a:pPr>
            <a:r>
              <a:rPr sz="1500" b="0">
                <a:solidFill>
                  <a:srgbClr val="526879"/>
                </a:solidFill>
                <a:latin typeface="DejaVu Sans"/>
                <a:ea typeface="DejaVu Sans"/>
                <a:cs typeface="DejaVu Sans"/>
              </a:rPr>
              <a:t>Café presence: ≥ 1 mapped café within 500 m of a grid cell.</a:t>
            </a:r>
          </a:p>
        </p:txBody>
      </p:sp>
    </p:spTree>
    <p:extLst>
      <p:ext uri="{BB962C8B-B14F-4D97-AF65-F5344CB8AC3E}">
        <p14:creationId xmlns:p14="http://schemas.microsoft.com/office/powerpoint/2010/main" val="1411753632"/>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B4FDE27B-F872-4DE2-A3FC-DBD824AC7FCC}"/>
              </a:ext>
            </a:extLst>
          </p:cNvPr>
          <p:cNvSpPr>
            <a:spLocks xmlns:a="http://schemas.openxmlformats.org/drawingml/2006/main" noGrp="1"/>
          </p:cNvSpPr>
          <p:nvPr/>
        </p:nvSpPr>
        <p:spPr>
          <a:xfrm xmlns:a="http://schemas.openxmlformats.org/drawingml/2006/main">
            <a:off x="609600" y="304800"/>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1">
                <a:solidFill>
                  <a:srgbClr val="167AAB"/>
                </a:solidFill>
                <a:latin typeface="DejaVu Sans"/>
                <a:ea typeface="DejaVu Sans"/>
                <a:cs typeface="DejaVu Sans"/>
              </a:defRPr>
            </a:pPr>
            <a:r>
              <a:rPr sz="1350" b="1">
                <a:solidFill>
                  <a:srgbClr val="167AAB"/>
                </a:solidFill>
                <a:latin typeface="DejaVu Sans"/>
                <a:ea typeface="DejaVu Sans"/>
                <a:cs typeface="DejaVu Sans"/>
              </a:rPr>
              <a:t>SAMSUNG INNOVATION CAMPUS  /  AI IN MARKETING</a:t>
            </a:r>
          </a:p>
        </p:txBody>
      </p:sp>
      <p:sp>
        <p:nvSpPr>
          <p:cNvPr id="2" name="">
            <a:extLst xmlns:a="http://schemas.openxmlformats.org/drawingml/2006/main">
              <a:ext uri="{FF2B5EF4-FFF2-40B4-BE49-F238E27FC236}">
                <a16:creationId xmlns:a16="http://schemas.microsoft.com/office/drawing/2014/main" id="{EF10E4DB-BDAF-4767-B85C-C4FF51FA5D76}"/>
              </a:ext>
            </a:extLst>
          </p:cNvPr>
          <p:cNvSpPr>
            <a:spLocks xmlns:a="http://schemas.openxmlformats.org/drawingml/2006/main" noGrp="1"/>
          </p:cNvSpPr>
          <p:nvPr/>
        </p:nvSpPr>
        <p:spPr>
          <a:xfrm xmlns:a="http://schemas.openxmlformats.org/drawingml/2006/main">
            <a:off x="609600" y="9525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142E44"/>
                </a:solidFill>
                <a:latin typeface="DejaVu Sans"/>
                <a:ea typeface="DejaVu Sans"/>
                <a:cs typeface="DejaVu Sans"/>
              </a:defRPr>
            </a:pPr>
            <a:r>
              <a:rPr sz="3450" b="1">
                <a:solidFill>
                  <a:srgbClr val="142E44"/>
                </a:solidFill>
                <a:latin typeface="DejaVu Sans"/>
                <a:ea typeface="DejaVu Sans"/>
                <a:cs typeface="DejaVu Sans"/>
              </a:rPr>
              <a:t>Two complementary decision layers</a:t>
            </a:r>
          </a:p>
        </p:txBody>
      </p:sp>
      <p:sp>
        <p:nvSpPr>
          <p:cNvPr id="3" name="">
            <a:extLst xmlns:a="http://schemas.openxmlformats.org/drawingml/2006/main">
              <a:ext uri="{FF2B5EF4-FFF2-40B4-BE49-F238E27FC236}">
                <a16:creationId xmlns:a16="http://schemas.microsoft.com/office/drawing/2014/main" id="{B0561B92-04F2-42ED-9D68-22778E64F425}"/>
              </a:ext>
            </a:extLst>
          </p:cNvPr>
          <p:cNvSpPr>
            <a:spLocks xmlns:a="http://schemas.openxmlformats.org/drawingml/2006/main" noGrp="1"/>
          </p:cNvSpPr>
          <p:nvPr/>
        </p:nvSpPr>
        <p:spPr>
          <a:xfrm xmlns:a="http://schemas.openxmlformats.org/drawingml/2006/main">
            <a:off x="609600" y="1943100"/>
            <a:ext cx="1082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879"/>
                </a:solidFill>
                <a:latin typeface="DejaVu Sans"/>
                <a:ea typeface="DejaVu Sans"/>
                <a:cs typeface="DejaVu Sans"/>
              </a:defRPr>
            </a:pPr>
            <a:r>
              <a:rPr sz="1800" b="0">
                <a:solidFill>
                  <a:srgbClr val="526879"/>
                </a:solidFill>
                <a:latin typeface="DejaVu Sans"/>
                <a:ea typeface="DejaVu Sans"/>
                <a:cs typeface="DejaVu Sans"/>
              </a:rPr>
              <a:t>An explainable ranking plus a separate AI comparison.</a:t>
            </a:r>
          </a:p>
        </p:txBody>
      </p:sp>
      <p:sp>
        <p:nvSpPr>
          <p:cNvPr id="4" name="">
            <a:extLst xmlns:a="http://schemas.openxmlformats.org/drawingml/2006/main">
              <a:ext uri="{FF2B5EF4-FFF2-40B4-BE49-F238E27FC236}">
                <a16:creationId xmlns:a16="http://schemas.microsoft.com/office/drawing/2014/main" id="{89AC8E79-F507-4C37-8BEF-58D9BB3B5F79}"/>
              </a:ext>
            </a:extLst>
          </p:cNvPr>
          <p:cNvSpPr>
            <a:spLocks xmlns:a="http://schemas.openxmlformats.org/drawingml/2006/main" noGrp="1"/>
          </p:cNvSpPr>
          <p:nvPr/>
        </p:nvSpPr>
        <p:spPr>
          <a:xfrm xmlns:a="http://schemas.openxmlformats.org/drawingml/2006/main">
            <a:off x="609600" y="6343650"/>
            <a:ext cx="952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26879"/>
                </a:solidFill>
                <a:latin typeface="DejaVu Sans"/>
                <a:ea typeface="DejaVu Sans"/>
                <a:cs typeface="DejaVu Sans"/>
              </a:defRPr>
            </a:pPr>
            <a:r>
              <a:rPr sz="1200" b="0">
                <a:solidFill>
                  <a:srgbClr val="526879"/>
                </a:solidFill>
                <a:latin typeface="DejaVu Sans"/>
                <a:ea typeface="DejaVu Sans"/>
                <a:cs typeface="DejaVu Sans"/>
              </a:rPr>
              <a:t>Retail Location Intelligence  •  Group 6</a:t>
            </a:r>
          </a:p>
        </p:txBody>
      </p:sp>
      <p:sp>
        <p:nvSpPr>
          <p:cNvPr id="5" name="">
            <a:extLst xmlns:a="http://schemas.openxmlformats.org/drawingml/2006/main">
              <a:ext uri="{FF2B5EF4-FFF2-40B4-BE49-F238E27FC236}">
                <a16:creationId xmlns:a16="http://schemas.microsoft.com/office/drawing/2014/main" id="{0FA5D8D5-D493-416A-B609-476A45560EDB}"/>
              </a:ext>
            </a:extLst>
          </p:cNvPr>
          <p:cNvSpPr>
            <a:spLocks xmlns:a="http://schemas.openxmlformats.org/drawingml/2006/main" noGrp="1"/>
          </p:cNvSpPr>
          <p:nvPr/>
        </p:nvSpPr>
        <p:spPr>
          <a:xfrm xmlns:a="http://schemas.openxmlformats.org/drawingml/2006/main">
            <a:off x="10572750" y="6343650"/>
            <a:ext cx="10096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26879"/>
                </a:solidFill>
                <a:latin typeface="DejaVu Sans"/>
                <a:ea typeface="DejaVu Sans"/>
                <a:cs typeface="DejaVu Sans"/>
              </a:defRPr>
            </a:pPr>
            <a:r>
              <a:rPr sz="1200" b="0">
                <a:solidFill>
                  <a:srgbClr val="526879"/>
                </a:solidFill>
                <a:latin typeface="DejaVu Sans"/>
                <a:ea typeface="DejaVu Sans"/>
                <a:cs typeface="DejaVu Sans"/>
              </a:rPr>
              <a:t>04 / 08</a:t>
            </a:r>
          </a:p>
        </p:txBody>
      </p:sp>
      <p:graphicFrame>
        <p:nvGraphicFramePr>
          <p:cNvPr id="17" name="Chart"/>
          <p:cNvGraphicFramePr/>
          <p:nvPr/>
        </p:nvGraphicFramePr>
        <p:xfrm>
          <a:off xmlns:a="http://schemas.openxmlformats.org/drawingml/2006/main" x="609600" y="2943225"/>
          <a:ext xmlns:a="http://schemas.openxmlformats.org/drawingml/2006/main" cx="6572250" cy="2762250"/>
        </p:xfrm>
        <a:graphic xmlns:a="http://schemas.openxmlformats.org/drawingml/2006/main">
          <a:graphicData uri="http://schemas.openxmlformats.org/drawingml/2006/chart">
            <c:chart xmlns:r="http://schemas.openxmlformats.org/officeDocument/2006/relationships" xmlns:c="http://schemas.openxmlformats.org/drawingml/2006/chart" r:id="Ra4865557b81f4031"/>
          </a:graphicData>
        </a:graphic>
      </p:graphicFrame>
      <p:sp>
        <p:nvSpPr>
          <p:cNvPr id="7" name="">
            <a:extLst xmlns:a="http://schemas.openxmlformats.org/drawingml/2006/main">
              <a:ext uri="{FF2B5EF4-FFF2-40B4-BE49-F238E27FC236}">
                <a16:creationId xmlns:a16="http://schemas.microsoft.com/office/drawing/2014/main" id="{C3D7749E-0FE8-45CB-9936-3678687D2199}"/>
              </a:ext>
            </a:extLst>
          </p:cNvPr>
          <p:cNvSpPr>
            <a:spLocks xmlns:a="http://schemas.openxmlformats.org/drawingml/2006/main" noGrp="1"/>
          </p:cNvSpPr>
          <p:nvPr/>
        </p:nvSpPr>
        <p:spPr>
          <a:xfrm xmlns:a="http://schemas.openxmlformats.org/drawingml/2006/main">
            <a:off x="609600" y="5867400"/>
            <a:ext cx="6762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526879"/>
                </a:solidFill>
                <a:latin typeface="DejaVu Sans"/>
                <a:ea typeface="DejaVu Sans"/>
                <a:cs typeface="DejaVu Sans"/>
              </a:defRPr>
            </a:pPr>
            <a:r>
              <a:rPr sz="1500" b="0">
                <a:solidFill>
                  <a:srgbClr val="526879"/>
                </a:solidFill>
                <a:latin typeface="DejaVu Sans"/>
                <a:ea typeface="DejaVu Sans"/>
                <a:cs typeface="DejaVu Sans"/>
              </a:rPr>
              <a:t>Default positive weights after normalization</a:t>
            </a:r>
          </a:p>
        </p:txBody>
      </p:sp>
      <p:sp>
        <p:nvSpPr>
          <p:cNvPr id="8" name="">
            <a:extLst xmlns:a="http://schemas.openxmlformats.org/drawingml/2006/main">
              <a:ext uri="{FF2B5EF4-FFF2-40B4-BE49-F238E27FC236}">
                <a16:creationId xmlns:a16="http://schemas.microsoft.com/office/drawing/2014/main" id="{82406681-71A3-4293-9839-04959F24470E}"/>
              </a:ext>
            </a:extLst>
          </p:cNvPr>
          <p:cNvSpPr>
            <a:spLocks xmlns:a="http://schemas.openxmlformats.org/drawingml/2006/main" noGrp="1"/>
          </p:cNvSpPr>
          <p:nvPr/>
        </p:nvSpPr>
        <p:spPr>
          <a:xfrm xmlns:a="http://schemas.openxmlformats.org/drawingml/2006/main">
            <a:off x="7810500" y="2876550"/>
            <a:ext cx="37623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67AAB"/>
                </a:solidFill>
                <a:latin typeface="DejaVu Sans"/>
                <a:ea typeface="DejaVu Sans"/>
                <a:cs typeface="DejaVu Sans"/>
              </a:defRPr>
            </a:pPr>
            <a:r>
              <a:rPr sz="2175" b="1">
                <a:solidFill>
                  <a:srgbClr val="167AAB"/>
                </a:solidFill>
                <a:latin typeface="DejaVu Sans"/>
                <a:ea typeface="DejaVu Sans"/>
                <a:cs typeface="DejaVu Sans"/>
              </a:rPr>
              <a:t>MCDA ranking</a:t>
            </a:r>
          </a:p>
        </p:txBody>
      </p:sp>
      <p:sp>
        <p:nvSpPr>
          <p:cNvPr id="9" name="">
            <a:extLst xmlns:a="http://schemas.openxmlformats.org/drawingml/2006/main">
              <a:ext uri="{FF2B5EF4-FFF2-40B4-BE49-F238E27FC236}">
                <a16:creationId xmlns:a16="http://schemas.microsoft.com/office/drawing/2014/main" id="{241C1182-DE23-4322-A734-40BCA3F29149}"/>
              </a:ext>
            </a:extLst>
          </p:cNvPr>
          <p:cNvSpPr>
            <a:spLocks xmlns:a="http://schemas.openxmlformats.org/drawingml/2006/main" noGrp="1"/>
          </p:cNvSpPr>
          <p:nvPr/>
        </p:nvSpPr>
        <p:spPr>
          <a:xfrm xmlns:a="http://schemas.openxmlformats.org/drawingml/2006/main">
            <a:off x="7810500" y="3476625"/>
            <a:ext cx="3714750" cy="1314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42E44"/>
                </a:solidFill>
                <a:latin typeface="DejaVu Sans"/>
                <a:ea typeface="DejaVu Sans"/>
                <a:cs typeface="DejaVu Sans"/>
              </a:defRPr>
            </a:pPr>
            <a:r>
              <a:rPr sz="1800" b="0">
                <a:solidFill>
                  <a:srgbClr val="142E44"/>
                </a:solidFill>
                <a:latin typeface="DejaVu Sans"/>
                <a:ea typeface="DejaVu Sans"/>
                <a:cs typeface="DejaVu Sans"/>
              </a:rPr>
              <a:t>Adjustable scenario weights</a:t>
            </a:r>
          </a:p>
          <a:p xmlns:a="http://schemas.openxmlformats.org/drawingml/2006/main">
            <a:pPr>
              <a:defRPr sz="1800" b="0">
                <a:solidFill>
                  <a:srgbClr val="142E44"/>
                </a:solidFill>
                <a:latin typeface="DejaVu Sans"/>
                <a:ea typeface="DejaVu Sans"/>
                <a:cs typeface="DejaVu Sans"/>
              </a:defRPr>
            </a:pPr>
            <a:r>
              <a:rPr sz="1800" b="0">
                <a:solidFill>
                  <a:srgbClr val="142E44"/>
                </a:solidFill>
                <a:latin typeface="DejaVu Sans"/>
                <a:ea typeface="DejaVu Sans"/>
                <a:cs typeface="DejaVu Sans"/>
              </a:rPr>
              <a:t>Competition penalties</a:t>
            </a:r>
          </a:p>
          <a:p xmlns:a="http://schemas.openxmlformats.org/drawingml/2006/main">
            <a:pPr>
              <a:defRPr sz="1800" b="0">
                <a:solidFill>
                  <a:srgbClr val="142E44"/>
                </a:solidFill>
                <a:latin typeface="DejaVu Sans"/>
                <a:ea typeface="DejaVu Sans"/>
                <a:cs typeface="DejaVu Sans"/>
              </a:defRPr>
            </a:pPr>
            <a:r>
              <a:rPr sz="1800" b="0">
                <a:solidFill>
                  <a:srgbClr val="142E44"/>
                </a:solidFill>
                <a:latin typeface="DejaVu Sans"/>
                <a:ea typeface="DejaVu Sans"/>
                <a:cs typeface="DejaVu Sans"/>
              </a:rPr>
              <a:t>Inspectable contributions</a:t>
            </a:r>
          </a:p>
        </p:txBody>
      </p:sp>
      <p:sp>
        <p:nvSpPr>
          <p:cNvPr id="10" name="">
            <a:extLst xmlns:a="http://schemas.openxmlformats.org/drawingml/2006/main">
              <a:ext uri="{FF2B5EF4-FFF2-40B4-BE49-F238E27FC236}">
                <a16:creationId xmlns:a16="http://schemas.microsoft.com/office/drawing/2014/main" id="{E5A9C989-6533-4A37-9ED6-DA3309DD2FA9}"/>
              </a:ext>
            </a:extLst>
          </p:cNvPr>
          <p:cNvSpPr>
            <a:spLocks xmlns:a="http://schemas.openxmlformats.org/drawingml/2006/main" noGrp="1"/>
          </p:cNvSpPr>
          <p:nvPr/>
        </p:nvSpPr>
        <p:spPr>
          <a:xfrm xmlns:a="http://schemas.openxmlformats.org/drawingml/2006/main">
            <a:off x="7810500" y="5057775"/>
            <a:ext cx="37623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67AAB"/>
                </a:solidFill>
                <a:latin typeface="DejaVu Sans"/>
                <a:ea typeface="DejaVu Sans"/>
                <a:cs typeface="DejaVu Sans"/>
              </a:defRPr>
            </a:pPr>
            <a:r>
              <a:rPr sz="2175" b="1">
                <a:solidFill>
                  <a:srgbClr val="167AAB"/>
                </a:solidFill>
                <a:latin typeface="DejaVu Sans"/>
                <a:ea typeface="DejaVu Sans"/>
                <a:cs typeface="DejaVu Sans"/>
              </a:rPr>
              <a:t>RF similarity</a:t>
            </a:r>
          </a:p>
        </p:txBody>
      </p:sp>
      <p:sp>
        <p:nvSpPr>
          <p:cNvPr id="11" name="">
            <a:extLst xmlns:a="http://schemas.openxmlformats.org/drawingml/2006/main">
              <a:ext uri="{FF2B5EF4-FFF2-40B4-BE49-F238E27FC236}">
                <a16:creationId xmlns:a16="http://schemas.microsoft.com/office/drawing/2014/main" id="{AF163F50-CE7A-46EE-A88E-A4EF2DD9DC7B}"/>
              </a:ext>
            </a:extLst>
          </p:cNvPr>
          <p:cNvSpPr>
            <a:spLocks xmlns:a="http://schemas.openxmlformats.org/drawingml/2006/main" noGrp="1"/>
          </p:cNvSpPr>
          <p:nvPr/>
        </p:nvSpPr>
        <p:spPr>
          <a:xfrm xmlns:a="http://schemas.openxmlformats.org/drawingml/2006/main">
            <a:off x="7810500" y="5572125"/>
            <a:ext cx="37623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26879"/>
                </a:solidFill>
                <a:latin typeface="DejaVu Sans"/>
                <a:ea typeface="DejaVu Sans"/>
                <a:cs typeface="DejaVu Sans"/>
              </a:defRPr>
            </a:pPr>
            <a:r>
              <a:rPr sz="1725" b="0">
                <a:solidFill>
                  <a:srgbClr val="526879"/>
                </a:solidFill>
                <a:latin typeface="DejaVu Sans"/>
                <a:ea typeface="DejaVu Sans"/>
                <a:cs typeface="DejaVu Sans"/>
              </a:rPr>
              <a:t>Mapped café presence;</a:t>
            </a:r>
          </a:p>
          <a:p xmlns:a="http://schemas.openxmlformats.org/drawingml/2006/main">
            <a:pPr>
              <a:defRPr sz="1725" b="0">
                <a:solidFill>
                  <a:srgbClr val="526879"/>
                </a:solidFill>
                <a:latin typeface="DejaVu Sans"/>
                <a:ea typeface="DejaVu Sans"/>
                <a:cs typeface="DejaVu Sans"/>
              </a:defRPr>
            </a:pPr>
            <a:r>
              <a:rPr sz="1725" b="0">
                <a:solidFill>
                  <a:srgbClr val="526879"/>
                </a:solidFill>
                <a:latin typeface="DejaVu Sans"/>
                <a:ea typeface="DejaVu Sans"/>
                <a:cs typeface="DejaVu Sans"/>
              </a:rPr>
              <a:t>not revenue or profit</a:t>
            </a:r>
          </a:p>
        </p:txBody>
      </p:sp>
    </p:spTree>
    <p:extLst>
      <p:ext uri="{BB962C8B-B14F-4D97-AF65-F5344CB8AC3E}">
        <p14:creationId xmlns:p14="http://schemas.microsoft.com/office/powerpoint/2010/main" val="1825138327"/>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0B66B089-DB89-4FBA-95A5-DCC546B2F7F9}"/>
              </a:ext>
            </a:extLst>
          </p:cNvPr>
          <p:cNvSpPr>
            <a:spLocks xmlns:a="http://schemas.openxmlformats.org/drawingml/2006/main" noGrp="1"/>
          </p:cNvSpPr>
          <p:nvPr/>
        </p:nvSpPr>
        <p:spPr>
          <a:xfrm xmlns:a="http://schemas.openxmlformats.org/drawingml/2006/main">
            <a:off x="609600" y="304800"/>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1">
                <a:solidFill>
                  <a:srgbClr val="167AAB"/>
                </a:solidFill>
                <a:latin typeface="DejaVu Sans"/>
                <a:ea typeface="DejaVu Sans"/>
                <a:cs typeface="DejaVu Sans"/>
              </a:defRPr>
            </a:pPr>
            <a:r>
              <a:rPr sz="1350" b="1">
                <a:solidFill>
                  <a:srgbClr val="167AAB"/>
                </a:solidFill>
                <a:latin typeface="DejaVu Sans"/>
                <a:ea typeface="DejaVu Sans"/>
                <a:cs typeface="DejaVu Sans"/>
              </a:rPr>
              <a:t>SAMSUNG INNOVATION CAMPUS  /  AI IN MARKETING</a:t>
            </a:r>
          </a:p>
        </p:txBody>
      </p:sp>
      <p:sp>
        <p:nvSpPr>
          <p:cNvPr id="2" name="">
            <a:extLst xmlns:a="http://schemas.openxmlformats.org/drawingml/2006/main">
              <a:ext uri="{FF2B5EF4-FFF2-40B4-BE49-F238E27FC236}">
                <a16:creationId xmlns:a16="http://schemas.microsoft.com/office/drawing/2014/main" id="{DBEA7FCB-BD08-4BD5-A7BD-42D7FD84925C}"/>
              </a:ext>
            </a:extLst>
          </p:cNvPr>
          <p:cNvSpPr>
            <a:spLocks xmlns:a="http://schemas.openxmlformats.org/drawingml/2006/main" noGrp="1"/>
          </p:cNvSpPr>
          <p:nvPr/>
        </p:nvSpPr>
        <p:spPr>
          <a:xfrm xmlns:a="http://schemas.openxmlformats.org/drawingml/2006/main">
            <a:off x="609600" y="9525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142E44"/>
                </a:solidFill>
                <a:latin typeface="DejaVu Sans"/>
                <a:ea typeface="DejaVu Sans"/>
                <a:cs typeface="DejaVu Sans"/>
              </a:defRPr>
            </a:pPr>
            <a:r>
              <a:rPr sz="3450" b="1">
                <a:solidFill>
                  <a:srgbClr val="142E44"/>
                </a:solidFill>
                <a:latin typeface="DejaVu Sans"/>
                <a:ea typeface="DejaVu Sans"/>
                <a:cs typeface="DejaVu Sans"/>
              </a:rPr>
              <a:t>AI evaluation holds out neighborhoods</a:t>
            </a:r>
          </a:p>
        </p:txBody>
      </p:sp>
      <p:sp>
        <p:nvSpPr>
          <p:cNvPr id="3" name="">
            <a:extLst xmlns:a="http://schemas.openxmlformats.org/drawingml/2006/main">
              <a:ext uri="{FF2B5EF4-FFF2-40B4-BE49-F238E27FC236}">
                <a16:creationId xmlns:a16="http://schemas.microsoft.com/office/drawing/2014/main" id="{7ADC6BA9-9BDE-4B09-BEE2-B607084F8987}"/>
              </a:ext>
            </a:extLst>
          </p:cNvPr>
          <p:cNvSpPr>
            <a:spLocks xmlns:a="http://schemas.openxmlformats.org/drawingml/2006/main" noGrp="1"/>
          </p:cNvSpPr>
          <p:nvPr/>
        </p:nvSpPr>
        <p:spPr>
          <a:xfrm xmlns:a="http://schemas.openxmlformats.org/drawingml/2006/main">
            <a:off x="609600" y="1943100"/>
            <a:ext cx="1082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879"/>
                </a:solidFill>
                <a:latin typeface="DejaVu Sans"/>
                <a:ea typeface="DejaVu Sans"/>
                <a:cs typeface="DejaVu Sans"/>
              </a:defRPr>
            </a:pPr>
            <a:r>
              <a:rPr sz="1800" b="0">
                <a:solidFill>
                  <a:srgbClr val="526879"/>
                </a:solidFill>
                <a:latin typeface="DejaVu Sans"/>
                <a:ea typeface="DejaVu Sans"/>
                <a:cs typeface="DejaVu Sans"/>
              </a:rPr>
              <a:t>Five-fold StratifiedGroupKFold; all displayed probabilities are held out.</a:t>
            </a:r>
          </a:p>
        </p:txBody>
      </p:sp>
      <p:sp>
        <p:nvSpPr>
          <p:cNvPr id="4" name="">
            <a:extLst xmlns:a="http://schemas.openxmlformats.org/drawingml/2006/main">
              <a:ext uri="{FF2B5EF4-FFF2-40B4-BE49-F238E27FC236}">
                <a16:creationId xmlns:a16="http://schemas.microsoft.com/office/drawing/2014/main" id="{2C415063-D630-409A-9024-B152DB4D4E71}"/>
              </a:ext>
            </a:extLst>
          </p:cNvPr>
          <p:cNvSpPr>
            <a:spLocks xmlns:a="http://schemas.openxmlformats.org/drawingml/2006/main" noGrp="1"/>
          </p:cNvSpPr>
          <p:nvPr/>
        </p:nvSpPr>
        <p:spPr>
          <a:xfrm xmlns:a="http://schemas.openxmlformats.org/drawingml/2006/main">
            <a:off x="609600" y="6343650"/>
            <a:ext cx="952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26879"/>
                </a:solidFill>
                <a:latin typeface="DejaVu Sans"/>
                <a:ea typeface="DejaVu Sans"/>
                <a:cs typeface="DejaVu Sans"/>
              </a:defRPr>
            </a:pPr>
            <a:r>
              <a:rPr sz="1200" b="0">
                <a:solidFill>
                  <a:srgbClr val="526879"/>
                </a:solidFill>
                <a:latin typeface="DejaVu Sans"/>
                <a:ea typeface="DejaVu Sans"/>
                <a:cs typeface="DejaVu Sans"/>
              </a:rPr>
              <a:t>Retail Location Intelligence  •  Group 6</a:t>
            </a:r>
          </a:p>
        </p:txBody>
      </p:sp>
      <p:sp>
        <p:nvSpPr>
          <p:cNvPr id="5" name="">
            <a:extLst xmlns:a="http://schemas.openxmlformats.org/drawingml/2006/main">
              <a:ext uri="{FF2B5EF4-FFF2-40B4-BE49-F238E27FC236}">
                <a16:creationId xmlns:a16="http://schemas.microsoft.com/office/drawing/2014/main" id="{69BF2E39-638F-4890-B99C-2C06DD5E7836}"/>
              </a:ext>
            </a:extLst>
          </p:cNvPr>
          <p:cNvSpPr>
            <a:spLocks xmlns:a="http://schemas.openxmlformats.org/drawingml/2006/main" noGrp="1"/>
          </p:cNvSpPr>
          <p:nvPr/>
        </p:nvSpPr>
        <p:spPr>
          <a:xfrm xmlns:a="http://schemas.openxmlformats.org/drawingml/2006/main">
            <a:off x="10572750" y="6343650"/>
            <a:ext cx="10096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26879"/>
                </a:solidFill>
                <a:latin typeface="DejaVu Sans"/>
                <a:ea typeface="DejaVu Sans"/>
                <a:cs typeface="DejaVu Sans"/>
              </a:defRPr>
            </a:pPr>
            <a:r>
              <a:rPr sz="1200" b="0">
                <a:solidFill>
                  <a:srgbClr val="526879"/>
                </a:solidFill>
                <a:latin typeface="DejaVu Sans"/>
                <a:ea typeface="DejaVu Sans"/>
                <a:cs typeface="DejaVu Sans"/>
              </a:rPr>
              <a:t>05 / 08</a:t>
            </a:r>
          </a:p>
        </p:txBody>
      </p:sp>
      <p:graphicFrame>
        <p:nvGraphicFramePr>
          <p:cNvPr id="15" name="Chart"/>
          <p:cNvGraphicFramePr/>
          <p:nvPr/>
        </p:nvGraphicFramePr>
        <p:xfrm>
          <a:off xmlns:a="http://schemas.openxmlformats.org/drawingml/2006/main" x="609600" y="2895600"/>
          <a:ext xmlns:a="http://schemas.openxmlformats.org/drawingml/2006/main" cx="7524750" cy="2857500"/>
        </p:xfrm>
        <a:graphic xmlns:a="http://schemas.openxmlformats.org/drawingml/2006/main">
          <a:graphicData uri="http://schemas.openxmlformats.org/drawingml/2006/chart">
            <c:chart xmlns:r="http://schemas.openxmlformats.org/officeDocument/2006/relationships" xmlns:c="http://schemas.openxmlformats.org/drawingml/2006/chart" r:id="R3413bc2ff46643ea"/>
          </a:graphicData>
        </a:graphic>
      </p:graphicFrame>
      <p:sp>
        <p:nvSpPr>
          <p:cNvPr id="7" name="">
            <a:extLst xmlns:a="http://schemas.openxmlformats.org/drawingml/2006/main">
              <a:ext uri="{FF2B5EF4-FFF2-40B4-BE49-F238E27FC236}">
                <a16:creationId xmlns:a16="http://schemas.microsoft.com/office/drawing/2014/main" id="{F01821D2-CF8F-4527-A88E-3C4786E142C0}"/>
              </a:ext>
            </a:extLst>
          </p:cNvPr>
          <p:cNvSpPr>
            <a:spLocks xmlns:a="http://schemas.openxmlformats.org/drawingml/2006/main" noGrp="1"/>
          </p:cNvSpPr>
          <p:nvPr/>
        </p:nvSpPr>
        <p:spPr>
          <a:xfrm xmlns:a="http://schemas.openxmlformats.org/drawingml/2006/main">
            <a:off x="8572500" y="2990850"/>
            <a:ext cx="29051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800" b="1">
                <a:solidFill>
                  <a:srgbClr val="142E44"/>
                </a:solidFill>
                <a:latin typeface="DejaVu Sans"/>
                <a:ea typeface="DejaVu Sans"/>
                <a:cs typeface="DejaVu Sans"/>
              </a:defRPr>
            </a:pPr>
            <a:r>
              <a:rPr sz="4800" b="1">
                <a:solidFill>
                  <a:srgbClr val="142E44"/>
                </a:solidFill>
                <a:latin typeface="DejaVu Sans"/>
                <a:ea typeface="DejaVu Sans"/>
                <a:cs typeface="DejaVu Sans"/>
              </a:rPr>
              <a:t>0.960</a:t>
            </a:r>
          </a:p>
        </p:txBody>
      </p:sp>
      <p:sp>
        <p:nvSpPr>
          <p:cNvPr id="8" name="">
            <a:extLst xmlns:a="http://schemas.openxmlformats.org/drawingml/2006/main">
              <a:ext uri="{FF2B5EF4-FFF2-40B4-BE49-F238E27FC236}">
                <a16:creationId xmlns:a16="http://schemas.microsoft.com/office/drawing/2014/main" id="{9EA90911-1049-485D-90D4-139DBC7D6928}"/>
              </a:ext>
            </a:extLst>
          </p:cNvPr>
          <p:cNvSpPr>
            <a:spLocks xmlns:a="http://schemas.openxmlformats.org/drawingml/2006/main" noGrp="1"/>
          </p:cNvSpPr>
          <p:nvPr/>
        </p:nvSpPr>
        <p:spPr>
          <a:xfrm xmlns:a="http://schemas.openxmlformats.org/drawingml/2006/main">
            <a:off x="8572500" y="4029075"/>
            <a:ext cx="2952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42E44"/>
                </a:solidFill>
                <a:latin typeface="DejaVu Sans"/>
                <a:ea typeface="DejaVu Sans"/>
                <a:cs typeface="DejaVu Sans"/>
              </a:defRPr>
            </a:pPr>
            <a:r>
              <a:rPr sz="1800" b="0">
                <a:solidFill>
                  <a:srgbClr val="142E44"/>
                </a:solidFill>
                <a:latin typeface="DejaVu Sans"/>
                <a:ea typeface="DejaVu Sans"/>
                <a:cs typeface="DejaVu Sans"/>
              </a:rPr>
              <a:t>Mean fold ROC-AUC</a:t>
            </a:r>
          </a:p>
          <a:p xmlns:a="http://schemas.openxmlformats.org/drawingml/2006/main">
            <a:pPr>
              <a:defRPr sz="1800" b="0">
                <a:solidFill>
                  <a:srgbClr val="142E44"/>
                </a:solidFill>
                <a:latin typeface="DejaVu Sans"/>
                <a:ea typeface="DejaVu Sans"/>
                <a:cs typeface="DejaVu Sans"/>
              </a:defRPr>
            </a:pPr>
            <a:r>
              <a:rPr sz="1800" b="0">
                <a:solidFill>
                  <a:srgbClr val="142E44"/>
                </a:solidFill>
                <a:latin typeface="DejaVu Sans"/>
                <a:ea typeface="DejaVu Sans"/>
                <a:cs typeface="DejaVu Sans"/>
              </a:rPr>
              <a:t>Recorded snapshot run</a:t>
            </a:r>
          </a:p>
        </p:txBody>
      </p:sp>
      <p:sp>
        <p:nvSpPr>
          <p:cNvPr id="9" name="">
            <a:extLst xmlns:a="http://schemas.openxmlformats.org/drawingml/2006/main">
              <a:ext uri="{FF2B5EF4-FFF2-40B4-BE49-F238E27FC236}">
                <a16:creationId xmlns:a16="http://schemas.microsoft.com/office/drawing/2014/main" id="{7C2AB89D-ABBE-4B5C-8F3B-A040562280BD}"/>
              </a:ext>
            </a:extLst>
          </p:cNvPr>
          <p:cNvSpPr>
            <a:spLocks xmlns:a="http://schemas.openxmlformats.org/drawingml/2006/main" noGrp="1"/>
          </p:cNvSpPr>
          <p:nvPr/>
        </p:nvSpPr>
        <p:spPr>
          <a:xfrm xmlns:a="http://schemas.openxmlformats.org/drawingml/2006/main">
            <a:off x="609600" y="5876925"/>
            <a:ext cx="10953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26879"/>
                </a:solidFill>
                <a:latin typeface="DejaVu Sans"/>
                <a:ea typeface="DejaVu Sans"/>
                <a:cs typeface="DejaVu Sans"/>
              </a:defRPr>
            </a:pPr>
            <a:r>
              <a:rPr sz="1575" b="0">
                <a:solidFill>
                  <a:srgbClr val="526879"/>
                </a:solidFill>
                <a:latin typeface="DejaVu Sans"/>
                <a:ea typeface="DejaVu Sans"/>
                <a:cs typeface="DejaVu Sans"/>
              </a:rPr>
              <a:t>Residual spatial dependence and no independent test remain limitations.</a:t>
            </a:r>
          </a:p>
        </p:txBody>
      </p:sp>
    </p:spTree>
    <p:extLst>
      <p:ext uri="{BB962C8B-B14F-4D97-AF65-F5344CB8AC3E}">
        <p14:creationId xmlns:p14="http://schemas.microsoft.com/office/powerpoint/2010/main" val="1051001612"/>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F30FC43C-3673-4B60-9B26-E2CACEF7E16A}"/>
              </a:ext>
            </a:extLst>
          </p:cNvPr>
          <p:cNvSpPr>
            <a:spLocks xmlns:a="http://schemas.openxmlformats.org/drawingml/2006/main" noGrp="1"/>
          </p:cNvSpPr>
          <p:nvPr/>
        </p:nvSpPr>
        <p:spPr>
          <a:xfrm xmlns:a="http://schemas.openxmlformats.org/drawingml/2006/main">
            <a:off x="609600" y="304800"/>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1">
                <a:solidFill>
                  <a:srgbClr val="167AAB"/>
                </a:solidFill>
                <a:latin typeface="DejaVu Sans"/>
                <a:ea typeface="DejaVu Sans"/>
                <a:cs typeface="DejaVu Sans"/>
              </a:defRPr>
            </a:pPr>
            <a:r>
              <a:rPr sz="1350" b="1">
                <a:solidFill>
                  <a:srgbClr val="167AAB"/>
                </a:solidFill>
                <a:latin typeface="DejaVu Sans"/>
                <a:ea typeface="DejaVu Sans"/>
                <a:cs typeface="DejaVu Sans"/>
              </a:rPr>
              <a:t>SAMSUNG INNOVATION CAMPUS  /  AI IN MARKETING</a:t>
            </a:r>
          </a:p>
        </p:txBody>
      </p:sp>
      <p:sp>
        <p:nvSpPr>
          <p:cNvPr id="2" name="">
            <a:extLst xmlns:a="http://schemas.openxmlformats.org/drawingml/2006/main">
              <a:ext uri="{FF2B5EF4-FFF2-40B4-BE49-F238E27FC236}">
                <a16:creationId xmlns:a16="http://schemas.microsoft.com/office/drawing/2014/main" id="{57CF0EB5-E522-446F-80AF-84E50389AFF1}"/>
              </a:ext>
            </a:extLst>
          </p:cNvPr>
          <p:cNvSpPr>
            <a:spLocks xmlns:a="http://schemas.openxmlformats.org/drawingml/2006/main" noGrp="1"/>
          </p:cNvSpPr>
          <p:nvPr/>
        </p:nvSpPr>
        <p:spPr>
          <a:xfrm xmlns:a="http://schemas.openxmlformats.org/drawingml/2006/main">
            <a:off x="609600" y="9525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142E44"/>
                </a:solidFill>
                <a:latin typeface="DejaVu Sans"/>
                <a:ea typeface="DejaVu Sans"/>
                <a:cs typeface="DejaVu Sans"/>
              </a:defRPr>
            </a:pPr>
            <a:r>
              <a:rPr sz="3450" b="1">
                <a:solidFill>
                  <a:srgbClr val="142E44"/>
                </a:solidFill>
                <a:latin typeface="DejaVu Sans"/>
                <a:ea typeface="DejaVu Sans"/>
                <a:cs typeface="DejaVu Sans"/>
              </a:rPr>
              <a:t>From map exploration to a field shortlist</a:t>
            </a:r>
          </a:p>
        </p:txBody>
      </p:sp>
      <p:sp>
        <p:nvSpPr>
          <p:cNvPr id="3" name="">
            <a:extLst xmlns:a="http://schemas.openxmlformats.org/drawingml/2006/main">
              <a:ext uri="{FF2B5EF4-FFF2-40B4-BE49-F238E27FC236}">
                <a16:creationId xmlns:a16="http://schemas.microsoft.com/office/drawing/2014/main" id="{C8E3DA81-05A7-4021-8955-60A2053B5F9F}"/>
              </a:ext>
            </a:extLst>
          </p:cNvPr>
          <p:cNvSpPr>
            <a:spLocks xmlns:a="http://schemas.openxmlformats.org/drawingml/2006/main" noGrp="1"/>
          </p:cNvSpPr>
          <p:nvPr/>
        </p:nvSpPr>
        <p:spPr>
          <a:xfrm xmlns:a="http://schemas.openxmlformats.org/drawingml/2006/main">
            <a:off x="609600" y="1943100"/>
            <a:ext cx="1082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879"/>
                </a:solidFill>
                <a:latin typeface="DejaVu Sans"/>
                <a:ea typeface="DejaVu Sans"/>
                <a:cs typeface="DejaVu Sans"/>
              </a:defRPr>
            </a:pPr>
            <a:r>
              <a:rPr sz="1800" b="0">
                <a:solidFill>
                  <a:srgbClr val="526879"/>
                </a:solidFill>
                <a:latin typeface="DejaVu Sans"/>
                <a:ea typeface="DejaVu Sans"/>
                <a:cs typeface="DejaVu Sans"/>
              </a:rPr>
              <a:t>The Streamlit dashboard supports scenario-based comparison.</a:t>
            </a:r>
          </a:p>
        </p:txBody>
      </p:sp>
      <p:sp>
        <p:nvSpPr>
          <p:cNvPr id="4" name="">
            <a:extLst xmlns:a="http://schemas.openxmlformats.org/drawingml/2006/main">
              <a:ext uri="{FF2B5EF4-FFF2-40B4-BE49-F238E27FC236}">
                <a16:creationId xmlns:a16="http://schemas.microsoft.com/office/drawing/2014/main" id="{C79FA673-50AC-4D10-83F4-3470C4BF0D6C}"/>
              </a:ext>
            </a:extLst>
          </p:cNvPr>
          <p:cNvSpPr>
            <a:spLocks xmlns:a="http://schemas.openxmlformats.org/drawingml/2006/main" noGrp="1"/>
          </p:cNvSpPr>
          <p:nvPr/>
        </p:nvSpPr>
        <p:spPr>
          <a:xfrm xmlns:a="http://schemas.openxmlformats.org/drawingml/2006/main">
            <a:off x="609600" y="6343650"/>
            <a:ext cx="952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26879"/>
                </a:solidFill>
                <a:latin typeface="DejaVu Sans"/>
                <a:ea typeface="DejaVu Sans"/>
                <a:cs typeface="DejaVu Sans"/>
              </a:defRPr>
            </a:pPr>
            <a:r>
              <a:rPr sz="1200" b="0">
                <a:solidFill>
                  <a:srgbClr val="526879"/>
                </a:solidFill>
                <a:latin typeface="DejaVu Sans"/>
                <a:ea typeface="DejaVu Sans"/>
                <a:cs typeface="DejaVu Sans"/>
              </a:rPr>
              <a:t>Retail Location Intelligence  •  Group 6</a:t>
            </a:r>
          </a:p>
        </p:txBody>
      </p:sp>
      <p:sp>
        <p:nvSpPr>
          <p:cNvPr id="5" name="">
            <a:extLst xmlns:a="http://schemas.openxmlformats.org/drawingml/2006/main">
              <a:ext uri="{FF2B5EF4-FFF2-40B4-BE49-F238E27FC236}">
                <a16:creationId xmlns:a16="http://schemas.microsoft.com/office/drawing/2014/main" id="{E7BC2778-6ECD-4F7E-9202-02760BD04974}"/>
              </a:ext>
            </a:extLst>
          </p:cNvPr>
          <p:cNvSpPr>
            <a:spLocks xmlns:a="http://schemas.openxmlformats.org/drawingml/2006/main" noGrp="1"/>
          </p:cNvSpPr>
          <p:nvPr/>
        </p:nvSpPr>
        <p:spPr>
          <a:xfrm xmlns:a="http://schemas.openxmlformats.org/drawingml/2006/main">
            <a:off x="10572750" y="6343650"/>
            <a:ext cx="10096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26879"/>
                </a:solidFill>
                <a:latin typeface="DejaVu Sans"/>
                <a:ea typeface="DejaVu Sans"/>
                <a:cs typeface="DejaVu Sans"/>
              </a:defRPr>
            </a:pPr>
            <a:r>
              <a:rPr sz="1200" b="0">
                <a:solidFill>
                  <a:srgbClr val="526879"/>
                </a:solidFill>
                <a:latin typeface="DejaVu Sans"/>
                <a:ea typeface="DejaVu Sans"/>
                <a:cs typeface="DejaVu Sans"/>
              </a:rPr>
              <a:t>06 / 08</a:t>
            </a:r>
          </a:p>
        </p:txBody>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7facee4f4ed6465b"/>
          <a:stretch xmlns:a="http://schemas.openxmlformats.org/drawingml/2006/main"/>
        </p:blipFill>
        <p:spPr>
          <a:xfrm xmlns:a="http://schemas.openxmlformats.org/drawingml/2006/main">
            <a:off x="7784074" y="2552700"/>
            <a:ext cx="2767476" cy="325755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DD0BDD2D-6BA3-4901-9519-46D81A76DC70}"/>
              </a:ext>
            </a:extLst>
          </p:cNvPr>
          <p:cNvSpPr>
            <a:spLocks xmlns:a="http://schemas.openxmlformats.org/drawingml/2006/main" noGrp="1"/>
          </p:cNvSpPr>
          <p:nvPr/>
        </p:nvSpPr>
        <p:spPr>
          <a:xfrm xmlns:a="http://schemas.openxmlformats.org/drawingml/2006/main">
            <a:off x="609600" y="2867025"/>
            <a:ext cx="6191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42E44"/>
                </a:solidFill>
                <a:latin typeface="DejaVu Sans"/>
                <a:ea typeface="DejaVu Sans"/>
                <a:cs typeface="DejaVu Sans"/>
              </a:defRPr>
            </a:pPr>
            <a:r>
              <a:rPr sz="2175" b="1">
                <a:solidFill>
                  <a:srgbClr val="142E44"/>
                </a:solidFill>
                <a:latin typeface="DejaVu Sans"/>
                <a:ea typeface="DejaVu Sans"/>
                <a:cs typeface="DejaVu Sans"/>
              </a:rPr>
              <a:t>1  Select neighborhood</a:t>
            </a:r>
          </a:p>
        </p:txBody>
      </p:sp>
      <p:sp>
        <p:nvSpPr>
          <p:cNvPr id="8" name="">
            <a:extLst xmlns:a="http://schemas.openxmlformats.org/drawingml/2006/main">
              <a:ext uri="{FF2B5EF4-FFF2-40B4-BE49-F238E27FC236}">
                <a16:creationId xmlns:a16="http://schemas.microsoft.com/office/drawing/2014/main" id="{93EE785D-FAA8-4920-A0E6-7806AFE570F6}"/>
              </a:ext>
            </a:extLst>
          </p:cNvPr>
          <p:cNvSpPr>
            <a:spLocks xmlns:a="http://schemas.openxmlformats.org/drawingml/2006/main" noGrp="1"/>
          </p:cNvSpPr>
          <p:nvPr/>
        </p:nvSpPr>
        <p:spPr>
          <a:xfrm xmlns:a="http://schemas.openxmlformats.org/drawingml/2006/main">
            <a:off x="609600" y="3590925"/>
            <a:ext cx="6191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42E44"/>
                </a:solidFill>
                <a:latin typeface="DejaVu Sans"/>
                <a:ea typeface="DejaVu Sans"/>
                <a:cs typeface="DejaVu Sans"/>
              </a:defRPr>
            </a:pPr>
            <a:r>
              <a:rPr sz="2175" b="1">
                <a:solidFill>
                  <a:srgbClr val="142E44"/>
                </a:solidFill>
                <a:latin typeface="DejaVu Sans"/>
                <a:ea typeface="DejaVu Sans"/>
                <a:cs typeface="DejaVu Sans"/>
              </a:rPr>
              <a:t>2  Adjust the scenario</a:t>
            </a:r>
          </a:p>
        </p:txBody>
      </p:sp>
      <p:sp>
        <p:nvSpPr>
          <p:cNvPr id="9" name="">
            <a:extLst xmlns:a="http://schemas.openxmlformats.org/drawingml/2006/main">
              <a:ext uri="{FF2B5EF4-FFF2-40B4-BE49-F238E27FC236}">
                <a16:creationId xmlns:a16="http://schemas.microsoft.com/office/drawing/2014/main" id="{E0C68CC2-383A-4569-82C4-2950E109B947}"/>
              </a:ext>
            </a:extLst>
          </p:cNvPr>
          <p:cNvSpPr>
            <a:spLocks xmlns:a="http://schemas.openxmlformats.org/drawingml/2006/main" noGrp="1"/>
          </p:cNvSpPr>
          <p:nvPr/>
        </p:nvSpPr>
        <p:spPr>
          <a:xfrm xmlns:a="http://schemas.openxmlformats.org/drawingml/2006/main">
            <a:off x="609600" y="4314825"/>
            <a:ext cx="647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42E44"/>
                </a:solidFill>
                <a:latin typeface="DejaVu Sans"/>
                <a:ea typeface="DejaVu Sans"/>
                <a:cs typeface="DejaVu Sans"/>
              </a:defRPr>
            </a:pPr>
            <a:r>
              <a:rPr sz="2175" b="1">
                <a:solidFill>
                  <a:srgbClr val="142E44"/>
                </a:solidFill>
                <a:latin typeface="DejaVu Sans"/>
                <a:ea typeface="DejaVu Sans"/>
                <a:cs typeface="DejaVu Sans"/>
              </a:rPr>
              <a:t>3  Inspect scores and warnings</a:t>
            </a:r>
          </a:p>
        </p:txBody>
      </p:sp>
      <p:sp>
        <p:nvSpPr>
          <p:cNvPr id="10" name="">
            <a:extLst xmlns:a="http://schemas.openxmlformats.org/drawingml/2006/main">
              <a:ext uri="{FF2B5EF4-FFF2-40B4-BE49-F238E27FC236}">
                <a16:creationId xmlns:a16="http://schemas.microsoft.com/office/drawing/2014/main" id="{725DCCB7-38AF-4378-8DCB-3EF33F64D278}"/>
              </a:ext>
            </a:extLst>
          </p:cNvPr>
          <p:cNvSpPr>
            <a:spLocks xmlns:a="http://schemas.openxmlformats.org/drawingml/2006/main" noGrp="1"/>
          </p:cNvSpPr>
          <p:nvPr/>
        </p:nvSpPr>
        <p:spPr>
          <a:xfrm xmlns:a="http://schemas.openxmlformats.org/drawingml/2006/main">
            <a:off x="609600" y="5038725"/>
            <a:ext cx="65722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142E44"/>
                </a:solidFill>
                <a:latin typeface="DejaVu Sans"/>
                <a:ea typeface="DejaVu Sans"/>
                <a:cs typeface="DejaVu Sans"/>
              </a:defRPr>
            </a:pPr>
            <a:r>
              <a:rPr sz="2025" b="1">
                <a:solidFill>
                  <a:srgbClr val="142E44"/>
                </a:solidFill>
                <a:latin typeface="DejaVu Sans"/>
                <a:ea typeface="DejaVu Sans"/>
                <a:cs typeface="DejaVu Sans"/>
              </a:rPr>
              <a:t>4  Check rent, footfall and fit on site</a:t>
            </a:r>
          </a:p>
        </p:txBody>
      </p:sp>
      <p:sp>
        <p:nvSpPr>
          <p:cNvPr id="11" name="">
            <a:extLst xmlns:a="http://schemas.openxmlformats.org/drawingml/2006/main">
              <a:ext uri="{FF2B5EF4-FFF2-40B4-BE49-F238E27FC236}">
                <a16:creationId xmlns:a16="http://schemas.microsoft.com/office/drawing/2014/main" id="{6BF57124-C131-42A2-9369-7825410EEAAA}"/>
              </a:ext>
            </a:extLst>
          </p:cNvPr>
          <p:cNvSpPr>
            <a:spLocks xmlns:a="http://schemas.openxmlformats.org/drawingml/2006/main" noGrp="1"/>
          </p:cNvSpPr>
          <p:nvPr/>
        </p:nvSpPr>
        <p:spPr>
          <a:xfrm xmlns:a="http://schemas.openxmlformats.org/drawingml/2006/main">
            <a:off x="7153275" y="5857875"/>
            <a:ext cx="4429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879"/>
                </a:solidFill>
                <a:latin typeface="DejaVu Sans"/>
                <a:ea typeface="DejaVu Sans"/>
                <a:cs typeface="DejaVu Sans"/>
              </a:defRPr>
            </a:pPr>
            <a:r>
              <a:rPr sz="1350" b="0">
                <a:solidFill>
                  <a:srgbClr val="526879"/>
                </a:solidFill>
                <a:latin typeface="DejaVu Sans"/>
                <a:ea typeface="DejaVu Sans"/>
                <a:cs typeface="DejaVu Sans"/>
              </a:rPr>
              <a:t>Legacy repository map example; illustrative only.</a:t>
            </a:r>
          </a:p>
        </p:txBody>
      </p:sp>
    </p:spTree>
    <p:extLst>
      <p:ext uri="{BB962C8B-B14F-4D97-AF65-F5344CB8AC3E}">
        <p14:creationId xmlns:p14="http://schemas.microsoft.com/office/powerpoint/2010/main" val="929711305"/>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7CCBB24-4512-41AE-9F86-F8C1491D1FDC}"/>
              </a:ext>
            </a:extLst>
          </p:cNvPr>
          <p:cNvSpPr>
            <a:spLocks xmlns:a="http://schemas.openxmlformats.org/drawingml/2006/main" noGrp="1"/>
          </p:cNvSpPr>
          <p:nvPr/>
        </p:nvSpPr>
        <p:spPr>
          <a:xfrm xmlns:a="http://schemas.openxmlformats.org/drawingml/2006/main">
            <a:off x="609600" y="304800"/>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1">
                <a:solidFill>
                  <a:srgbClr val="167AAB"/>
                </a:solidFill>
                <a:latin typeface="DejaVu Sans"/>
                <a:ea typeface="DejaVu Sans"/>
                <a:cs typeface="DejaVu Sans"/>
              </a:defRPr>
            </a:pPr>
            <a:r>
              <a:rPr sz="1350" b="1">
                <a:solidFill>
                  <a:srgbClr val="167AAB"/>
                </a:solidFill>
                <a:latin typeface="DejaVu Sans"/>
                <a:ea typeface="DejaVu Sans"/>
                <a:cs typeface="DejaVu Sans"/>
              </a:rPr>
              <a:t>SAMSUNG INNOVATION CAMPUS  /  AI IN MARKETING</a:t>
            </a:r>
          </a:p>
        </p:txBody>
      </p:sp>
      <p:sp>
        <p:nvSpPr>
          <p:cNvPr id="2" name="">
            <a:extLst xmlns:a="http://schemas.openxmlformats.org/drawingml/2006/main">
              <a:ext uri="{FF2B5EF4-FFF2-40B4-BE49-F238E27FC236}">
                <a16:creationId xmlns:a16="http://schemas.microsoft.com/office/drawing/2014/main" id="{238CABD1-6CEB-489D-979C-8EA0F98BD4A5}"/>
              </a:ext>
            </a:extLst>
          </p:cNvPr>
          <p:cNvSpPr>
            <a:spLocks xmlns:a="http://schemas.openxmlformats.org/drawingml/2006/main" noGrp="1"/>
          </p:cNvSpPr>
          <p:nvPr/>
        </p:nvSpPr>
        <p:spPr>
          <a:xfrm xmlns:a="http://schemas.openxmlformats.org/drawingml/2006/main">
            <a:off x="609600" y="9525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142E44"/>
                </a:solidFill>
                <a:latin typeface="DejaVu Sans"/>
                <a:ea typeface="DejaVu Sans"/>
                <a:cs typeface="DejaVu Sans"/>
              </a:defRPr>
            </a:pPr>
            <a:r>
              <a:rPr sz="3450" b="1">
                <a:solidFill>
                  <a:srgbClr val="142E44"/>
                </a:solidFill>
                <a:latin typeface="DejaVu Sans"/>
                <a:ea typeface="DejaVu Sans"/>
                <a:cs typeface="DejaVu Sans"/>
              </a:rPr>
              <a:t>A working prototype with clear limits</a:t>
            </a:r>
          </a:p>
        </p:txBody>
      </p:sp>
      <p:sp>
        <p:nvSpPr>
          <p:cNvPr id="3" name="">
            <a:extLst xmlns:a="http://schemas.openxmlformats.org/drawingml/2006/main">
              <a:ext uri="{FF2B5EF4-FFF2-40B4-BE49-F238E27FC236}">
                <a16:creationId xmlns:a16="http://schemas.microsoft.com/office/drawing/2014/main" id="{1070D95D-4D2E-4C14-9DF5-45E056B250ED}"/>
              </a:ext>
            </a:extLst>
          </p:cNvPr>
          <p:cNvSpPr>
            <a:spLocks xmlns:a="http://schemas.openxmlformats.org/drawingml/2006/main" noGrp="1"/>
          </p:cNvSpPr>
          <p:nvPr/>
        </p:nvSpPr>
        <p:spPr>
          <a:xfrm xmlns:a="http://schemas.openxmlformats.org/drawingml/2006/main">
            <a:off x="609600" y="1943100"/>
            <a:ext cx="1082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879"/>
                </a:solidFill>
                <a:latin typeface="DejaVu Sans"/>
                <a:ea typeface="DejaVu Sans"/>
                <a:cs typeface="DejaVu Sans"/>
              </a:defRPr>
            </a:pPr>
            <a:r>
              <a:rPr sz="1800" b="0">
                <a:solidFill>
                  <a:srgbClr val="526879"/>
                </a:solidFill>
                <a:latin typeface="DejaVu Sans"/>
                <a:ea typeface="DejaVu Sans"/>
                <a:cs typeface="DejaVu Sans"/>
              </a:rPr>
              <a:t>Local Streamlit app; Docker configuration; no verified public production URL.</a:t>
            </a:r>
          </a:p>
        </p:txBody>
      </p:sp>
      <p:sp>
        <p:nvSpPr>
          <p:cNvPr id="4" name="">
            <a:extLst xmlns:a="http://schemas.openxmlformats.org/drawingml/2006/main">
              <a:ext uri="{FF2B5EF4-FFF2-40B4-BE49-F238E27FC236}">
                <a16:creationId xmlns:a16="http://schemas.microsoft.com/office/drawing/2014/main" id="{0944581C-E505-44F5-A1E5-29B61734B11B}"/>
              </a:ext>
            </a:extLst>
          </p:cNvPr>
          <p:cNvSpPr>
            <a:spLocks xmlns:a="http://schemas.openxmlformats.org/drawingml/2006/main" noGrp="1"/>
          </p:cNvSpPr>
          <p:nvPr/>
        </p:nvSpPr>
        <p:spPr>
          <a:xfrm xmlns:a="http://schemas.openxmlformats.org/drawingml/2006/main">
            <a:off x="609600" y="6343650"/>
            <a:ext cx="952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26879"/>
                </a:solidFill>
                <a:latin typeface="DejaVu Sans"/>
                <a:ea typeface="DejaVu Sans"/>
                <a:cs typeface="DejaVu Sans"/>
              </a:defRPr>
            </a:pPr>
            <a:r>
              <a:rPr sz="1200" b="0">
                <a:solidFill>
                  <a:srgbClr val="526879"/>
                </a:solidFill>
                <a:latin typeface="DejaVu Sans"/>
                <a:ea typeface="DejaVu Sans"/>
                <a:cs typeface="DejaVu Sans"/>
              </a:rPr>
              <a:t>Retail Location Intelligence  •  Group 6</a:t>
            </a:r>
          </a:p>
        </p:txBody>
      </p:sp>
      <p:sp>
        <p:nvSpPr>
          <p:cNvPr id="5" name="">
            <a:extLst xmlns:a="http://schemas.openxmlformats.org/drawingml/2006/main">
              <a:ext uri="{FF2B5EF4-FFF2-40B4-BE49-F238E27FC236}">
                <a16:creationId xmlns:a16="http://schemas.microsoft.com/office/drawing/2014/main" id="{FE545BB6-7F60-4640-A629-B8E14AFF19F9}"/>
              </a:ext>
            </a:extLst>
          </p:cNvPr>
          <p:cNvSpPr>
            <a:spLocks xmlns:a="http://schemas.openxmlformats.org/drawingml/2006/main" noGrp="1"/>
          </p:cNvSpPr>
          <p:nvPr/>
        </p:nvSpPr>
        <p:spPr>
          <a:xfrm xmlns:a="http://schemas.openxmlformats.org/drawingml/2006/main">
            <a:off x="10572750" y="6343650"/>
            <a:ext cx="10096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26879"/>
                </a:solidFill>
                <a:latin typeface="DejaVu Sans"/>
                <a:ea typeface="DejaVu Sans"/>
                <a:cs typeface="DejaVu Sans"/>
              </a:defRPr>
            </a:pPr>
            <a:r>
              <a:rPr sz="1200" b="0">
                <a:solidFill>
                  <a:srgbClr val="526879"/>
                </a:solidFill>
                <a:latin typeface="DejaVu Sans"/>
                <a:ea typeface="DejaVu Sans"/>
                <a:cs typeface="DejaVu Sans"/>
              </a:rPr>
              <a:t>07 / 08</a:t>
            </a:r>
          </a:p>
        </p:txBody>
      </p:sp>
      <p:sp>
        <p:nvSpPr>
          <p:cNvPr id="6" name="">
            <a:extLst xmlns:a="http://schemas.openxmlformats.org/drawingml/2006/main">
              <a:ext uri="{FF2B5EF4-FFF2-40B4-BE49-F238E27FC236}">
                <a16:creationId xmlns:a16="http://schemas.microsoft.com/office/drawing/2014/main" id="{508897FD-533B-4DE3-9835-523BCB1C4290}"/>
              </a:ext>
            </a:extLst>
          </p:cNvPr>
          <p:cNvSpPr>
            <a:spLocks xmlns:a="http://schemas.openxmlformats.org/drawingml/2006/main" noGrp="1"/>
          </p:cNvSpPr>
          <p:nvPr/>
        </p:nvSpPr>
        <p:spPr>
          <a:xfrm xmlns:a="http://schemas.openxmlformats.org/drawingml/2006/main">
            <a:off x="609600" y="3048000"/>
            <a:ext cx="5238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67AAB"/>
                </a:solidFill>
                <a:latin typeface="DejaVu Sans"/>
                <a:ea typeface="DejaVu Sans"/>
                <a:cs typeface="DejaVu Sans"/>
              </a:defRPr>
            </a:pPr>
            <a:r>
              <a:rPr sz="2250" b="1">
                <a:solidFill>
                  <a:srgbClr val="167AAB"/>
                </a:solidFill>
                <a:latin typeface="DejaVu Sans"/>
                <a:ea typeface="DejaVu Sans"/>
                <a:cs typeface="DejaVu Sans"/>
              </a:rPr>
              <a:t>Verified technical baseline</a:t>
            </a:r>
          </a:p>
        </p:txBody>
      </p:sp>
      <p:sp>
        <p:nvSpPr>
          <p:cNvPr id="7" name="">
            <a:extLst xmlns:a="http://schemas.openxmlformats.org/drawingml/2006/main">
              <a:ext uri="{FF2B5EF4-FFF2-40B4-BE49-F238E27FC236}">
                <a16:creationId xmlns:a16="http://schemas.microsoft.com/office/drawing/2014/main" id="{6CF9C8DF-2C6D-4095-A2FA-3D59F32153DA}"/>
              </a:ext>
            </a:extLst>
          </p:cNvPr>
          <p:cNvSpPr>
            <a:spLocks xmlns:a="http://schemas.openxmlformats.org/drawingml/2006/main" noGrp="1"/>
          </p:cNvSpPr>
          <p:nvPr/>
        </p:nvSpPr>
        <p:spPr>
          <a:xfrm xmlns:a="http://schemas.openxmlformats.org/drawingml/2006/main">
            <a:off x="609600" y="3705225"/>
            <a:ext cx="5238750" cy="1752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42E44"/>
                </a:solidFill>
                <a:latin typeface="DejaVu Sans"/>
                <a:ea typeface="DejaVu Sans"/>
                <a:cs typeface="DejaVu Sans"/>
              </a:defRPr>
            </a:pPr>
            <a:r>
              <a:rPr sz="1875" b="0">
                <a:solidFill>
                  <a:srgbClr val="142E44"/>
                </a:solidFill>
                <a:latin typeface="DejaVu Sans"/>
                <a:ea typeface="DejaVu Sans"/>
                <a:cs typeface="DejaVu Sans"/>
              </a:rPr>
              <a:t>43 tests passed on Python 3.11 / 3.12</a:t>
            </a:r>
          </a:p>
          <a:p xmlns:a="http://schemas.openxmlformats.org/drawingml/2006/main">
            <a:pPr>
              <a:defRPr sz="1875" b="0">
                <a:solidFill>
                  <a:srgbClr val="142E44"/>
                </a:solidFill>
                <a:latin typeface="DejaVu Sans"/>
                <a:ea typeface="DejaVu Sans"/>
                <a:cs typeface="DejaVu Sans"/>
              </a:defRPr>
            </a:pPr>
            <a:r>
              <a:rPr sz="1875" b="0">
                <a:solidFill>
                  <a:srgbClr val="142E44"/>
                </a:solidFill>
                <a:latin typeface="DejaVu Sans"/>
                <a:ea typeface="DejaVu Sans"/>
                <a:cs typeface="DejaVu Sans"/>
              </a:rPr>
              <a:t>Scoring, held-out evaluation and UI flows</a:t>
            </a:r>
          </a:p>
          <a:p xmlns:a="http://schemas.openxmlformats.org/drawingml/2006/main">
            <a:pPr>
              <a:defRPr sz="1875" b="0">
                <a:solidFill>
                  <a:srgbClr val="142E44"/>
                </a:solidFill>
                <a:latin typeface="DejaVu Sans"/>
                <a:ea typeface="DejaVu Sans"/>
                <a:cs typeface="DejaVu Sans"/>
              </a:defRPr>
            </a:pPr>
            <a:r>
              <a:rPr sz="1875" b="0">
                <a:solidFill>
                  <a:srgbClr val="142E44"/>
                </a:solidFill>
                <a:latin typeface="DejaVu Sans"/>
                <a:ea typeface="DejaVu Sans"/>
                <a:cs typeface="DejaVu Sans"/>
              </a:rPr>
              <a:t>No algorithm change in this update</a:t>
            </a:r>
          </a:p>
        </p:txBody>
      </p:sp>
      <p:sp>
        <p:nvSpPr>
          <p:cNvPr id="8" name="">
            <a:extLst xmlns:a="http://schemas.openxmlformats.org/drawingml/2006/main">
              <a:ext uri="{FF2B5EF4-FFF2-40B4-BE49-F238E27FC236}">
                <a16:creationId xmlns:a16="http://schemas.microsoft.com/office/drawing/2014/main" id="{BE291029-7633-458C-A6D9-697311BCE085}"/>
              </a:ext>
            </a:extLst>
          </p:cNvPr>
          <p:cNvSpPr>
            <a:spLocks xmlns:a="http://schemas.openxmlformats.org/drawingml/2006/main" noGrp="1"/>
          </p:cNvSpPr>
          <p:nvPr/>
        </p:nvSpPr>
        <p:spPr>
          <a:xfrm xmlns:a="http://schemas.openxmlformats.org/drawingml/2006/main">
            <a:off x="6705600" y="3048000"/>
            <a:ext cx="4857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67AAB"/>
                </a:solidFill>
                <a:latin typeface="DejaVu Sans"/>
                <a:ea typeface="DejaVu Sans"/>
                <a:cs typeface="DejaVu Sans"/>
              </a:defRPr>
            </a:pPr>
            <a:r>
              <a:rPr sz="2250" b="1">
                <a:solidFill>
                  <a:srgbClr val="167AAB"/>
                </a:solidFill>
                <a:latin typeface="DejaVu Sans"/>
                <a:ea typeface="DejaVu Sans"/>
                <a:cs typeface="DejaVu Sans"/>
              </a:rPr>
              <a:t>Interpret with care</a:t>
            </a:r>
          </a:p>
        </p:txBody>
      </p:sp>
      <p:sp>
        <p:nvSpPr>
          <p:cNvPr id="9" name="">
            <a:extLst xmlns:a="http://schemas.openxmlformats.org/drawingml/2006/main">
              <a:ext uri="{FF2B5EF4-FFF2-40B4-BE49-F238E27FC236}">
                <a16:creationId xmlns:a16="http://schemas.microsoft.com/office/drawing/2014/main" id="{5739A4DC-D039-45F6-B9E1-4D0ABDC295B3}"/>
              </a:ext>
            </a:extLst>
          </p:cNvPr>
          <p:cNvSpPr>
            <a:spLocks xmlns:a="http://schemas.openxmlformats.org/drawingml/2006/main" noGrp="1"/>
          </p:cNvSpPr>
          <p:nvPr/>
        </p:nvSpPr>
        <p:spPr>
          <a:xfrm xmlns:a="http://schemas.openxmlformats.org/drawingml/2006/main">
            <a:off x="6705600" y="3705225"/>
            <a:ext cx="4857750" cy="1752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42E44"/>
                </a:solidFill>
                <a:latin typeface="DejaVu Sans"/>
                <a:ea typeface="DejaVu Sans"/>
                <a:cs typeface="DejaVu Sans"/>
              </a:defRPr>
            </a:pPr>
            <a:r>
              <a:rPr sz="1875" b="0">
                <a:solidFill>
                  <a:srgbClr val="142E44"/>
                </a:solidFill>
                <a:latin typeface="DejaVu Sans"/>
                <a:ea typeface="DejaVu Sans"/>
                <a:cs typeface="DejaVu Sans"/>
              </a:rPr>
              <a:t>Indirect access indicators</a:t>
            </a:r>
          </a:p>
          <a:p xmlns:a="http://schemas.openxmlformats.org/drawingml/2006/main">
            <a:pPr>
              <a:defRPr sz="1875" b="0">
                <a:solidFill>
                  <a:srgbClr val="142E44"/>
                </a:solidFill>
                <a:latin typeface="DejaVu Sans"/>
                <a:ea typeface="DejaVu Sans"/>
                <a:cs typeface="DejaVu Sans"/>
              </a:defRPr>
            </a:pPr>
            <a:r>
              <a:rPr sz="1875" b="0">
                <a:solidFill>
                  <a:srgbClr val="142E44"/>
                </a:solidFill>
                <a:latin typeface="DejaVu Sans"/>
                <a:ea typeface="DejaVu Sans"/>
                <a:cs typeface="DejaVu Sans"/>
              </a:rPr>
              <a:t>Incomplete and legacy data layers</a:t>
            </a:r>
          </a:p>
          <a:p xmlns:a="http://schemas.openxmlformats.org/drawingml/2006/main">
            <a:pPr>
              <a:defRPr sz="1875" b="0">
                <a:solidFill>
                  <a:srgbClr val="142E44"/>
                </a:solidFill>
                <a:latin typeface="DejaVu Sans"/>
                <a:ea typeface="DejaVu Sans"/>
                <a:cs typeface="DejaVu Sans"/>
              </a:defRPr>
            </a:pPr>
            <a:r>
              <a:rPr sz="1875" b="0">
                <a:solidFill>
                  <a:srgbClr val="142E44"/>
                </a:solidFill>
                <a:latin typeface="DejaVu Sans"/>
                <a:ea typeface="DejaVu Sans"/>
                <a:cs typeface="DejaVu Sans"/>
              </a:rPr>
              <a:t>No profit labels or measured time saving</a:t>
            </a:r>
          </a:p>
        </p:txBody>
      </p:sp>
      <p:sp>
        <p:nvSpPr>
          <p:cNvPr id="10" name="">
            <a:extLst xmlns:a="http://schemas.openxmlformats.org/drawingml/2006/main">
              <a:ext uri="{FF2B5EF4-FFF2-40B4-BE49-F238E27FC236}">
                <a16:creationId xmlns:a16="http://schemas.microsoft.com/office/drawing/2014/main" id="{A45A6CF0-43AA-47F4-8C7C-166EA76E3F1A}"/>
              </a:ext>
            </a:extLst>
          </p:cNvPr>
          <p:cNvSpPr>
            <a:spLocks xmlns:a="http://schemas.openxmlformats.org/drawingml/2006/main" noGrp="1"/>
          </p:cNvSpPr>
          <p:nvPr/>
        </p:nvSpPr>
        <p:spPr>
          <a:xfrm xmlns:a="http://schemas.openxmlformats.org/drawingml/2006/main">
            <a:off x="609600" y="5800725"/>
            <a:ext cx="11049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526879"/>
                </a:solidFill>
                <a:latin typeface="DejaVu Sans"/>
                <a:ea typeface="DejaVu Sans"/>
                <a:cs typeface="DejaVu Sans"/>
              </a:defRPr>
            </a:pPr>
            <a:r>
              <a:rPr sz="1500" b="0">
                <a:solidFill>
                  <a:srgbClr val="526879"/>
                </a:solidFill>
                <a:latin typeface="DejaVu Sans"/>
                <a:ea typeface="DejaVu Sans"/>
                <a:cs typeface="DejaVu Sans"/>
              </a:rPr>
              <a:t>Technical baseline: main 58ce550. Latest documentation checks are separate.</a:t>
            </a:r>
          </a:p>
        </p:txBody>
      </p:sp>
    </p:spTree>
    <p:extLst>
      <p:ext uri="{BB962C8B-B14F-4D97-AF65-F5344CB8AC3E}">
        <p14:creationId xmlns:p14="http://schemas.microsoft.com/office/powerpoint/2010/main" val="1351489457"/>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3AD3F79-C5B9-4164-BCDA-D4728B970A76}"/>
              </a:ext>
            </a:extLst>
          </p:cNvPr>
          <p:cNvSpPr>
            <a:spLocks xmlns:a="http://schemas.openxmlformats.org/drawingml/2006/main" noGrp="1"/>
          </p:cNvSpPr>
          <p:nvPr/>
        </p:nvSpPr>
        <p:spPr>
          <a:xfrm xmlns:a="http://schemas.openxmlformats.org/drawingml/2006/main">
            <a:off x="609600" y="304800"/>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1">
                <a:solidFill>
                  <a:srgbClr val="167AAB"/>
                </a:solidFill>
                <a:latin typeface="DejaVu Sans"/>
                <a:ea typeface="DejaVu Sans"/>
                <a:cs typeface="DejaVu Sans"/>
              </a:defRPr>
            </a:pPr>
            <a:r>
              <a:rPr sz="1350" b="1">
                <a:solidFill>
                  <a:srgbClr val="167AAB"/>
                </a:solidFill>
                <a:latin typeface="DejaVu Sans"/>
                <a:ea typeface="DejaVu Sans"/>
                <a:cs typeface="DejaVu Sans"/>
              </a:rPr>
              <a:t>SAMSUNG INNOVATION CAMPUS  /  AI IN MARKETING</a:t>
            </a:r>
          </a:p>
        </p:txBody>
      </p:sp>
      <p:sp>
        <p:nvSpPr>
          <p:cNvPr id="2" name="">
            <a:extLst xmlns:a="http://schemas.openxmlformats.org/drawingml/2006/main">
              <a:ext uri="{FF2B5EF4-FFF2-40B4-BE49-F238E27FC236}">
                <a16:creationId xmlns:a16="http://schemas.microsoft.com/office/drawing/2014/main" id="{55C98570-84AA-41B2-A9FB-428357F88FCE}"/>
              </a:ext>
            </a:extLst>
          </p:cNvPr>
          <p:cNvSpPr>
            <a:spLocks xmlns:a="http://schemas.openxmlformats.org/drawingml/2006/main" noGrp="1"/>
          </p:cNvSpPr>
          <p:nvPr/>
        </p:nvSpPr>
        <p:spPr>
          <a:xfrm xmlns:a="http://schemas.openxmlformats.org/drawingml/2006/main">
            <a:off x="609600" y="9525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142E44"/>
                </a:solidFill>
                <a:latin typeface="DejaVu Sans"/>
                <a:ea typeface="DejaVu Sans"/>
                <a:cs typeface="DejaVu Sans"/>
              </a:defRPr>
            </a:pPr>
            <a:r>
              <a:rPr sz="3450" b="1">
                <a:solidFill>
                  <a:srgbClr val="142E44"/>
                </a:solidFill>
                <a:latin typeface="DejaVu Sans"/>
                <a:ea typeface="DejaVu Sans"/>
                <a:cs typeface="DejaVu Sans"/>
              </a:rPr>
              <a:t>The next proof is a timed user pilot</a:t>
            </a:r>
          </a:p>
        </p:txBody>
      </p:sp>
      <p:sp>
        <p:nvSpPr>
          <p:cNvPr id="3" name="">
            <a:extLst xmlns:a="http://schemas.openxmlformats.org/drawingml/2006/main">
              <a:ext uri="{FF2B5EF4-FFF2-40B4-BE49-F238E27FC236}">
                <a16:creationId xmlns:a16="http://schemas.microsoft.com/office/drawing/2014/main" id="{391F5921-16E4-4D3E-B2B1-0D2B49108EF1}"/>
              </a:ext>
            </a:extLst>
          </p:cNvPr>
          <p:cNvSpPr>
            <a:spLocks xmlns:a="http://schemas.openxmlformats.org/drawingml/2006/main" noGrp="1"/>
          </p:cNvSpPr>
          <p:nvPr/>
        </p:nvSpPr>
        <p:spPr>
          <a:xfrm xmlns:a="http://schemas.openxmlformats.org/drawingml/2006/main">
            <a:off x="609600" y="1943100"/>
            <a:ext cx="1082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879"/>
                </a:solidFill>
                <a:latin typeface="DejaVu Sans"/>
                <a:ea typeface="DejaVu Sans"/>
                <a:cs typeface="DejaVu Sans"/>
              </a:defRPr>
            </a:pPr>
            <a:r>
              <a:rPr sz="1800" b="0">
                <a:solidFill>
                  <a:srgbClr val="526879"/>
                </a:solidFill>
                <a:latin typeface="DejaVu Sans"/>
                <a:ea typeface="DejaVu Sans"/>
                <a:cs typeface="DejaVu Sans"/>
              </a:rPr>
              <a:t>Aim: help entrepreneurs prepare a useful shortlist faster.</a:t>
            </a:r>
          </a:p>
        </p:txBody>
      </p:sp>
      <p:sp>
        <p:nvSpPr>
          <p:cNvPr id="4" name="">
            <a:extLst xmlns:a="http://schemas.openxmlformats.org/drawingml/2006/main">
              <a:ext uri="{FF2B5EF4-FFF2-40B4-BE49-F238E27FC236}">
                <a16:creationId xmlns:a16="http://schemas.microsoft.com/office/drawing/2014/main" id="{868BDDC3-0A04-4E58-B958-8088089490B2}"/>
              </a:ext>
            </a:extLst>
          </p:cNvPr>
          <p:cNvSpPr>
            <a:spLocks xmlns:a="http://schemas.openxmlformats.org/drawingml/2006/main" noGrp="1"/>
          </p:cNvSpPr>
          <p:nvPr/>
        </p:nvSpPr>
        <p:spPr>
          <a:xfrm xmlns:a="http://schemas.openxmlformats.org/drawingml/2006/main">
            <a:off x="609600" y="6343650"/>
            <a:ext cx="952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26879"/>
                </a:solidFill>
                <a:latin typeface="DejaVu Sans"/>
                <a:ea typeface="DejaVu Sans"/>
                <a:cs typeface="DejaVu Sans"/>
              </a:defRPr>
            </a:pPr>
            <a:r>
              <a:rPr sz="1200" b="0">
                <a:solidFill>
                  <a:srgbClr val="526879"/>
                </a:solidFill>
                <a:latin typeface="DejaVu Sans"/>
                <a:ea typeface="DejaVu Sans"/>
                <a:cs typeface="DejaVu Sans"/>
              </a:rPr>
              <a:t>Retail Location Intelligence  •  Group 6</a:t>
            </a:r>
          </a:p>
        </p:txBody>
      </p:sp>
      <p:sp>
        <p:nvSpPr>
          <p:cNvPr id="5" name="">
            <a:extLst xmlns:a="http://schemas.openxmlformats.org/drawingml/2006/main">
              <a:ext uri="{FF2B5EF4-FFF2-40B4-BE49-F238E27FC236}">
                <a16:creationId xmlns:a16="http://schemas.microsoft.com/office/drawing/2014/main" id="{9DCC2EF6-E1E9-43AC-A9DE-12A9342517A0}"/>
              </a:ext>
            </a:extLst>
          </p:cNvPr>
          <p:cNvSpPr>
            <a:spLocks xmlns:a="http://schemas.openxmlformats.org/drawingml/2006/main" noGrp="1"/>
          </p:cNvSpPr>
          <p:nvPr/>
        </p:nvSpPr>
        <p:spPr>
          <a:xfrm xmlns:a="http://schemas.openxmlformats.org/drawingml/2006/main">
            <a:off x="10572750" y="6343650"/>
            <a:ext cx="10096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26879"/>
                </a:solidFill>
                <a:latin typeface="DejaVu Sans"/>
                <a:ea typeface="DejaVu Sans"/>
                <a:cs typeface="DejaVu Sans"/>
              </a:defRPr>
            </a:pPr>
            <a:r>
              <a:rPr sz="1200" b="0">
                <a:solidFill>
                  <a:srgbClr val="526879"/>
                </a:solidFill>
                <a:latin typeface="DejaVu Sans"/>
                <a:ea typeface="DejaVu Sans"/>
                <a:cs typeface="DejaVu Sans"/>
              </a:rPr>
              <a:t>08 / 08</a:t>
            </a:r>
          </a:p>
        </p:txBody>
      </p:sp>
      <p:sp>
        <p:nvSpPr>
          <p:cNvPr id="6" name="">
            <a:extLst xmlns:a="http://schemas.openxmlformats.org/drawingml/2006/main">
              <a:ext uri="{FF2B5EF4-FFF2-40B4-BE49-F238E27FC236}">
                <a16:creationId xmlns:a16="http://schemas.microsoft.com/office/drawing/2014/main" id="{64ABD621-153B-449D-9CE3-077EB23351E1}"/>
              </a:ext>
            </a:extLst>
          </p:cNvPr>
          <p:cNvSpPr>
            <a:spLocks xmlns:a="http://schemas.openxmlformats.org/drawingml/2006/main" noGrp="1"/>
          </p:cNvSpPr>
          <p:nvPr/>
        </p:nvSpPr>
        <p:spPr>
          <a:xfrm xmlns:a="http://schemas.openxmlformats.org/drawingml/2006/main">
            <a:off x="609600" y="3105150"/>
            <a:ext cx="5191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67AAB"/>
                </a:solidFill>
                <a:latin typeface="DejaVu Sans"/>
                <a:ea typeface="DejaVu Sans"/>
                <a:cs typeface="DejaVu Sans"/>
              </a:defRPr>
            </a:pPr>
            <a:r>
              <a:rPr sz="2250" b="1">
                <a:solidFill>
                  <a:srgbClr val="167AAB"/>
                </a:solidFill>
                <a:latin typeface="DejaVu Sans"/>
                <a:ea typeface="DejaVu Sans"/>
                <a:cs typeface="DejaVu Sans"/>
              </a:rPr>
              <a:t>Compare the same task</a:t>
            </a:r>
          </a:p>
        </p:txBody>
      </p:sp>
      <p:sp>
        <p:nvSpPr>
          <p:cNvPr id="7" name="">
            <a:extLst xmlns:a="http://schemas.openxmlformats.org/drawingml/2006/main">
              <a:ext uri="{FF2B5EF4-FFF2-40B4-BE49-F238E27FC236}">
                <a16:creationId xmlns:a16="http://schemas.microsoft.com/office/drawing/2014/main" id="{640F3200-26D6-4052-AA21-56D8C6B48463}"/>
              </a:ext>
            </a:extLst>
          </p:cNvPr>
          <p:cNvSpPr>
            <a:spLocks xmlns:a="http://schemas.openxmlformats.org/drawingml/2006/main" noGrp="1"/>
          </p:cNvSpPr>
          <p:nvPr/>
        </p:nvSpPr>
        <p:spPr>
          <a:xfrm xmlns:a="http://schemas.openxmlformats.org/drawingml/2006/main">
            <a:off x="609600" y="3762375"/>
            <a:ext cx="5286375"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42E44"/>
                </a:solidFill>
                <a:latin typeface="DejaVu Sans"/>
                <a:ea typeface="DejaVu Sans"/>
                <a:cs typeface="DejaVu Sans"/>
              </a:defRPr>
            </a:pPr>
            <a:r>
              <a:rPr sz="2025" b="0">
                <a:solidFill>
                  <a:srgbClr val="142E44"/>
                </a:solidFill>
                <a:latin typeface="DejaVu Sans"/>
                <a:ea typeface="DejaVu Sans"/>
                <a:cs typeface="DejaVu Sans"/>
              </a:rPr>
              <a:t>Manual map workflow vs. dashboard</a:t>
            </a:r>
          </a:p>
          <a:p xmlns:a="http://schemas.openxmlformats.org/drawingml/2006/main">
            <a:pPr>
              <a:defRPr sz="2025" b="0">
                <a:solidFill>
                  <a:srgbClr val="142E44"/>
                </a:solidFill>
                <a:latin typeface="DejaVu Sans"/>
                <a:ea typeface="DejaVu Sans"/>
                <a:cs typeface="DejaVu Sans"/>
              </a:defRPr>
            </a:pPr>
            <a:r>
              <a:rPr sz="2025" b="0">
                <a:solidFill>
                  <a:srgbClr val="142E44"/>
                </a:solidFill>
                <a:latin typeface="DejaVu Sans"/>
                <a:ea typeface="DejaVu Sans"/>
                <a:cs typeface="DejaVu Sans"/>
              </a:rPr>
              <a:t>Measure median completion time</a:t>
            </a:r>
          </a:p>
          <a:p xmlns:a="http://schemas.openxmlformats.org/drawingml/2006/main">
            <a:pPr>
              <a:defRPr sz="2025" b="0">
                <a:solidFill>
                  <a:srgbClr val="142E44"/>
                </a:solidFill>
                <a:latin typeface="DejaVu Sans"/>
                <a:ea typeface="DejaVu Sans"/>
                <a:cs typeface="DejaVu Sans"/>
              </a:defRPr>
            </a:pPr>
            <a:r>
              <a:rPr sz="2025" b="0">
                <a:solidFill>
                  <a:srgbClr val="142E44"/>
                </a:solidFill>
                <a:latin typeface="DejaVu Sans"/>
                <a:ea typeface="DejaVu Sans"/>
                <a:cs typeface="DejaVu Sans"/>
              </a:rPr>
              <a:t>Review shortlist quality</a:t>
            </a:r>
          </a:p>
        </p:txBody>
      </p:sp>
      <p:sp>
        <p:nvSpPr>
          <p:cNvPr id="8" name="">
            <a:extLst xmlns:a="http://schemas.openxmlformats.org/drawingml/2006/main">
              <a:ext uri="{FF2B5EF4-FFF2-40B4-BE49-F238E27FC236}">
                <a16:creationId xmlns:a16="http://schemas.microsoft.com/office/drawing/2014/main" id="{F3A28255-CAD7-46DB-BE8C-119FC12013BD}"/>
              </a:ext>
            </a:extLst>
          </p:cNvPr>
          <p:cNvSpPr>
            <a:spLocks xmlns:a="http://schemas.openxmlformats.org/drawingml/2006/main" noGrp="1"/>
          </p:cNvSpPr>
          <p:nvPr/>
        </p:nvSpPr>
        <p:spPr>
          <a:xfrm xmlns:a="http://schemas.openxmlformats.org/drawingml/2006/main">
            <a:off x="6705600" y="3105150"/>
            <a:ext cx="4857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67AAB"/>
                </a:solidFill>
                <a:latin typeface="DejaVu Sans"/>
                <a:ea typeface="DejaVu Sans"/>
                <a:cs typeface="DejaVu Sans"/>
              </a:defRPr>
            </a:pPr>
            <a:r>
              <a:rPr sz="2250" b="1">
                <a:solidFill>
                  <a:srgbClr val="167AAB"/>
                </a:solidFill>
                <a:latin typeface="DejaVu Sans"/>
                <a:ea typeface="DejaVu Sans"/>
                <a:cs typeface="DejaVu Sans"/>
              </a:rPr>
              <a:t>Improve the evidence</a:t>
            </a:r>
          </a:p>
        </p:txBody>
      </p:sp>
      <p:sp>
        <p:nvSpPr>
          <p:cNvPr id="9" name="">
            <a:extLst xmlns:a="http://schemas.openxmlformats.org/drawingml/2006/main">
              <a:ext uri="{FF2B5EF4-FFF2-40B4-BE49-F238E27FC236}">
                <a16:creationId xmlns:a16="http://schemas.microsoft.com/office/drawing/2014/main" id="{2473FB38-3D5B-4717-B951-D1041449F5F6}"/>
              </a:ext>
            </a:extLst>
          </p:cNvPr>
          <p:cNvSpPr>
            <a:spLocks xmlns:a="http://schemas.openxmlformats.org/drawingml/2006/main" noGrp="1"/>
          </p:cNvSpPr>
          <p:nvPr/>
        </p:nvSpPr>
        <p:spPr>
          <a:xfrm xmlns:a="http://schemas.openxmlformats.org/drawingml/2006/main">
            <a:off x="6705600" y="3762375"/>
            <a:ext cx="485775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42E44"/>
                </a:solidFill>
                <a:latin typeface="DejaVu Sans"/>
                <a:ea typeface="DejaVu Sans"/>
                <a:cs typeface="DejaVu Sans"/>
              </a:defRPr>
            </a:pPr>
            <a:r>
              <a:rPr sz="2025" b="0">
                <a:solidFill>
                  <a:srgbClr val="142E44"/>
                </a:solidFill>
                <a:latin typeface="DejaVu Sans"/>
                <a:ea typeface="DejaVu Sans"/>
                <a:cs typeface="DejaVu Sans"/>
              </a:rPr>
              <a:t>Check rent and observed footfall</a:t>
            </a:r>
          </a:p>
          <a:p xmlns:a="http://schemas.openxmlformats.org/drawingml/2006/main">
            <a:pPr>
              <a:defRPr sz="2025" b="0">
                <a:solidFill>
                  <a:srgbClr val="142E44"/>
                </a:solidFill>
                <a:latin typeface="DejaVu Sans"/>
                <a:ea typeface="DejaVu Sans"/>
                <a:cs typeface="DejaVu Sans"/>
              </a:defRPr>
            </a:pPr>
            <a:r>
              <a:rPr sz="2025" b="0">
                <a:solidFill>
                  <a:srgbClr val="142E44"/>
                </a:solidFill>
                <a:latin typeface="DejaVu Sans"/>
                <a:ea typeface="DejaVu Sans"/>
                <a:cs typeface="DejaVu Sans"/>
              </a:rPr>
              <a:t>Improve data coverage</a:t>
            </a:r>
          </a:p>
          <a:p xmlns:a="http://schemas.openxmlformats.org/drawingml/2006/main">
            <a:pPr>
              <a:defRPr sz="2025" b="0">
                <a:solidFill>
                  <a:srgbClr val="142E44"/>
                </a:solidFill>
                <a:latin typeface="DejaVu Sans"/>
                <a:ea typeface="DejaVu Sans"/>
                <a:cs typeface="DejaVu Sans"/>
              </a:defRPr>
            </a:pPr>
            <a:r>
              <a:rPr sz="2025" b="0">
                <a:solidFill>
                  <a:srgbClr val="142E44"/>
                </a:solidFill>
                <a:latin typeface="DejaVu Sans"/>
                <a:ea typeface="DejaVu Sans"/>
                <a:cs typeface="DejaVu Sans"/>
              </a:rPr>
              <a:t>Use stronger spatial validation</a:t>
            </a:r>
          </a:p>
        </p:txBody>
      </p:sp>
      <p:sp>
        <p:nvSpPr>
          <p:cNvPr id="10" name="">
            <a:extLst xmlns:a="http://schemas.openxmlformats.org/drawingml/2006/main">
              <a:ext uri="{FF2B5EF4-FFF2-40B4-BE49-F238E27FC236}">
                <a16:creationId xmlns:a16="http://schemas.microsoft.com/office/drawing/2014/main" id="{C611C6F2-D379-43BB-8A19-473C5102B6CF}"/>
              </a:ext>
            </a:extLst>
          </p:cNvPr>
          <p:cNvSpPr>
            <a:spLocks xmlns:a="http://schemas.openxmlformats.org/drawingml/2006/main" noGrp="1"/>
          </p:cNvSpPr>
          <p:nvPr/>
        </p:nvSpPr>
        <p:spPr>
          <a:xfrm xmlns:a="http://schemas.openxmlformats.org/drawingml/2006/main">
            <a:off x="609600" y="5762625"/>
            <a:ext cx="10953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142E44"/>
                </a:solidFill>
                <a:latin typeface="DejaVu Sans"/>
                <a:ea typeface="DejaVu Sans"/>
                <a:cs typeface="DejaVu Sans"/>
              </a:defRPr>
            </a:pPr>
            <a:r>
              <a:rPr sz="2025" b="1">
                <a:solidFill>
                  <a:srgbClr val="142E44"/>
                </a:solidFill>
                <a:latin typeface="DejaVu Sans"/>
                <a:ea typeface="DejaVu Sans"/>
                <a:cs typeface="DejaVu Sans"/>
              </a:rPr>
              <a:t>Better-informed fieldwork begins with an explainable shortlist.</a:t>
            </a:r>
          </a:p>
        </p:txBody>
      </p:sp>
    </p:spTree>
    <p:extLst>
      <p:ext uri="{BB962C8B-B14F-4D97-AF65-F5344CB8AC3E}">
        <p14:creationId xmlns:p14="http://schemas.microsoft.com/office/powerpoint/2010/main" val="209231698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2026-10-06T21:36:32.5920000Z</dcterms:created>
  <dcterms:modified xsi:type="dcterms:W3CDTF">2026-10-06T21:36:32.5920000Z</dcterms:modified>
</coreProperties>
</file>