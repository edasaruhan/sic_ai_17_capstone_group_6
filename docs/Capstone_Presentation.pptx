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20086636b14083" /><Relationship Type="http://schemas.openxmlformats.org/officeDocument/2006/relationships/extended-properties" Target="/docProps/app.xml" Id="Re5832ca3672c413d" /><Relationship Type="http://schemas.openxmlformats.org/officeDocument/2006/relationships/officeDocument" Target="/ppt/presentation.xml" Id="Rc1a893e0a2284c72" /></Relationships>
</file>

<file path=ppt/presentation.xml><?xml version="1.0" encoding="utf-8"?>
<p:presentation xmlns:p="http://schemas.openxmlformats.org/presentationml/2006/main">
  <p:sldMasterIdLst>
    <p:sldMasterId xmlns:r="http://schemas.openxmlformats.org/officeDocument/2006/relationships" id="2147483648" r:id="R96f211ac533c4159"/>
  </p:sldMasterIdLst>
  <p:notesMasterIdLst>
    <p:notesMasterId xmlns:r="http://schemas.openxmlformats.org/officeDocument/2006/relationships" r:id="Rc3b5774625ed4b49"/>
  </p:notesMasterIdLst>
  <p:sldIdLst>
    <p:sldId xmlns:r="http://schemas.openxmlformats.org/officeDocument/2006/relationships" id="256" r:id="R2b3553f20eb54b88"/>
    <p:sldId xmlns:r="http://schemas.openxmlformats.org/officeDocument/2006/relationships" id="257" r:id="R65c14ec088b14f83"/>
    <p:sldId xmlns:r="http://schemas.openxmlformats.org/officeDocument/2006/relationships" id="258" r:id="Rbf3e3698dfbd438a"/>
    <p:sldId xmlns:r="http://schemas.openxmlformats.org/officeDocument/2006/relationships" id="259" r:id="R9195ae24d5904621"/>
    <p:sldId xmlns:r="http://schemas.openxmlformats.org/officeDocument/2006/relationships" id="260" r:id="R7dc7a22137e3416f"/>
    <p:sldId xmlns:r="http://schemas.openxmlformats.org/officeDocument/2006/relationships" id="261" r:id="R4b5a0c16038a4657"/>
    <p:sldId xmlns:r="http://schemas.openxmlformats.org/officeDocument/2006/relationships" id="262" r:id="R502f2872941a46a6"/>
    <p:sldId xmlns:r="http://schemas.openxmlformats.org/officeDocument/2006/relationships" id="263" r:id="R12cd1f33e31648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8d4fa6bd974321" /><Relationship Type="http://schemas.openxmlformats.org/officeDocument/2006/relationships/slideMaster" Target="/ppt/slideMasters/slideMaster1.xml" Id="R96f211ac533c4159" /><Relationship Type="http://schemas.openxmlformats.org/officeDocument/2006/relationships/notesMaster" Target="/ppt/notesMasters/notesMaster1.xml" Id="Rc3b5774625ed4b49" /><Relationship Type="http://schemas.openxmlformats.org/officeDocument/2006/relationships/presProps" Target="/ppt/presProps.xml" Id="Rea713c3bffc84737" /><Relationship Type="http://schemas.openxmlformats.org/officeDocument/2006/relationships/tableStyles" Target="/ppt/tableStyles.xml" Id="R1ceed89f328b42ed" /><Relationship Type="http://schemas.openxmlformats.org/officeDocument/2006/relationships/slide" Target="/ppt/slides/slide1.xml" Id="R2b3553f20eb54b88" /><Relationship Type="http://schemas.openxmlformats.org/officeDocument/2006/relationships/slide" Target="/ppt/slides/slide2.xml" Id="R65c14ec088b14f83" /><Relationship Type="http://schemas.openxmlformats.org/officeDocument/2006/relationships/slide" Target="/ppt/slides/slide3.xml" Id="Rbf3e3698dfbd438a" /><Relationship Type="http://schemas.openxmlformats.org/officeDocument/2006/relationships/slide" Target="/ppt/slides/slide4.xml" Id="R9195ae24d5904621" /><Relationship Type="http://schemas.openxmlformats.org/officeDocument/2006/relationships/slide" Target="/ppt/slides/slide5.xml" Id="R7dc7a22137e3416f" /><Relationship Type="http://schemas.openxmlformats.org/officeDocument/2006/relationships/slide" Target="/ppt/slides/slide6.xml" Id="R4b5a0c16038a4657" /><Relationship Type="http://schemas.openxmlformats.org/officeDocument/2006/relationships/slide" Target="/ppt/slides/slide7.xml" Id="R502f2872941a46a6" /><Relationship Type="http://schemas.openxmlformats.org/officeDocument/2006/relationships/slide" Target="/ppt/slides/slide8.xml" Id="R12cd1f33e31648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07584166aa4e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0f15de41e644be" /><Relationship Type="http://schemas.openxmlformats.org/officeDocument/2006/relationships/notesMaster" Target="/ppt/notesMasters/notesMaster1.xml" Id="R31aef419cfce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1418ed8c2a44b5" /><Relationship Type="http://schemas.openxmlformats.org/officeDocument/2006/relationships/notesMaster" Target="/ppt/notesMasters/notesMaster1.xml" Id="Rf7d30ae330014c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40d5d268024157" /><Relationship Type="http://schemas.openxmlformats.org/officeDocument/2006/relationships/notesMaster" Target="/ppt/notesMasters/notesMaster1.xml" Id="Reac05fc0b90a48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6baf804e554379" /><Relationship Type="http://schemas.openxmlformats.org/officeDocument/2006/relationships/notesMaster" Target="/ppt/notesMasters/notesMaster1.xml" Id="R5e852bad852440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dc87e52698499c" /><Relationship Type="http://schemas.openxmlformats.org/officeDocument/2006/relationships/notesMaster" Target="/ppt/notesMasters/notesMaster1.xml" Id="Rf59ff21ad38147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0387e5205e42b3" /><Relationship Type="http://schemas.openxmlformats.org/officeDocument/2006/relationships/notesMaster" Target="/ppt/notesMasters/notesMaster1.xml" Id="Rd408a6886b1a47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a18640bd834e9b" /><Relationship Type="http://schemas.openxmlformats.org/officeDocument/2006/relationships/notesMaster" Target="/ppt/notesMasters/notesMaster1.xml" Id="Rd24002b796484a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59d74c434847b5" /><Relationship Type="http://schemas.openxmlformats.org/officeDocument/2006/relationships/notesMaster" Target="/ppt/notesMasters/notesMaster1.xml" Id="Rdaac85d96e4e45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Türkçe konuşmacı notu — 20 saniye.</a:t>
            </a:r>
          </a:p>
          <a:p xmlns:a="http://schemas.openxmlformats.org/drawingml/2006/main">
            <a:r>
              <a:t/>
            </a:r>
          </a:p>
          <a:p xmlns:a="http://schemas.openxmlformats.org/drawingml/2006/main">
            <a:r>
              <a:t>Merhaba. Samsung Innovation Campus AI in Marketing capstone projemiz Retail Location Intelligence. Çankaya’daki kafe girişimcilerinin müşteri çevresine erişim ve rekabet koşullarını karşılaştırarak aday bölgeleri daha hızlı seçmesini desteklemeyi amaçlıyoruz. Bugün problemi, karar yaklaşımını, AI doğrulamasını ve sonraki adımı anlatacağım.</a:t>
            </a:r>
          </a:p>
          <a:p xmlns:a="http://schemas.openxmlformats.org/drawingml/2006/main">
            <a:r>
              <a:t/>
            </a:r>
          </a:p>
          <a:p xmlns:a="http://schemas.openxmlformats.org/drawingml/2006/main">
            <a:r>
              <a:t>Sources: https://github.com/edasaruhan/SIC_AI_17_Capstone_Group_6/tree/58ce550c027d3ddce9f209fe3979bea849d5716a (app.py; src/scoring.py; src/cafe_similarity.py; docs/model_validation.md; data/processed). Technical baseline 58ce550; narrative updated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Ürün market-user-konum odaklıdır. Market çevredeki talep kaynaklarını ve benzer işletmeleri, user aday bölge seçen girişimciyi ve ulaşmak istediği müşteri çevresini, konum ise 300 metre hücreleri ve ulaşımı ifade eder. Bireysel müşteri izleme veya segment tahmini yapılmaz. KPI aday listesi hazırlama süresidir ve pilotta ölçülecektir.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Türkçe konuşmacı notu — 40 saniye.</a:t>
            </a:r>
          </a:p>
          <a:p xmlns:a="http://schemas.openxmlformats.org/drawingml/2006/main">
            <a:r>
              <a:t/>
            </a:r>
          </a:p>
          <a:p xmlns:a="http://schemas.openxmlformats.org/drawingml/2006/main">
            <a:r>
              <a:t>Çalışma alanı Ankara’nın Çankaya ilçesi. Kayıtlı veri, 300 metrelik 5.361 hücreden ve 121 mahalle etiketinden oluşuyor. OpenStreetMap yerleri ve ulaşım çevresini, depodaki 2025 nüfus verisi ise konut nüfusunu temsil ediyor. Grafikte 500 metrelik çevresinde en az bir kafe bulunan 817 hücreyi görüyoruz; oran yüzde 15,24. Bu, farklı işletmelerin sayısı değil, hücrelerdeki kafe varlığı. Komşu hücrelerin tamponları örtüşebilir. Nüfus da yaya trafiği anlamına gelmez. Yaş verisinin eksik olması ve bazı yeni talep katmanlarının kayıtlı ızgarada bulunmaması, müşteri segmentasyonu iddiamızı sınırlar.</a:t>
            </a:r>
          </a:p>
          <a:p xmlns:a="http://schemas.openxmlformats.org/drawingml/2006/main">
            <a:r>
              <a:t/>
            </a:r>
          </a:p>
          <a:p xmlns:a="http://schemas.openxmlformats.org/drawingml/2006/main">
            <a:r>
              <a:t>Sources: https://github.com/edasaruhan/SIC_AI_17_Capstone_Group_6/tree/58ce550c027d3ddce9f209fe3979bea849d5716a (app.py; src/scoring.py; src/cafe_similarity.py; docs/model_validation.md; data/processed). Technical baseline 58ce550; narrative updated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45 saniye. Talep 45, erişim 25, nüfus 20 temel ağırlıktır ve toplamlarıyla normalize edilir. Benzer yer yoğunluğu 500 m kafe sayısının tüm Çankaya maksimumuna oranıdır. Rekabet düzeyi sıfırken en fazla 5 puan ekler. Merkezde en az 2, 9 karede en az 6 ve 25 karede en az 13 kafe eşiklerinden her biri 5/3 puan düşürür. Herhangi bir eşik aşılırsa bonus kapanır. Eksik rekabet verisinde bonus verilmez ve puan geçici olur. Bu tercihler ticari veriden öğrenilmiş katsayılar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Türkçe konuşmacı notu — 45 saniye.</a:t>
            </a:r>
          </a:p>
          <a:p xmlns:a="http://schemas.openxmlformats.org/drawingml/2006/main">
            <a:r>
              <a:t/>
            </a:r>
          </a:p>
          <a:p xmlns:a="http://schemas.openxmlformats.org/drawingml/2006/main">
            <a:r>
              <a:t>AI bölümünde Random Forest kullanıyoruz: 300 ağaç, en fazla sekiz derinlik ve dengelenmiş sınıf ağırlıkları. Doğrulama beş katlı ve mahalle bazlı; bir mahalle tamamen tek katta kalıyor. Eksik değer medyanı yalnız eğitim bölümünde hesaplanıyor. Kafe varlığı, çeşitlilik girdisinden çıkarılmış durumda ve hedef bilgisi modele girdi olmuyor. Ekrandaki benzerlik, yalnız ilgili hücrenin dışarıda tutulduğu tahmine dayanıyor. Kayıtlı doğrulamanın ortalama ROC-AUC değeri 0,960; katlar 0,900 ile 0,990 arasında. Bu teknik sonuç mevcut kafe varlığını ayırt etmeyi gösterir. Mahalle sınırındaki örtüşen çevreler bağımlılık yaratabilir; bağımsız test veya ticari başarı doğrulaması yapılmış değil.</a:t>
            </a:r>
          </a:p>
          <a:p xmlns:a="http://schemas.openxmlformats.org/drawingml/2006/main">
            <a:r>
              <a:t/>
            </a:r>
          </a:p>
          <a:p xmlns:a="http://schemas.openxmlformats.org/drawingml/2006/main">
            <a:r>
              <a:t>Sources: https://github.com/edasaruhan/SIC_AI_17_Capstone_Group_6/tree/58ce550c027d3ddce9f209fe3979bea849d5716a (app.py; src/scoring.py; src/cafe_similarity.py; docs/model_validation.md; data/processed). Technical baseline 58ce550; narrative updated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Türkçe konuşmacı notu — 40 saniye.</a:t>
            </a:r>
          </a:p>
          <a:p xmlns:a="http://schemas.openxmlformats.org/drawingml/2006/main">
            <a:r>
              <a:t/>
            </a:r>
          </a:p>
          <a:p xmlns:a="http://schemas.openxmlformats.org/drawingml/2006/main">
            <a:r>
              <a:t>Kullanım akışı dört adım. Önce kullanıcı mahalleyi ve ilgilendiği çevreyi seçiyor. Ardından talep, erişim, nüfus ve rekabet senaryosunun ağırlıklarını düzenliyor. Haritadaki adayların puan katkılarını, ayrı AI benzerliğini ve rekabet uyarılarını karşılaştırıyor. Son olarak seçtiği bölgelerde kira, gerçek yaya hareketi ve kafe konseptine uygunluğu sahada kontrol ediyor. Yanındaki harita depodaki eski görsel örneği; güncel sonuçların ekran görüntüsü olarak sunulmuyor. Uygulama güncel kodla puanları yeniden hesaplıyor. Eksik katmanlar veya ham kafe koordinatları yoksa ilgili puanların geçici niteliği kullanıcıya gösteriliyor.</a:t>
            </a:r>
          </a:p>
          <a:p xmlns:a="http://schemas.openxmlformats.org/drawingml/2006/main">
            <a:r>
              <a:t/>
            </a:r>
          </a:p>
          <a:p xmlns:a="http://schemas.openxmlformats.org/drawingml/2006/main">
            <a:r>
              <a:t>Sources: https://github.com/edasaruhan/SIC_AI_17_Capstone_Group_6/tree/58ce550c027d3ddce9f209fe3979bea849d5716a (app.py; src/scoring.py; src/cafe_similarity.py; docs/model_validation.md; data/processed). Technical baseline 58ce550; narrative updated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30 saniye. Güncel yerel kontrolde 47 test geçti. Önceki Python 3.11 ve 3.12 kanıtı 43 testlik eski temel sürüme aittir. Yoğunluk bonusu ve rekabet cezasının birlikte uygulanmaması, eksik veri, sıfır yoğunluk ve uygulama akışları test edildi. Sonraki adım girişimcilerin aynı aday liste görevini manuel ve panel kullanarak tamamladığı bir pilot olacaktır.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Birleşmiş Milletler Hedef 3: Sağlık ve Kaliteli Yaşam, her yaşta sağlıklı yaşamı güvence altına almayı ve refahı desteklemeyi amaçlar. Park ve yaya erişimi üzerinden erişilebilir sosyal mekân planlamasıyla dolaylı bağlantı kuruyoruz. Sağlık sonucu ölçmüyoruz. Hedef 8: İnsana Yakışır İş ve Ekonomik Büyüme, sürdürülebilir ve kapsayıcı büyüme ile tam ve verimli istihdamı teşvik eder. Girişimcilerin pazar değerlendirmesini desteklemek bu amaçla ilişkilidir; istihdam veya iş kalitesi etkisi kanıtlanmadı. Hedef 11: Sürdürülebilir Şehirler ve Topluluklar, kapsayıcı, güvenli, dayanıklı ve sürdürülebilir yerleşimleri amaçlar. Ulaşım, park ve mahalle erişimini görünür kılıyoruz; güvenlik ve dayanıklılık için ek veri gerekir. Kaynaklar: https://sdgs.un.org/goals/goal3 https://sdgs.un.org/goals/goal8 https://sdgs.un.org/goals/goal11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ae0da168224c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f2433be10347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33b259567840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6ba719c21c45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d86447eb474f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abe37e123f44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2397DFF-4441-4950-A9C8-290FAF6D3A2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43FCFE5-BBEA-49D2-B4BF-00EA129ABE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AE764D2-732A-4CEB-A3E4-091157DA08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41EF0FD-4F52-403E-93B1-3E61DA624723}"/>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AD5E956-139E-46DA-A3A7-17A0B7F038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000A9D6-E5CE-4998-9C30-676B8F51173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DEFDC70-F983-4808-BF55-075459A856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2A37095-289D-46C8-B0FE-A593548D16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BB106DF-435B-420A-9CF7-E0A3232A2AA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E4402EE-26E7-48DD-B1EE-D774F88B9C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17A08EB-7E37-4891-BC2B-050677866B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FF47C32-142D-4876-9434-9B34BCF15E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D1548C5-9377-425F-8058-90E323F4F89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3AEB47B-CE02-4705-9130-E6BD83966B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3C09B4D-AA4A-4744-8A21-2CD7213F21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a36a7e38314157" /><Relationship Type="http://schemas.openxmlformats.org/officeDocument/2006/relationships/slideLayout" Target="/ppt/slideLayouts/slideLayout1.xml" Id="Rda39bd49f2dd4912" /><Relationship Type="http://schemas.openxmlformats.org/officeDocument/2006/relationships/slideLayout" Target="/ppt/slideLayouts/slideLayout2.xml" Id="R0544a99233214c06" /><Relationship Type="http://schemas.openxmlformats.org/officeDocument/2006/relationships/slideLayout" Target="/ppt/slideLayouts/slideLayout3.xml" Id="R095de27b1cc34039" /><Relationship Type="http://schemas.openxmlformats.org/officeDocument/2006/relationships/slideLayout" Target="/ppt/slideLayouts/slideLayout4.xml" Id="Rc7297ca917cb42c9" /><Relationship Type="http://schemas.openxmlformats.org/officeDocument/2006/relationships/slideLayout" Target="/ppt/slideLayouts/slideLayout5.xml" Id="R1fe8cbba22a44457" /><Relationship Type="http://schemas.openxmlformats.org/officeDocument/2006/relationships/slideLayout" Target="/ppt/slideLayouts/slideLayout6.xml" Id="Rf4e451d1b87c4b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39bd49f2dd4912"/>
    <p:sldLayoutId xmlns:r="http://schemas.openxmlformats.org/officeDocument/2006/relationships" id="2147483650" r:id="R0544a99233214c06"/>
    <p:sldLayoutId xmlns:r="http://schemas.openxmlformats.org/officeDocument/2006/relationships" id="2147483651" r:id="R095de27b1cc34039"/>
    <p:sldLayoutId xmlns:r="http://schemas.openxmlformats.org/officeDocument/2006/relationships" id="2147483652" r:id="Rc7297ca917cb42c9"/>
    <p:sldLayoutId xmlns:r="http://schemas.openxmlformats.org/officeDocument/2006/relationships" id="2147483653" r:id="R1fe8cbba22a44457"/>
    <p:sldLayoutId xmlns:r="http://schemas.openxmlformats.org/officeDocument/2006/relationships" id="2147483654" r:id="Rf4e451d1b87c4b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f9c6ceceef43bf" /><Relationship Type="http://schemas.openxmlformats.org/officeDocument/2006/relationships/notesSlide" Target="/ppt/notesSlides/notesSlide1.xml" Id="R85ee5d4fc22d48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6765a703814b90" /><Relationship Type="http://schemas.openxmlformats.org/officeDocument/2006/relationships/notesSlide" Target="/ppt/notesSlides/notesSlide2.xml" Id="R2947ccb92b8240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d66e0b0b0e44ff" /><Relationship Type="http://schemas.openxmlformats.org/officeDocument/2006/relationships/chart" Target="/ppt/slides/charts/chart1.xml" Id="R19a0bb42156741b2" /><Relationship Type="http://schemas.openxmlformats.org/officeDocument/2006/relationships/notesSlide" Target="/ppt/notesSlides/notesSlide3.xml" Id="R1c33a1638eed46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2959fc66ca4a2b" /><Relationship Type="http://schemas.openxmlformats.org/officeDocument/2006/relationships/chart" Target="/ppt/slides/charts/chart2.xml" Id="R5f6dccf222724a07" /><Relationship Type="http://schemas.openxmlformats.org/officeDocument/2006/relationships/notesSlide" Target="/ppt/notesSlides/notesSlide4.xml" Id="R0b6fc99f720c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014140eddd4ce2" /><Relationship Type="http://schemas.openxmlformats.org/officeDocument/2006/relationships/chart" Target="/ppt/slides/charts/chart3.xml" Id="R99c9e22a04c14e3a" /><Relationship Type="http://schemas.openxmlformats.org/officeDocument/2006/relationships/notesSlide" Target="/ppt/notesSlides/notesSlide5.xml" Id="Rc1532b4fe3544a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09f6cd0d984560" /><Relationship Type="http://schemas.openxmlformats.org/officeDocument/2006/relationships/image" Target="/ppt/media/image.png" Id="R6f2eaff3e5294bf5" /><Relationship Type="http://schemas.openxmlformats.org/officeDocument/2006/relationships/notesSlide" Target="/ppt/notesSlides/notesSlide6.xml" Id="Raf3f005079c140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bd7fc65fc14666" /><Relationship Type="http://schemas.openxmlformats.org/officeDocument/2006/relationships/notesSlide" Target="/ppt/notesSlides/notesSlide7.xml" Id="R5db2f0c79d084a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e4be4d0d6a476c" /><Relationship Type="http://schemas.openxmlformats.org/officeDocument/2006/relationships/notesSlide" Target="/ppt/notesSlides/notesSlide8.xml" Id="R39e9e2d61a6247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Grid cells</c:v>
          </c:tx>
          <c:spPr>
            <a:solidFill xmlns:a="http://schemas.openxmlformats.org/drawingml/2006/main">
              <a:srgbClr val="167AAB"/>
            </a:solidFill>
          </c:spPr>
          <c:cat>
            <c:strRef>
              <c:f>'Chart Data'!$A$2:$A$3</c:f>
              <c:strCache>
                <c:ptCount val="2"/>
                <c:pt idx="0">
                  <c:v>Café presence</c:v>
                </c:pt>
                <c:pt idx="1">
                  <c:v>No café presence</c:v>
                </c:pt>
              </c:strCache>
            </c:strRef>
          </c:cat>
          <c:val>
            <c:numRef>
              <c:f>'Chart Data'!$B$2:$B$3</c:f>
              <c:numCache>
                <c:formatCode>General</c:formatCode>
                <c:ptCount val="2"/>
                <c:pt idx="0">
                  <c:v>817</c:v>
                </c:pt>
                <c:pt idx="1">
                  <c:v>4544</c:v>
                </c:pt>
              </c:numCache>
            </c:numRef>
          </c:val>
        </c:ser>
        <c:dLbls>
          <c:txPr>
            <a:bodyPr xmlns:a="http://schemas.openxmlformats.org/drawingml/2006/main" anchorCtr="1"/>
            <a:lstStyle xmlns:a="http://schemas.openxmlformats.org/drawingml/2006/main"/>
            <a:p xmlns:a="http://schemas.openxmlformats.org/drawingml/2006/main">
              <a:pPr>
                <a:defRPr sz="1650">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majorUnit val="100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Normalized positive weight</c:v>
          </c:tx>
          <c:spPr>
            <a:solidFill xmlns:a="http://schemas.openxmlformats.org/drawingml/2006/main">
              <a:srgbClr val="167AAB"/>
            </a:solidFill>
          </c:spPr>
          <c:cat>
            <c:strRef>
              <c:f>'Chart Data'!$A$2:$A$4</c:f>
              <c:strCache>
                <c:ptCount val="3"/>
                <c:pt idx="0">
                  <c:v>Demand</c:v>
                </c:pt>
                <c:pt idx="1">
                  <c:v>Access</c:v>
                </c:pt>
                <c:pt idx="2">
                  <c:v>Population</c:v>
                </c:pt>
              </c:strCache>
            </c:strRef>
          </c:cat>
          <c:val>
            <c:numRef>
              <c:f>'Chart Data'!$B$2:$B$4</c:f>
              <c:numCache>
                <c:formatCode>0.0</c:formatCode>
                <c:ptCount val="3"/>
                <c:pt idx="0">
                  <c:v>50</c:v>
                </c:pt>
                <c:pt idx="1">
                  <c:v>27.8</c:v>
                </c:pt>
                <c:pt idx="2">
                  <c:v>22.2</c:v>
                </c:pt>
              </c:numCache>
            </c:numRef>
          </c:val>
        </c:ser>
        <c:dLbls>
          <c:txPr>
            <a:bodyPr xmlns:a="http://schemas.openxmlformats.org/drawingml/2006/main" anchorCtr="1"/>
            <a:lstStyle xmlns:a="http://schemas.openxmlformats.org/drawingml/2006/main"/>
            <a:p xmlns:a="http://schemas.openxmlformats.org/drawingml/2006/main">
              <a:pPr>
                <a:defRPr sz="1650">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majorUnit val="20"/>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ROC-AUC</c:v>
          </c:tx>
          <c:spPr>
            <a:solidFill xmlns:a="http://schemas.openxmlformats.org/drawingml/2006/main">
              <a:srgbClr val="167AAB"/>
            </a:solidFill>
          </c:spPr>
          <c:cat>
            <c:strRef>
              <c:f>'Chart Data'!$A$2:$A$6</c:f>
              <c:strCache>
                <c:ptCount val="5"/>
                <c:pt idx="0">
                  <c:v>Fold 1</c:v>
                </c:pt>
                <c:pt idx="1">
                  <c:v>Fold 2</c:v>
                </c:pt>
                <c:pt idx="2">
                  <c:v>Fold 3</c:v>
                </c:pt>
                <c:pt idx="3">
                  <c:v>Fold 4</c:v>
                </c:pt>
                <c:pt idx="4">
                  <c:v>Fold 5</c:v>
                </c:pt>
              </c:strCache>
            </c:strRef>
          </c:cat>
          <c:val>
            <c:numRef>
              <c:f>'Chart Data'!$B$2:$B$6</c:f>
              <c:numCache>
                <c:formatCode>0.000</c:formatCode>
                <c:ptCount val="5"/>
                <c:pt idx="0">
                  <c:v>0.99</c:v>
                </c:pt>
                <c:pt idx="1">
                  <c:v>0.9</c:v>
                </c:pt>
                <c:pt idx="2">
                  <c:v>0.953</c:v>
                </c:pt>
                <c:pt idx="3">
                  <c:v>0.972</c:v>
                </c:pt>
                <c:pt idx="4">
                  <c:v>0.985</c:v>
                </c:pt>
              </c:numCache>
            </c:numRef>
          </c:val>
        </c:ser>
        <c:dLbls>
          <c:txPr>
            <a:bodyPr xmlns:a="http://schemas.openxmlformats.org/drawingml/2006/main" anchorCtr="1"/>
            <a:lstStyle xmlns:a="http://schemas.openxmlformats.org/drawingml/2006/main"/>
            <a:p xmlns:a="http://schemas.openxmlformats.org/drawingml/2006/main">
              <a:pPr>
                <a:defRPr sz="1575">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DejaVu Sans"/>
                <a:ea typeface="DejaVu Sans"/>
                <a:cs typeface="DejaVu Sans"/>
              </a:defRPr>
            </a:pPr>
          </a:p>
        </c:txPr>
        <c:crossAx val="48672768"/>
      </c:catAx>
      <c:valAx>
        <c:axId val="48672768"/>
        <c:scaling>
          <c:orientation val="minMax"/>
          <c:max val="1.05"/>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50112"/>
        <c:crossBetween val="between"/>
        <c:majorUnit val="0.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6997D5-15D7-4FA1-B80D-05F81898F27C}"/>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343EAAEE-2EDA-4A0A-BC0C-394A4A6BA831}"/>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Retail Location Intelligence</a:t>
            </a:r>
          </a:p>
        </p:txBody>
      </p:sp>
      <p:sp>
        <p:nvSpPr>
          <p:cNvPr id="3" name="">
            <a:extLst xmlns:a="http://schemas.openxmlformats.org/drawingml/2006/main">
              <a:ext uri="{FF2B5EF4-FFF2-40B4-BE49-F238E27FC236}">
                <a16:creationId xmlns:a16="http://schemas.microsoft.com/office/drawing/2014/main" id="{5207C9A9-45A3-49F5-B0D5-198469DBB153}"/>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AI-supported market planning for café entrepreneurs</a:t>
            </a:r>
          </a:p>
        </p:txBody>
      </p:sp>
      <p:sp>
        <p:nvSpPr>
          <p:cNvPr id="4" name="">
            <a:extLst xmlns:a="http://schemas.openxmlformats.org/drawingml/2006/main">
              <a:ext uri="{FF2B5EF4-FFF2-40B4-BE49-F238E27FC236}">
                <a16:creationId xmlns:a16="http://schemas.microsoft.com/office/drawing/2014/main" id="{E3D6F432-0F1C-4E3C-AD03-F102D206BCD3}"/>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8ECED411-1F6C-4CF4-B2DB-3869BD740B4B}"/>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01 / 08</a:t>
            </a:r>
          </a:p>
        </p:txBody>
      </p:sp>
      <p:sp>
        <p:nvSpPr>
          <p:cNvPr id="6" name="">
            <a:extLst xmlns:a="http://schemas.openxmlformats.org/drawingml/2006/main">
              <a:ext uri="{FF2B5EF4-FFF2-40B4-BE49-F238E27FC236}">
                <a16:creationId xmlns:a16="http://schemas.microsoft.com/office/drawing/2014/main" id="{FE13D4D0-6D40-4B60-A0CA-C9CC78B5671C}"/>
              </a:ext>
            </a:extLst>
          </p:cNvPr>
          <p:cNvSpPr>
            <a:spLocks xmlns:a="http://schemas.openxmlformats.org/drawingml/2006/main" noGrp="1"/>
          </p:cNvSpPr>
          <p:nvPr/>
        </p:nvSpPr>
        <p:spPr>
          <a:xfrm xmlns:a="http://schemas.openxmlformats.org/drawingml/2006/main">
            <a:off x="609600" y="2895600"/>
            <a:ext cx="10191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E44"/>
                </a:solidFill>
                <a:latin typeface="DejaVu Sans"/>
                <a:ea typeface="DejaVu Sans"/>
                <a:cs typeface="DejaVu Sans"/>
              </a:defRPr>
            </a:pPr>
            <a:r>
              <a:rPr sz="3300" b="1">
                <a:solidFill>
                  <a:srgbClr val="142E44"/>
                </a:solidFill>
                <a:latin typeface="DejaVu Sans"/>
                <a:ea typeface="DejaVu Sans"/>
                <a:cs typeface="DejaVu Sans"/>
              </a:rPr>
              <a:t>Reach the right surroundings.</a:t>
            </a:r>
          </a:p>
          <a:p xmlns:a="http://schemas.openxmlformats.org/drawingml/2006/main">
            <a:pPr>
              <a:buNone/>
              <a:defRPr sz="3300" b="1">
                <a:solidFill>
                  <a:srgbClr val="142E44"/>
                </a:solidFill>
                <a:latin typeface="DejaVu Sans"/>
                <a:ea typeface="DejaVu Sans"/>
                <a:cs typeface="DejaVu Sans"/>
              </a:defRPr>
            </a:pPr>
            <a:r>
              <a:rPr sz="3300" b="1">
                <a:solidFill>
                  <a:srgbClr val="142E44"/>
                </a:solidFill>
                <a:latin typeface="DejaVu Sans"/>
                <a:ea typeface="DejaVu Sans"/>
                <a:cs typeface="DejaVu Sans"/>
              </a:rPr>
              <a:t>Compare competition.</a:t>
            </a:r>
          </a:p>
          <a:p xmlns:a="http://schemas.openxmlformats.org/drawingml/2006/main">
            <a:pPr>
              <a:buNone/>
              <a:defRPr sz="3300" b="1">
                <a:solidFill>
                  <a:srgbClr val="142E44"/>
                </a:solidFill>
                <a:latin typeface="DejaVu Sans"/>
                <a:ea typeface="DejaVu Sans"/>
                <a:cs typeface="DejaVu Sans"/>
              </a:defRPr>
            </a:pPr>
            <a:r>
              <a:rPr sz="3300" b="1">
                <a:solidFill>
                  <a:srgbClr val="142E44"/>
                </a:solidFill>
                <a:latin typeface="DejaVu Sans"/>
                <a:ea typeface="DejaVu Sans"/>
                <a:cs typeface="DejaVu Sans"/>
              </a:rPr>
              <a:t>Shortlist areas for fieldwork.</a:t>
            </a:r>
          </a:p>
        </p:txBody>
      </p:sp>
      <p:sp>
        <p:nvSpPr>
          <p:cNvPr id="7" name="">
            <a:extLst xmlns:a="http://schemas.openxmlformats.org/drawingml/2006/main">
              <a:ext uri="{FF2B5EF4-FFF2-40B4-BE49-F238E27FC236}">
                <a16:creationId xmlns:a16="http://schemas.microsoft.com/office/drawing/2014/main" id="{CF9F6264-5F02-445C-BA04-CEAE7A5869AD}"/>
              </a:ext>
            </a:extLst>
          </p:cNvPr>
          <p:cNvSpPr>
            <a:spLocks xmlns:a="http://schemas.openxmlformats.org/drawingml/2006/main" noGrp="1"/>
          </p:cNvSpPr>
          <p:nvPr/>
        </p:nvSpPr>
        <p:spPr>
          <a:xfrm xmlns:a="http://schemas.openxmlformats.org/drawingml/2006/main">
            <a:off x="609600" y="54483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67AAB"/>
                </a:solidFill>
                <a:latin typeface="DejaVu Sans"/>
                <a:ea typeface="DejaVu Sans"/>
                <a:cs typeface="DejaVu Sans"/>
              </a:defRPr>
            </a:pPr>
            <a:r>
              <a:rPr sz="1950" b="0">
                <a:solidFill>
                  <a:srgbClr val="167AAB"/>
                </a:solidFill>
                <a:latin typeface="DejaVu Sans"/>
                <a:ea typeface="DejaVu Sans"/>
                <a:cs typeface="DejaVu Sans"/>
              </a:rPr>
              <a:t>Çankaya, Ankara  |  Decision-support prototype</a:t>
            </a:r>
          </a:p>
        </p:txBody>
      </p:sp>
    </p:spTree>
    <p:extLst>
      <p:ext uri="{BB962C8B-B14F-4D97-AF65-F5344CB8AC3E}">
        <p14:creationId xmlns:p14="http://schemas.microsoft.com/office/powerpoint/2010/main" val="18875561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2BE35E-FC41-42DD-AA16-0CE291661939}"/>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A8A28809-291C-412E-AFC3-6B9BBCBD363E}"/>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A marketing decision before opening</a:t>
            </a:r>
          </a:p>
        </p:txBody>
      </p:sp>
      <p:sp>
        <p:nvSpPr>
          <p:cNvPr id="3" name="">
            <a:extLst xmlns:a="http://schemas.openxmlformats.org/drawingml/2006/main">
              <a:ext uri="{FF2B5EF4-FFF2-40B4-BE49-F238E27FC236}">
                <a16:creationId xmlns:a16="http://schemas.microsoft.com/office/drawing/2014/main" id="{CF9D8A79-77E9-4DA1-AB15-F6E56703D60A}"/>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Market–user–location planning for the “Place” dimension of marketing.</a:t>
            </a:r>
          </a:p>
        </p:txBody>
      </p:sp>
      <p:sp>
        <p:nvSpPr>
          <p:cNvPr id="4" name="">
            <a:extLst xmlns:a="http://schemas.openxmlformats.org/drawingml/2006/main">
              <a:ext uri="{FF2B5EF4-FFF2-40B4-BE49-F238E27FC236}">
                <a16:creationId xmlns:a16="http://schemas.microsoft.com/office/drawing/2014/main" id="{FC072CAE-144E-46C8-A193-8B39F0FCA52E}"/>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7EEC03EF-7F94-4BF1-8AFC-3EB64D21D90D}"/>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02 / 08</a:t>
            </a:r>
          </a:p>
        </p:txBody>
      </p:sp>
      <p:sp>
        <p:nvSpPr>
          <p:cNvPr id="6" name="">
            <a:extLst xmlns:a="http://schemas.openxmlformats.org/drawingml/2006/main">
              <a:ext uri="{FF2B5EF4-FFF2-40B4-BE49-F238E27FC236}">
                <a16:creationId xmlns:a16="http://schemas.microsoft.com/office/drawing/2014/main" id="{CC7E51E5-CD71-4059-A435-BAF0FDE0F8A5}"/>
              </a:ext>
            </a:extLst>
          </p:cNvPr>
          <p:cNvSpPr>
            <a:spLocks xmlns:a="http://schemas.openxmlformats.org/drawingml/2006/main" noGrp="1"/>
          </p:cNvSpPr>
          <p:nvPr/>
        </p:nvSpPr>
        <p:spPr>
          <a:xfrm xmlns:a="http://schemas.openxmlformats.org/drawingml/2006/main">
            <a:off x="609600" y="3028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User</a:t>
            </a:r>
          </a:p>
        </p:txBody>
      </p:sp>
      <p:sp>
        <p:nvSpPr>
          <p:cNvPr id="7" name="">
            <a:extLst xmlns:a="http://schemas.openxmlformats.org/drawingml/2006/main">
              <a:ext uri="{FF2B5EF4-FFF2-40B4-BE49-F238E27FC236}">
                <a16:creationId xmlns:a16="http://schemas.microsoft.com/office/drawing/2014/main" id="{EFB7DD77-59BB-487B-80BC-8CA2C5C0E7B4}"/>
              </a:ext>
            </a:extLst>
          </p:cNvPr>
          <p:cNvSpPr>
            <a:spLocks xmlns:a="http://schemas.openxmlformats.org/drawingml/2006/main" noGrp="1"/>
          </p:cNvSpPr>
          <p:nvPr/>
        </p:nvSpPr>
        <p:spPr>
          <a:xfrm xmlns:a="http://schemas.openxmlformats.org/drawingml/2006/main">
            <a:off x="609600" y="3619500"/>
            <a:ext cx="304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E44"/>
                </a:solidFill>
                <a:latin typeface="DejaVu Sans"/>
                <a:ea typeface="DejaVu Sans"/>
                <a:cs typeface="DejaVu Sans"/>
              </a:defRPr>
            </a:pPr>
            <a:r>
              <a:rPr sz="2100" b="0">
                <a:solidFill>
                  <a:srgbClr val="142E44"/>
                </a:solidFill>
                <a:latin typeface="DejaVu Sans"/>
                <a:ea typeface="DejaVu Sans"/>
                <a:cs typeface="DejaVu Sans"/>
              </a:rPr>
              <a:t>Café entrepreneurs</a:t>
            </a:r>
          </a:p>
          <a:p xmlns:a="http://schemas.openxmlformats.org/drawingml/2006/main">
            <a:pPr>
              <a:buNone/>
              <a:defRPr sz="2100" b="0">
                <a:solidFill>
                  <a:srgbClr val="142E44"/>
                </a:solidFill>
                <a:latin typeface="DejaVu Sans"/>
                <a:ea typeface="DejaVu Sans"/>
                <a:cs typeface="DejaVu Sans"/>
              </a:defRPr>
            </a:pPr>
            <a:r>
              <a:rPr sz="2100" b="0">
                <a:solidFill>
                  <a:srgbClr val="142E44"/>
                </a:solidFill>
                <a:latin typeface="DejaVu Sans"/>
                <a:ea typeface="DejaVu Sans"/>
                <a:cs typeface="DejaVu Sans"/>
              </a:rPr>
              <a:t>choosing candidate areas</a:t>
            </a:r>
          </a:p>
        </p:txBody>
      </p:sp>
      <p:sp>
        <p:nvSpPr>
          <p:cNvPr id="8" name="">
            <a:extLst xmlns:a="http://schemas.openxmlformats.org/drawingml/2006/main">
              <a:ext uri="{FF2B5EF4-FFF2-40B4-BE49-F238E27FC236}">
                <a16:creationId xmlns:a16="http://schemas.microsoft.com/office/drawing/2014/main" id="{E02707E4-999D-4344-880E-6681E7E73CDE}"/>
              </a:ext>
            </a:extLst>
          </p:cNvPr>
          <p:cNvSpPr>
            <a:spLocks xmlns:a="http://schemas.openxmlformats.org/drawingml/2006/main" noGrp="1"/>
          </p:cNvSpPr>
          <p:nvPr/>
        </p:nvSpPr>
        <p:spPr>
          <a:xfrm xmlns:a="http://schemas.openxmlformats.org/drawingml/2006/main">
            <a:off x="4286250" y="3028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Decision</a:t>
            </a:r>
          </a:p>
        </p:txBody>
      </p:sp>
      <p:sp>
        <p:nvSpPr>
          <p:cNvPr id="9" name="">
            <a:extLst xmlns:a="http://schemas.openxmlformats.org/drawingml/2006/main">
              <a:ext uri="{FF2B5EF4-FFF2-40B4-BE49-F238E27FC236}">
                <a16:creationId xmlns:a16="http://schemas.microsoft.com/office/drawing/2014/main" id="{DE10B89F-5264-4CC4-BBCC-C9E336E182A6}"/>
              </a:ext>
            </a:extLst>
          </p:cNvPr>
          <p:cNvSpPr>
            <a:spLocks xmlns:a="http://schemas.openxmlformats.org/drawingml/2006/main" noGrp="1"/>
          </p:cNvSpPr>
          <p:nvPr/>
        </p:nvSpPr>
        <p:spPr>
          <a:xfrm xmlns:a="http://schemas.openxmlformats.org/drawingml/2006/main">
            <a:off x="4286250" y="3619500"/>
            <a:ext cx="3048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142E44"/>
                </a:solidFill>
                <a:latin typeface="DejaVu Sans"/>
                <a:ea typeface="DejaVu Sans"/>
                <a:cs typeface="DejaVu Sans"/>
              </a:defRPr>
            </a:pPr>
            <a:r>
              <a:rPr sz="1950" b="0">
                <a:solidFill>
                  <a:srgbClr val="142E44"/>
                </a:solidFill>
                <a:latin typeface="DejaVu Sans"/>
                <a:ea typeface="DejaVu Sans"/>
                <a:cs typeface="DejaVu Sans"/>
              </a:rPr>
              <a:t>Market context and</a:t>
            </a:r>
          </a:p>
          <a:p xmlns:a="http://schemas.openxmlformats.org/drawingml/2006/main">
            <a:pPr algn="l">
              <a:buNone/>
              <a:defRPr sz="1950" b="0">
                <a:solidFill>
                  <a:srgbClr val="142E44"/>
                </a:solidFill>
                <a:latin typeface="DejaVu Sans"/>
                <a:ea typeface="DejaVu Sans"/>
                <a:cs typeface="DejaVu Sans"/>
              </a:defRPr>
            </a:pPr>
            <a:r>
              <a:rPr sz="1950" b="0">
                <a:solidFill>
                  <a:srgbClr val="142E44"/>
                </a:solidFill>
                <a:latin typeface="DejaVu Sans"/>
                <a:ea typeface="DejaVu Sans"/>
                <a:cs typeface="DejaVu Sans"/>
              </a:rPr>
              <a:t>customer surroundings</a:t>
            </a:r>
          </a:p>
          <a:p xmlns:a="http://schemas.openxmlformats.org/drawingml/2006/main">
            <a:pPr algn="l">
              <a:buNone/>
              <a:defRPr sz="1950" b="0">
                <a:solidFill>
                  <a:srgbClr val="142E44"/>
                </a:solidFill>
                <a:latin typeface="DejaVu Sans"/>
                <a:ea typeface="DejaVu Sans"/>
                <a:cs typeface="DejaVu Sans"/>
              </a:defRPr>
            </a:pPr>
            <a:r>
              <a:rPr sz="1950" b="0">
                <a:solidFill>
                  <a:srgbClr val="142E44"/>
                </a:solidFill>
                <a:latin typeface="DejaVu Sans"/>
                <a:ea typeface="DejaVu Sans"/>
                <a:cs typeface="DejaVu Sans"/>
              </a:rPr>
              <a:t>at each location</a:t>
            </a:r>
          </a:p>
        </p:txBody>
      </p:sp>
      <p:sp>
        <p:nvSpPr>
          <p:cNvPr id="10" name="">
            <a:extLst xmlns:a="http://schemas.openxmlformats.org/drawingml/2006/main">
              <a:ext uri="{FF2B5EF4-FFF2-40B4-BE49-F238E27FC236}">
                <a16:creationId xmlns:a16="http://schemas.microsoft.com/office/drawing/2014/main" id="{94F4DC95-5150-4017-84F2-F4C58CB5EC01}"/>
              </a:ext>
            </a:extLst>
          </p:cNvPr>
          <p:cNvSpPr>
            <a:spLocks xmlns:a="http://schemas.openxmlformats.org/drawingml/2006/main" noGrp="1"/>
          </p:cNvSpPr>
          <p:nvPr/>
        </p:nvSpPr>
        <p:spPr>
          <a:xfrm xmlns:a="http://schemas.openxmlformats.org/drawingml/2006/main">
            <a:off x="8020050" y="30289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Value to test</a:t>
            </a:r>
          </a:p>
        </p:txBody>
      </p:sp>
      <p:sp>
        <p:nvSpPr>
          <p:cNvPr id="11" name="">
            <a:extLst xmlns:a="http://schemas.openxmlformats.org/drawingml/2006/main">
              <a:ext uri="{FF2B5EF4-FFF2-40B4-BE49-F238E27FC236}">
                <a16:creationId xmlns:a16="http://schemas.microsoft.com/office/drawing/2014/main" id="{5AECE1DC-1EF4-4BA1-AC2C-101B9D860E6F}"/>
              </a:ext>
            </a:extLst>
          </p:cNvPr>
          <p:cNvSpPr>
            <a:spLocks xmlns:a="http://schemas.openxmlformats.org/drawingml/2006/main" noGrp="1"/>
          </p:cNvSpPr>
          <p:nvPr/>
        </p:nvSpPr>
        <p:spPr>
          <a:xfrm xmlns:a="http://schemas.openxmlformats.org/drawingml/2006/main">
            <a:off x="8020050" y="3619500"/>
            <a:ext cx="33813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E44"/>
                </a:solidFill>
                <a:latin typeface="DejaVu Sans"/>
                <a:ea typeface="DejaVu Sans"/>
                <a:cs typeface="DejaVu Sans"/>
              </a:defRPr>
            </a:pPr>
            <a:r>
              <a:rPr sz="2100" b="0">
                <a:solidFill>
                  <a:srgbClr val="142E44"/>
                </a:solidFill>
                <a:latin typeface="DejaVu Sans"/>
                <a:ea typeface="DejaVu Sans"/>
                <a:cs typeface="DejaVu Sans"/>
              </a:rPr>
              <a:t>Less time preparing</a:t>
            </a:r>
          </a:p>
          <a:p xmlns:a="http://schemas.openxmlformats.org/drawingml/2006/main">
            <a:pPr>
              <a:buNone/>
              <a:defRPr sz="2100" b="0">
                <a:solidFill>
                  <a:srgbClr val="142E44"/>
                </a:solidFill>
                <a:latin typeface="DejaVu Sans"/>
                <a:ea typeface="DejaVu Sans"/>
                <a:cs typeface="DejaVu Sans"/>
              </a:defRPr>
            </a:pPr>
            <a:r>
              <a:rPr sz="2100" b="0">
                <a:solidFill>
                  <a:srgbClr val="142E44"/>
                </a:solidFill>
                <a:latin typeface="DejaVu Sans"/>
                <a:ea typeface="DejaVu Sans"/>
                <a:cs typeface="DejaVu Sans"/>
              </a:rPr>
              <a:t>a useful shortlist</a:t>
            </a:r>
          </a:p>
        </p:txBody>
      </p:sp>
      <p:sp>
        <p:nvSpPr>
          <p:cNvPr id="12" name="">
            <a:extLst xmlns:a="http://schemas.openxmlformats.org/drawingml/2006/main">
              <a:ext uri="{FF2B5EF4-FFF2-40B4-BE49-F238E27FC236}">
                <a16:creationId xmlns:a16="http://schemas.microsoft.com/office/drawing/2014/main" id="{E81AF4FD-2BB7-476E-A4FE-7B0DFDD44696}"/>
              </a:ext>
            </a:extLst>
          </p:cNvPr>
          <p:cNvSpPr>
            <a:spLocks xmlns:a="http://schemas.openxmlformats.org/drawingml/2006/main" noGrp="1"/>
          </p:cNvSpPr>
          <p:nvPr/>
        </p:nvSpPr>
        <p:spPr>
          <a:xfrm xmlns:a="http://schemas.openxmlformats.org/drawingml/2006/main">
            <a:off x="609600" y="56578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79"/>
                </a:solidFill>
                <a:latin typeface="DejaVu Sans"/>
                <a:ea typeface="DejaVu Sans"/>
                <a:cs typeface="DejaVu Sans"/>
              </a:defRPr>
            </a:pPr>
            <a:r>
              <a:rPr sz="1725" b="0">
                <a:solidFill>
                  <a:srgbClr val="526879"/>
                </a:solidFill>
                <a:latin typeface="DejaVu Sans"/>
                <a:ea typeface="DejaVu Sans"/>
                <a:cs typeface="DejaVu Sans"/>
              </a:rPr>
              <a:t>Time savings are a proposed pilot KPI; they have not been measured.</a:t>
            </a:r>
          </a:p>
        </p:txBody>
      </p:sp>
    </p:spTree>
    <p:extLst>
      <p:ext uri="{BB962C8B-B14F-4D97-AF65-F5344CB8AC3E}">
        <p14:creationId xmlns:p14="http://schemas.microsoft.com/office/powerpoint/2010/main" val="19596032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173CD3-17A3-4469-908B-5483D66A6C15}"/>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48F27F2B-5613-47FA-BF6A-EE77AD52B7F8}"/>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A common spatial evidence base</a:t>
            </a:r>
          </a:p>
        </p:txBody>
      </p:sp>
      <p:sp>
        <p:nvSpPr>
          <p:cNvPr id="3" name="">
            <a:extLst xmlns:a="http://schemas.openxmlformats.org/drawingml/2006/main">
              <a:ext uri="{FF2B5EF4-FFF2-40B4-BE49-F238E27FC236}">
                <a16:creationId xmlns:a16="http://schemas.microsoft.com/office/drawing/2014/main" id="{C9369091-6771-474B-B2FA-E2A7A7A0E82D}"/>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Open place data and aggregate residential population.</a:t>
            </a:r>
          </a:p>
        </p:txBody>
      </p:sp>
      <p:sp>
        <p:nvSpPr>
          <p:cNvPr id="4" name="">
            <a:extLst xmlns:a="http://schemas.openxmlformats.org/drawingml/2006/main">
              <a:ext uri="{FF2B5EF4-FFF2-40B4-BE49-F238E27FC236}">
                <a16:creationId xmlns:a16="http://schemas.microsoft.com/office/drawing/2014/main" id="{5B6BCA5A-0125-429A-A6F1-18D4B816A156}"/>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2879430C-D2C9-4091-A9C7-9784A55CC1BA}"/>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03 / 08</a:t>
            </a:r>
          </a:p>
        </p:txBody>
      </p:sp>
      <p:graphicFrame>
        <p:nvGraphicFramePr>
          <p:cNvPr id="17" name="Chart"/>
          <p:cNvGraphicFramePr/>
          <p:nvPr/>
        </p:nvGraphicFramePr>
        <p:xfrm>
          <a:off xmlns:a="http://schemas.openxmlformats.org/drawingml/2006/main" x="609600" y="2914650"/>
          <a:ext xmlns:a="http://schemas.openxmlformats.org/drawingml/2006/main" cx="6762750" cy="2895600"/>
        </p:xfrm>
        <a:graphic xmlns:a="http://schemas.openxmlformats.org/drawingml/2006/main">
          <a:graphicData uri="http://schemas.openxmlformats.org/drawingml/2006/chart">
            <c:chart xmlns:r="http://schemas.openxmlformats.org/officeDocument/2006/relationships" xmlns:c="http://schemas.openxmlformats.org/drawingml/2006/chart" r:id="R19a0bb42156741b2"/>
          </a:graphicData>
        </a:graphic>
      </p:graphicFrame>
      <p:sp>
        <p:nvSpPr>
          <p:cNvPr id="7" name="">
            <a:extLst xmlns:a="http://schemas.openxmlformats.org/drawingml/2006/main">
              <a:ext uri="{FF2B5EF4-FFF2-40B4-BE49-F238E27FC236}">
                <a16:creationId xmlns:a16="http://schemas.microsoft.com/office/drawing/2014/main" id="{6677D594-0F16-416F-A7C7-6B676BC27983}"/>
              </a:ext>
            </a:extLst>
          </p:cNvPr>
          <p:cNvSpPr>
            <a:spLocks xmlns:a="http://schemas.openxmlformats.org/drawingml/2006/main" noGrp="1"/>
          </p:cNvSpPr>
          <p:nvPr/>
        </p:nvSpPr>
        <p:spPr>
          <a:xfrm xmlns:a="http://schemas.openxmlformats.org/drawingml/2006/main">
            <a:off x="8020050" y="2990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42E44"/>
                </a:solidFill>
                <a:latin typeface="DejaVu Sans"/>
                <a:ea typeface="DejaVu Sans"/>
                <a:cs typeface="DejaVu Sans"/>
              </a:defRPr>
            </a:pPr>
            <a:r>
              <a:rPr sz="2850" b="1">
                <a:solidFill>
                  <a:srgbClr val="142E44"/>
                </a:solidFill>
                <a:latin typeface="DejaVu Sans"/>
                <a:ea typeface="DejaVu Sans"/>
                <a:cs typeface="DejaVu Sans"/>
              </a:rPr>
              <a:t>5,361 cells</a:t>
            </a:r>
          </a:p>
        </p:txBody>
      </p:sp>
      <p:sp>
        <p:nvSpPr>
          <p:cNvPr id="8" name="">
            <a:extLst xmlns:a="http://schemas.openxmlformats.org/drawingml/2006/main">
              <a:ext uri="{FF2B5EF4-FFF2-40B4-BE49-F238E27FC236}">
                <a16:creationId xmlns:a16="http://schemas.microsoft.com/office/drawing/2014/main" id="{A83D8D5D-F158-497C-BE08-B42B4A7D2A61}"/>
              </a:ext>
            </a:extLst>
          </p:cNvPr>
          <p:cNvSpPr>
            <a:spLocks xmlns:a="http://schemas.openxmlformats.org/drawingml/2006/main" noGrp="1"/>
          </p:cNvSpPr>
          <p:nvPr/>
        </p:nvSpPr>
        <p:spPr>
          <a:xfrm xmlns:a="http://schemas.openxmlformats.org/drawingml/2006/main">
            <a:off x="8020050" y="3810000"/>
            <a:ext cx="3429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E44"/>
                </a:solidFill>
                <a:latin typeface="DejaVu Sans"/>
                <a:ea typeface="DejaVu Sans"/>
                <a:cs typeface="DejaVu Sans"/>
              </a:defRPr>
            </a:pPr>
            <a:r>
              <a:rPr sz="1950" b="0">
                <a:solidFill>
                  <a:srgbClr val="142E44"/>
                </a:solidFill>
                <a:latin typeface="DejaVu Sans"/>
                <a:ea typeface="DejaVu Sans"/>
                <a:cs typeface="DejaVu Sans"/>
              </a:rPr>
              <a:t>300 m grid</a:t>
            </a:r>
          </a:p>
          <a:p xmlns:a="http://schemas.openxmlformats.org/drawingml/2006/main">
            <a:pPr>
              <a:buNone/>
              <a:defRPr sz="1950" b="0">
                <a:solidFill>
                  <a:srgbClr val="142E44"/>
                </a:solidFill>
                <a:latin typeface="DejaVu Sans"/>
                <a:ea typeface="DejaVu Sans"/>
                <a:cs typeface="DejaVu Sans"/>
              </a:defRPr>
            </a:pPr>
            <a:r>
              <a:rPr sz="1950" b="0">
                <a:solidFill>
                  <a:srgbClr val="142E44"/>
                </a:solidFill>
                <a:latin typeface="DejaVu Sans"/>
                <a:ea typeface="DejaVu Sans"/>
                <a:cs typeface="DejaVu Sans"/>
              </a:rPr>
              <a:t>121 neighborhood labels</a:t>
            </a:r>
          </a:p>
          <a:p xmlns:a="http://schemas.openxmlformats.org/drawingml/2006/main">
            <a:pPr>
              <a:buNone/>
              <a:defRPr sz="1950" b="0">
                <a:solidFill>
                  <a:srgbClr val="142E44"/>
                </a:solidFill>
                <a:latin typeface="DejaVu Sans"/>
                <a:ea typeface="DejaVu Sans"/>
                <a:cs typeface="DejaVu Sans"/>
              </a:defRPr>
            </a:pPr>
            <a:r>
              <a:rPr sz="1950" b="0">
                <a:solidFill>
                  <a:srgbClr val="142E44"/>
                </a:solidFill>
                <a:latin typeface="DejaVu Sans"/>
                <a:ea typeface="DejaVu Sans"/>
                <a:cs typeface="DejaVu Sans"/>
              </a:rPr>
              <a:t>15.24% café-positive cells</a:t>
            </a:r>
          </a:p>
        </p:txBody>
      </p:sp>
      <p:sp>
        <p:nvSpPr>
          <p:cNvPr id="9" name="">
            <a:extLst xmlns:a="http://schemas.openxmlformats.org/drawingml/2006/main">
              <a:ext uri="{FF2B5EF4-FFF2-40B4-BE49-F238E27FC236}">
                <a16:creationId xmlns:a16="http://schemas.microsoft.com/office/drawing/2014/main" id="{06D819C5-9337-4F0D-8354-16AFCB81A053}"/>
              </a:ext>
            </a:extLst>
          </p:cNvPr>
          <p:cNvSpPr>
            <a:spLocks xmlns:a="http://schemas.openxmlformats.org/drawingml/2006/main" noGrp="1"/>
          </p:cNvSpPr>
          <p:nvPr/>
        </p:nvSpPr>
        <p:spPr>
          <a:xfrm xmlns:a="http://schemas.openxmlformats.org/drawingml/2006/main">
            <a:off x="609600" y="58483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26879"/>
                </a:solidFill>
                <a:latin typeface="DejaVu Sans"/>
                <a:ea typeface="DejaVu Sans"/>
                <a:cs typeface="DejaVu Sans"/>
              </a:defRPr>
            </a:pPr>
            <a:r>
              <a:rPr sz="1500" b="0">
                <a:solidFill>
                  <a:srgbClr val="526879"/>
                </a:solidFill>
                <a:latin typeface="DejaVu Sans"/>
                <a:ea typeface="DejaVu Sans"/>
                <a:cs typeface="DejaVu Sans"/>
              </a:rPr>
              <a:t>Café presence: ≥ 1 mapped café within 500 m of a grid cell.</a:t>
            </a:r>
          </a:p>
        </p:txBody>
      </p:sp>
    </p:spTree>
    <p:extLst>
      <p:ext uri="{BB962C8B-B14F-4D97-AF65-F5344CB8AC3E}">
        <p14:creationId xmlns:p14="http://schemas.microsoft.com/office/powerpoint/2010/main" val="14117536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FDE27B-F872-4DE2-A3FC-DBD824AC7FCC}"/>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EF10E4DB-BDAF-4767-B85C-C4FF51FA5D76}"/>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Two complementary decision layers</a:t>
            </a:r>
          </a:p>
        </p:txBody>
      </p:sp>
      <p:sp>
        <p:nvSpPr>
          <p:cNvPr id="3" name="">
            <a:extLst xmlns:a="http://schemas.openxmlformats.org/drawingml/2006/main">
              <a:ext uri="{FF2B5EF4-FFF2-40B4-BE49-F238E27FC236}">
                <a16:creationId xmlns:a16="http://schemas.microsoft.com/office/drawing/2014/main" id="{B0561B92-04F2-42ED-9D68-22778E64F425}"/>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An explainable ranking plus a separate AI comparison.</a:t>
            </a:r>
          </a:p>
        </p:txBody>
      </p:sp>
      <p:sp>
        <p:nvSpPr>
          <p:cNvPr id="4" name="">
            <a:extLst xmlns:a="http://schemas.openxmlformats.org/drawingml/2006/main">
              <a:ext uri="{FF2B5EF4-FFF2-40B4-BE49-F238E27FC236}">
                <a16:creationId xmlns:a16="http://schemas.microsoft.com/office/drawing/2014/main" id="{89AC8E79-F507-4C37-8BEF-58D9BB3B5F79}"/>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0FA5D8D5-D493-416A-B609-476A45560EDB}"/>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04 / 08</a:t>
            </a:r>
          </a:p>
        </p:txBody>
      </p:sp>
      <p:graphicFrame>
        <p:nvGraphicFramePr>
          <p:cNvPr id="19" name="Chart"/>
          <p:cNvGraphicFramePr/>
          <p:nvPr/>
        </p:nvGraphicFramePr>
        <p:xfrm>
          <a:off xmlns:a="http://schemas.openxmlformats.org/drawingml/2006/main" x="609600" y="2943225"/>
          <a:ext xmlns:a="http://schemas.openxmlformats.org/drawingml/2006/main" cx="6572250" cy="2762250"/>
        </p:xfrm>
        <a:graphic xmlns:a="http://schemas.openxmlformats.org/drawingml/2006/main">
          <a:graphicData uri="http://schemas.openxmlformats.org/drawingml/2006/chart">
            <c:chart xmlns:r="http://schemas.openxmlformats.org/officeDocument/2006/relationships" xmlns:c="http://schemas.openxmlformats.org/drawingml/2006/chart" r:id="R5f6dccf222724a07"/>
          </a:graphicData>
        </a:graphic>
      </p:graphicFrame>
      <p:sp>
        <p:nvSpPr>
          <p:cNvPr id="7" name="">
            <a:extLst xmlns:a="http://schemas.openxmlformats.org/drawingml/2006/main">
              <a:ext uri="{FF2B5EF4-FFF2-40B4-BE49-F238E27FC236}">
                <a16:creationId xmlns:a16="http://schemas.microsoft.com/office/drawing/2014/main" id="{C3D7749E-0FE8-45CB-9936-3678687D2199}"/>
              </a:ext>
            </a:extLst>
          </p:cNvPr>
          <p:cNvSpPr>
            <a:spLocks xmlns:a="http://schemas.openxmlformats.org/drawingml/2006/main" noGrp="1"/>
          </p:cNvSpPr>
          <p:nvPr/>
        </p:nvSpPr>
        <p:spPr>
          <a:xfrm xmlns:a="http://schemas.openxmlformats.org/drawingml/2006/main">
            <a:off x="609600" y="58674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26879"/>
                </a:solidFill>
                <a:latin typeface="DejaVu Sans"/>
                <a:ea typeface="DejaVu Sans"/>
                <a:cs typeface="DejaVu Sans"/>
              </a:defRPr>
            </a:pPr>
            <a:r>
              <a:rPr sz="1500" b="0">
                <a:solidFill>
                  <a:srgbClr val="526879"/>
                </a:solidFill>
                <a:latin typeface="DejaVu Sans"/>
                <a:ea typeface="DejaVu Sans"/>
                <a:cs typeface="DejaVu Sans"/>
              </a:rPr>
              <a:t>Default positive weights after normalization</a:t>
            </a:r>
          </a:p>
        </p:txBody>
      </p:sp>
      <p:sp>
        <p:nvSpPr>
          <p:cNvPr id="8" name="">
            <a:extLst xmlns:a="http://schemas.openxmlformats.org/drawingml/2006/main">
              <a:ext uri="{FF2B5EF4-FFF2-40B4-BE49-F238E27FC236}">
                <a16:creationId xmlns:a16="http://schemas.microsoft.com/office/drawing/2014/main" id="{82406681-71A3-4293-9839-04959F24470E}"/>
              </a:ext>
            </a:extLst>
          </p:cNvPr>
          <p:cNvSpPr>
            <a:spLocks xmlns:a="http://schemas.openxmlformats.org/drawingml/2006/main" noGrp="1"/>
          </p:cNvSpPr>
          <p:nvPr/>
        </p:nvSpPr>
        <p:spPr>
          <a:xfrm xmlns:a="http://schemas.openxmlformats.org/drawingml/2006/main">
            <a:off x="7810500" y="28765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7AAB"/>
                </a:solidFill>
                <a:latin typeface="DejaVu Sans"/>
                <a:ea typeface="DejaVu Sans"/>
                <a:cs typeface="DejaVu Sans"/>
              </a:defRPr>
            </a:pPr>
            <a:r>
              <a:rPr sz="2175" b="1">
                <a:solidFill>
                  <a:srgbClr val="167AAB"/>
                </a:solidFill>
                <a:latin typeface="DejaVu Sans"/>
                <a:ea typeface="DejaVu Sans"/>
                <a:cs typeface="DejaVu Sans"/>
              </a:rPr>
              <a:t>MCDA ranking</a:t>
            </a:r>
          </a:p>
        </p:txBody>
      </p:sp>
      <p:sp>
        <p:nvSpPr>
          <p:cNvPr id="9" name="">
            <a:extLst xmlns:a="http://schemas.openxmlformats.org/drawingml/2006/main">
              <a:ext uri="{FF2B5EF4-FFF2-40B4-BE49-F238E27FC236}">
                <a16:creationId xmlns:a16="http://schemas.microsoft.com/office/drawing/2014/main" id="{241C1182-DE23-4322-A734-40BCA3F29149}"/>
              </a:ext>
            </a:extLst>
          </p:cNvPr>
          <p:cNvSpPr>
            <a:spLocks xmlns:a="http://schemas.openxmlformats.org/drawingml/2006/main" noGrp="1"/>
          </p:cNvSpPr>
          <p:nvPr/>
        </p:nvSpPr>
        <p:spPr>
          <a:xfrm xmlns:a="http://schemas.openxmlformats.org/drawingml/2006/main">
            <a:off x="7810500" y="3476625"/>
            <a:ext cx="371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142E44"/>
                </a:solidFill>
                <a:latin typeface="DejaVu Sans"/>
                <a:ea typeface="DejaVu Sans"/>
                <a:cs typeface="DejaVu Sans"/>
              </a:defRPr>
            </a:pPr>
            <a:r>
              <a:rPr sz="1800" b="0">
                <a:solidFill>
                  <a:srgbClr val="142E44"/>
                </a:solidFill>
                <a:latin typeface="DejaVu Sans"/>
                <a:ea typeface="DejaVu Sans"/>
                <a:cs typeface="DejaVu Sans"/>
              </a:rPr>
              <a:t>Density: up to +5 points</a:t>
            </a:r>
          </a:p>
          <a:p xmlns:a="http://schemas.openxmlformats.org/drawingml/2006/main">
            <a:pPr algn="l">
              <a:buNone/>
              <a:defRPr sz="1800" b="0">
                <a:solidFill>
                  <a:srgbClr val="142E44"/>
                </a:solidFill>
                <a:latin typeface="DejaVu Sans"/>
                <a:ea typeface="DejaVu Sans"/>
                <a:cs typeface="DejaVu Sans"/>
              </a:defRPr>
            </a:pPr>
            <a:r>
              <a:rPr sz="1800" b="0">
                <a:solidFill>
                  <a:srgbClr val="142E44"/>
                </a:solidFill>
                <a:latin typeface="DejaVu Sans"/>
                <a:ea typeface="DejaVu Sans"/>
                <a:cs typeface="DejaVu Sans"/>
              </a:rPr>
              <a:t>Competition: up to −5</a:t>
            </a:r>
          </a:p>
          <a:p xmlns:a="http://schemas.openxmlformats.org/drawingml/2006/main">
            <a:pPr algn="l">
              <a:buNone/>
              <a:defRPr sz="1800" b="0">
                <a:solidFill>
                  <a:srgbClr val="142E44"/>
                </a:solidFill>
                <a:latin typeface="DejaVu Sans"/>
                <a:ea typeface="DejaVu Sans"/>
                <a:cs typeface="DejaVu Sans"/>
              </a:defRPr>
            </a:pPr>
            <a:r>
              <a:rPr sz="1800" b="0">
                <a:solidFill>
                  <a:srgbClr val="142E44"/>
                </a:solidFill>
                <a:latin typeface="DejaVu Sans"/>
                <a:ea typeface="DejaVu Sans"/>
                <a:cs typeface="DejaVu Sans"/>
              </a:rPr>
              <a:t>Mutually exclusive effects</a:t>
            </a:r>
          </a:p>
        </p:txBody>
      </p:sp>
      <p:sp>
        <p:nvSpPr>
          <p:cNvPr id="10" name="">
            <a:extLst xmlns:a="http://schemas.openxmlformats.org/drawingml/2006/main">
              <a:ext uri="{FF2B5EF4-FFF2-40B4-BE49-F238E27FC236}">
                <a16:creationId xmlns:a16="http://schemas.microsoft.com/office/drawing/2014/main" id="{E5A9C989-6533-4A37-9ED6-DA3309DD2FA9}"/>
              </a:ext>
            </a:extLst>
          </p:cNvPr>
          <p:cNvSpPr>
            <a:spLocks xmlns:a="http://schemas.openxmlformats.org/drawingml/2006/main" noGrp="1"/>
          </p:cNvSpPr>
          <p:nvPr/>
        </p:nvSpPr>
        <p:spPr>
          <a:xfrm xmlns:a="http://schemas.openxmlformats.org/drawingml/2006/main">
            <a:off x="7810500" y="5057775"/>
            <a:ext cx="376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7AAB"/>
                </a:solidFill>
                <a:latin typeface="DejaVu Sans"/>
                <a:ea typeface="DejaVu Sans"/>
                <a:cs typeface="DejaVu Sans"/>
              </a:defRPr>
            </a:pPr>
            <a:r>
              <a:rPr sz="2175" b="1">
                <a:solidFill>
                  <a:srgbClr val="167AAB"/>
                </a:solidFill>
                <a:latin typeface="DejaVu Sans"/>
                <a:ea typeface="DejaVu Sans"/>
                <a:cs typeface="DejaVu Sans"/>
              </a:rPr>
              <a:t>RF similarity</a:t>
            </a:r>
          </a:p>
        </p:txBody>
      </p:sp>
      <p:sp>
        <p:nvSpPr>
          <p:cNvPr id="11" name="">
            <a:extLst xmlns:a="http://schemas.openxmlformats.org/drawingml/2006/main">
              <a:ext uri="{FF2B5EF4-FFF2-40B4-BE49-F238E27FC236}">
                <a16:creationId xmlns:a16="http://schemas.microsoft.com/office/drawing/2014/main" id="{AF163F50-CE7A-46EE-A88E-A4EF2DD9DC7B}"/>
              </a:ext>
            </a:extLst>
          </p:cNvPr>
          <p:cNvSpPr>
            <a:spLocks xmlns:a="http://schemas.openxmlformats.org/drawingml/2006/main" noGrp="1"/>
          </p:cNvSpPr>
          <p:nvPr/>
        </p:nvSpPr>
        <p:spPr>
          <a:xfrm xmlns:a="http://schemas.openxmlformats.org/drawingml/2006/main">
            <a:off x="7810500" y="5572125"/>
            <a:ext cx="376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79"/>
                </a:solidFill>
                <a:latin typeface="DejaVu Sans"/>
                <a:ea typeface="DejaVu Sans"/>
                <a:cs typeface="DejaVu Sans"/>
              </a:defRPr>
            </a:pPr>
            <a:r>
              <a:rPr sz="1725" b="0">
                <a:solidFill>
                  <a:srgbClr val="526879"/>
                </a:solidFill>
                <a:latin typeface="DejaVu Sans"/>
                <a:ea typeface="DejaVu Sans"/>
                <a:cs typeface="DejaVu Sans"/>
              </a:rPr>
              <a:t>Mapped café presence;</a:t>
            </a:r>
          </a:p>
          <a:p xmlns:a="http://schemas.openxmlformats.org/drawingml/2006/main">
            <a:pPr>
              <a:buNone/>
              <a:defRPr sz="1725" b="0">
                <a:solidFill>
                  <a:srgbClr val="526879"/>
                </a:solidFill>
                <a:latin typeface="DejaVu Sans"/>
                <a:ea typeface="DejaVu Sans"/>
                <a:cs typeface="DejaVu Sans"/>
              </a:defRPr>
            </a:pPr>
            <a:r>
              <a:rPr sz="1725" b="0">
                <a:solidFill>
                  <a:srgbClr val="526879"/>
                </a:solidFill>
                <a:latin typeface="DejaVu Sans"/>
                <a:ea typeface="DejaVu Sans"/>
                <a:cs typeface="DejaVu Sans"/>
              </a:rPr>
              <a:t>not revenue or profit</a:t>
            </a:r>
          </a:p>
        </p:txBody>
      </p:sp>
    </p:spTree>
    <p:extLst>
      <p:ext uri="{BB962C8B-B14F-4D97-AF65-F5344CB8AC3E}">
        <p14:creationId xmlns:p14="http://schemas.microsoft.com/office/powerpoint/2010/main" val="18251383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B66B089-DB89-4FBA-95A5-DCC546B2F7F9}"/>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DBEA7FCB-BD08-4BD5-A7BD-42D7FD84925C}"/>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AI evaluation holds out neighborhoods</a:t>
            </a:r>
          </a:p>
        </p:txBody>
      </p:sp>
      <p:sp>
        <p:nvSpPr>
          <p:cNvPr id="3" name="">
            <a:extLst xmlns:a="http://schemas.openxmlformats.org/drawingml/2006/main">
              <a:ext uri="{FF2B5EF4-FFF2-40B4-BE49-F238E27FC236}">
                <a16:creationId xmlns:a16="http://schemas.microsoft.com/office/drawing/2014/main" id="{7ADC6BA9-9BDE-4B09-BEE2-B607084F8987}"/>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Five-fold StratifiedGroupKFold; all displayed probabilities are held out.</a:t>
            </a:r>
          </a:p>
        </p:txBody>
      </p:sp>
      <p:sp>
        <p:nvSpPr>
          <p:cNvPr id="4" name="">
            <a:extLst xmlns:a="http://schemas.openxmlformats.org/drawingml/2006/main">
              <a:ext uri="{FF2B5EF4-FFF2-40B4-BE49-F238E27FC236}">
                <a16:creationId xmlns:a16="http://schemas.microsoft.com/office/drawing/2014/main" id="{2C415063-D630-409A-9024-B152DB4D4E71}"/>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69BF2E39-638F-4890-B99C-2C06DD5E7836}"/>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05 / 08</a:t>
            </a:r>
          </a:p>
        </p:txBody>
      </p:sp>
      <p:graphicFrame>
        <p:nvGraphicFramePr>
          <p:cNvPr id="17" name="Chart"/>
          <p:cNvGraphicFramePr/>
          <p:nvPr/>
        </p:nvGraphicFramePr>
        <p:xfrm>
          <a:off xmlns:a="http://schemas.openxmlformats.org/drawingml/2006/main" x="609600" y="2895600"/>
          <a:ext xmlns:a="http://schemas.openxmlformats.org/drawingml/2006/main" cx="7524750" cy="2857500"/>
        </p:xfrm>
        <a:graphic xmlns:a="http://schemas.openxmlformats.org/drawingml/2006/main">
          <a:graphicData uri="http://schemas.openxmlformats.org/drawingml/2006/chart">
            <c:chart xmlns:r="http://schemas.openxmlformats.org/officeDocument/2006/relationships" xmlns:c="http://schemas.openxmlformats.org/drawingml/2006/chart" r:id="R99c9e22a04c14e3a"/>
          </a:graphicData>
        </a:graphic>
      </p:graphicFrame>
      <p:sp>
        <p:nvSpPr>
          <p:cNvPr id="7" name="">
            <a:extLst xmlns:a="http://schemas.openxmlformats.org/drawingml/2006/main">
              <a:ext uri="{FF2B5EF4-FFF2-40B4-BE49-F238E27FC236}">
                <a16:creationId xmlns:a16="http://schemas.microsoft.com/office/drawing/2014/main" id="{F01821D2-CF8F-4527-A88E-3C4786E142C0}"/>
              </a:ext>
            </a:extLst>
          </p:cNvPr>
          <p:cNvSpPr>
            <a:spLocks xmlns:a="http://schemas.openxmlformats.org/drawingml/2006/main" noGrp="1"/>
          </p:cNvSpPr>
          <p:nvPr/>
        </p:nvSpPr>
        <p:spPr>
          <a:xfrm xmlns:a="http://schemas.openxmlformats.org/drawingml/2006/main">
            <a:off x="8572500" y="2990850"/>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142E44"/>
                </a:solidFill>
                <a:latin typeface="DejaVu Sans"/>
                <a:ea typeface="DejaVu Sans"/>
                <a:cs typeface="DejaVu Sans"/>
              </a:defRPr>
            </a:pPr>
            <a:r>
              <a:rPr sz="4800" b="1">
                <a:solidFill>
                  <a:srgbClr val="142E44"/>
                </a:solidFill>
                <a:latin typeface="DejaVu Sans"/>
                <a:ea typeface="DejaVu Sans"/>
                <a:cs typeface="DejaVu Sans"/>
              </a:rPr>
              <a:t>0.960</a:t>
            </a:r>
          </a:p>
        </p:txBody>
      </p:sp>
      <p:sp>
        <p:nvSpPr>
          <p:cNvPr id="8" name="">
            <a:extLst xmlns:a="http://schemas.openxmlformats.org/drawingml/2006/main">
              <a:ext uri="{FF2B5EF4-FFF2-40B4-BE49-F238E27FC236}">
                <a16:creationId xmlns:a16="http://schemas.microsoft.com/office/drawing/2014/main" id="{9EA90911-1049-485D-90D4-139DBC7D6928}"/>
              </a:ext>
            </a:extLst>
          </p:cNvPr>
          <p:cNvSpPr>
            <a:spLocks xmlns:a="http://schemas.openxmlformats.org/drawingml/2006/main" noGrp="1"/>
          </p:cNvSpPr>
          <p:nvPr/>
        </p:nvSpPr>
        <p:spPr>
          <a:xfrm xmlns:a="http://schemas.openxmlformats.org/drawingml/2006/main">
            <a:off x="8572500" y="4029075"/>
            <a:ext cx="295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E44"/>
                </a:solidFill>
                <a:latin typeface="DejaVu Sans"/>
                <a:ea typeface="DejaVu Sans"/>
                <a:cs typeface="DejaVu Sans"/>
              </a:defRPr>
            </a:pPr>
            <a:r>
              <a:rPr sz="1800" b="0">
                <a:solidFill>
                  <a:srgbClr val="142E44"/>
                </a:solidFill>
                <a:latin typeface="DejaVu Sans"/>
                <a:ea typeface="DejaVu Sans"/>
                <a:cs typeface="DejaVu Sans"/>
              </a:rPr>
              <a:t>Mean fold ROC-AUC</a:t>
            </a:r>
          </a:p>
          <a:p xmlns:a="http://schemas.openxmlformats.org/drawingml/2006/main">
            <a:pPr>
              <a:buNone/>
              <a:defRPr sz="1800" b="0">
                <a:solidFill>
                  <a:srgbClr val="142E44"/>
                </a:solidFill>
                <a:latin typeface="DejaVu Sans"/>
                <a:ea typeface="DejaVu Sans"/>
                <a:cs typeface="DejaVu Sans"/>
              </a:defRPr>
            </a:pPr>
            <a:r>
              <a:rPr sz="1800" b="0">
                <a:solidFill>
                  <a:srgbClr val="142E44"/>
                </a:solidFill>
                <a:latin typeface="DejaVu Sans"/>
                <a:ea typeface="DejaVu Sans"/>
                <a:cs typeface="DejaVu Sans"/>
              </a:rPr>
              <a:t>Recorded snapshot run</a:t>
            </a:r>
          </a:p>
        </p:txBody>
      </p:sp>
      <p:sp>
        <p:nvSpPr>
          <p:cNvPr id="9" name="">
            <a:extLst xmlns:a="http://schemas.openxmlformats.org/drawingml/2006/main">
              <a:ext uri="{FF2B5EF4-FFF2-40B4-BE49-F238E27FC236}">
                <a16:creationId xmlns:a16="http://schemas.microsoft.com/office/drawing/2014/main" id="{7C2AB89D-ABBE-4B5C-8F3B-A040562280BD}"/>
              </a:ext>
            </a:extLst>
          </p:cNvPr>
          <p:cNvSpPr>
            <a:spLocks xmlns:a="http://schemas.openxmlformats.org/drawingml/2006/main" noGrp="1"/>
          </p:cNvSpPr>
          <p:nvPr/>
        </p:nvSpPr>
        <p:spPr>
          <a:xfrm xmlns:a="http://schemas.openxmlformats.org/drawingml/2006/main">
            <a:off x="609600" y="58769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9"/>
                </a:solidFill>
                <a:latin typeface="DejaVu Sans"/>
                <a:ea typeface="DejaVu Sans"/>
                <a:cs typeface="DejaVu Sans"/>
              </a:defRPr>
            </a:pPr>
            <a:r>
              <a:rPr sz="1575" b="0">
                <a:solidFill>
                  <a:srgbClr val="526879"/>
                </a:solidFill>
                <a:latin typeface="DejaVu Sans"/>
                <a:ea typeface="DejaVu Sans"/>
                <a:cs typeface="DejaVu Sans"/>
              </a:rPr>
              <a:t>Residual spatial dependence and no independent test remain limitations.</a:t>
            </a:r>
          </a:p>
        </p:txBody>
      </p:sp>
    </p:spTree>
    <p:extLst>
      <p:ext uri="{BB962C8B-B14F-4D97-AF65-F5344CB8AC3E}">
        <p14:creationId xmlns:p14="http://schemas.microsoft.com/office/powerpoint/2010/main" val="10510016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0FC43C-3673-4B60-9B26-E2CACEF7E16A}"/>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57CF0EB5-E522-446F-80AF-84E50389AFF1}"/>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From map exploration to a field shortlist</a:t>
            </a:r>
          </a:p>
        </p:txBody>
      </p:sp>
      <p:sp>
        <p:nvSpPr>
          <p:cNvPr id="3" name="">
            <a:extLst xmlns:a="http://schemas.openxmlformats.org/drawingml/2006/main">
              <a:ext uri="{FF2B5EF4-FFF2-40B4-BE49-F238E27FC236}">
                <a16:creationId xmlns:a16="http://schemas.microsoft.com/office/drawing/2014/main" id="{C8E3DA81-05A7-4021-8955-60A2053B5F9F}"/>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The Streamlit dashboard supports scenario-based comparison.</a:t>
            </a:r>
          </a:p>
        </p:txBody>
      </p:sp>
      <p:sp>
        <p:nvSpPr>
          <p:cNvPr id="4" name="">
            <a:extLst xmlns:a="http://schemas.openxmlformats.org/drawingml/2006/main">
              <a:ext uri="{FF2B5EF4-FFF2-40B4-BE49-F238E27FC236}">
                <a16:creationId xmlns:a16="http://schemas.microsoft.com/office/drawing/2014/main" id="{C79FA673-50AC-4D10-83F4-3470C4BF0D6C}"/>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E7BC2778-6ECD-4F7E-9202-02760BD04974}"/>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06 / 08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f2eaff3e5294bf5"/>
          <a:stretch xmlns:a="http://schemas.openxmlformats.org/drawingml/2006/main"/>
        </p:blipFill>
        <p:spPr>
          <a:xfrm xmlns:a="http://schemas.openxmlformats.org/drawingml/2006/main">
            <a:off x="7784074" y="2552700"/>
            <a:ext cx="2767476"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D0BDD2D-6BA3-4901-9519-46D81A76DC70}"/>
              </a:ext>
            </a:extLst>
          </p:cNvPr>
          <p:cNvSpPr>
            <a:spLocks xmlns:a="http://schemas.openxmlformats.org/drawingml/2006/main" noGrp="1"/>
          </p:cNvSpPr>
          <p:nvPr/>
        </p:nvSpPr>
        <p:spPr>
          <a:xfrm xmlns:a="http://schemas.openxmlformats.org/drawingml/2006/main">
            <a:off x="609600" y="28670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E44"/>
                </a:solidFill>
                <a:latin typeface="DejaVu Sans"/>
                <a:ea typeface="DejaVu Sans"/>
                <a:cs typeface="DejaVu Sans"/>
              </a:defRPr>
            </a:pPr>
            <a:r>
              <a:rPr sz="2175" b="1">
                <a:solidFill>
                  <a:srgbClr val="142E44"/>
                </a:solidFill>
                <a:latin typeface="DejaVu Sans"/>
                <a:ea typeface="DejaVu Sans"/>
                <a:cs typeface="DejaVu Sans"/>
              </a:rPr>
              <a:t>1  Select neighborhood</a:t>
            </a:r>
          </a:p>
        </p:txBody>
      </p:sp>
      <p:sp>
        <p:nvSpPr>
          <p:cNvPr id="8" name="">
            <a:extLst xmlns:a="http://schemas.openxmlformats.org/drawingml/2006/main">
              <a:ext uri="{FF2B5EF4-FFF2-40B4-BE49-F238E27FC236}">
                <a16:creationId xmlns:a16="http://schemas.microsoft.com/office/drawing/2014/main" id="{93EE785D-FAA8-4920-A0E6-7806AFE570F6}"/>
              </a:ext>
            </a:extLst>
          </p:cNvPr>
          <p:cNvSpPr>
            <a:spLocks xmlns:a="http://schemas.openxmlformats.org/drawingml/2006/main" noGrp="1"/>
          </p:cNvSpPr>
          <p:nvPr/>
        </p:nvSpPr>
        <p:spPr>
          <a:xfrm xmlns:a="http://schemas.openxmlformats.org/drawingml/2006/main">
            <a:off x="609600" y="35909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E44"/>
                </a:solidFill>
                <a:latin typeface="DejaVu Sans"/>
                <a:ea typeface="DejaVu Sans"/>
                <a:cs typeface="DejaVu Sans"/>
              </a:defRPr>
            </a:pPr>
            <a:r>
              <a:rPr sz="2175" b="1">
                <a:solidFill>
                  <a:srgbClr val="142E44"/>
                </a:solidFill>
                <a:latin typeface="DejaVu Sans"/>
                <a:ea typeface="DejaVu Sans"/>
                <a:cs typeface="DejaVu Sans"/>
              </a:rPr>
              <a:t>2  Adjust the scenario</a:t>
            </a:r>
          </a:p>
        </p:txBody>
      </p:sp>
      <p:sp>
        <p:nvSpPr>
          <p:cNvPr id="9" name="">
            <a:extLst xmlns:a="http://schemas.openxmlformats.org/drawingml/2006/main">
              <a:ext uri="{FF2B5EF4-FFF2-40B4-BE49-F238E27FC236}">
                <a16:creationId xmlns:a16="http://schemas.microsoft.com/office/drawing/2014/main" id="{E0C68CC2-383A-4569-82C4-2950E109B947}"/>
              </a:ext>
            </a:extLst>
          </p:cNvPr>
          <p:cNvSpPr>
            <a:spLocks xmlns:a="http://schemas.openxmlformats.org/drawingml/2006/main" noGrp="1"/>
          </p:cNvSpPr>
          <p:nvPr/>
        </p:nvSpPr>
        <p:spPr>
          <a:xfrm xmlns:a="http://schemas.openxmlformats.org/drawingml/2006/main">
            <a:off x="609600" y="4314825"/>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E44"/>
                </a:solidFill>
                <a:latin typeface="DejaVu Sans"/>
                <a:ea typeface="DejaVu Sans"/>
                <a:cs typeface="DejaVu Sans"/>
              </a:defRPr>
            </a:pPr>
            <a:r>
              <a:rPr sz="2175" b="1">
                <a:solidFill>
                  <a:srgbClr val="142E44"/>
                </a:solidFill>
                <a:latin typeface="DejaVu Sans"/>
                <a:ea typeface="DejaVu Sans"/>
                <a:cs typeface="DejaVu Sans"/>
              </a:rPr>
              <a:t>3  Inspect scores and warnings</a:t>
            </a:r>
          </a:p>
        </p:txBody>
      </p:sp>
      <p:sp>
        <p:nvSpPr>
          <p:cNvPr id="10" name="">
            <a:extLst xmlns:a="http://schemas.openxmlformats.org/drawingml/2006/main">
              <a:ext uri="{FF2B5EF4-FFF2-40B4-BE49-F238E27FC236}">
                <a16:creationId xmlns:a16="http://schemas.microsoft.com/office/drawing/2014/main" id="{725DCCB7-38AF-4378-8DCB-3EF33F64D278}"/>
              </a:ext>
            </a:extLst>
          </p:cNvPr>
          <p:cNvSpPr>
            <a:spLocks xmlns:a="http://schemas.openxmlformats.org/drawingml/2006/main" noGrp="1"/>
          </p:cNvSpPr>
          <p:nvPr/>
        </p:nvSpPr>
        <p:spPr>
          <a:xfrm xmlns:a="http://schemas.openxmlformats.org/drawingml/2006/main">
            <a:off x="609600" y="50387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E44"/>
                </a:solidFill>
                <a:latin typeface="DejaVu Sans"/>
                <a:ea typeface="DejaVu Sans"/>
                <a:cs typeface="DejaVu Sans"/>
              </a:defRPr>
            </a:pPr>
            <a:r>
              <a:rPr sz="2025" b="1">
                <a:solidFill>
                  <a:srgbClr val="142E44"/>
                </a:solidFill>
                <a:latin typeface="DejaVu Sans"/>
                <a:ea typeface="DejaVu Sans"/>
                <a:cs typeface="DejaVu Sans"/>
              </a:rPr>
              <a:t>4  Check rent, footfall and fit on site</a:t>
            </a:r>
          </a:p>
        </p:txBody>
      </p:sp>
      <p:sp>
        <p:nvSpPr>
          <p:cNvPr id="11" name="">
            <a:extLst xmlns:a="http://schemas.openxmlformats.org/drawingml/2006/main">
              <a:ext uri="{FF2B5EF4-FFF2-40B4-BE49-F238E27FC236}">
                <a16:creationId xmlns:a16="http://schemas.microsoft.com/office/drawing/2014/main" id="{6BF57124-C131-42A2-9369-7825410EEAAA}"/>
              </a:ext>
            </a:extLst>
          </p:cNvPr>
          <p:cNvSpPr>
            <a:spLocks xmlns:a="http://schemas.openxmlformats.org/drawingml/2006/main" noGrp="1"/>
          </p:cNvSpPr>
          <p:nvPr/>
        </p:nvSpPr>
        <p:spPr>
          <a:xfrm xmlns:a="http://schemas.openxmlformats.org/drawingml/2006/main">
            <a:off x="7153275" y="5857875"/>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879"/>
                </a:solidFill>
                <a:latin typeface="DejaVu Sans"/>
                <a:ea typeface="DejaVu Sans"/>
                <a:cs typeface="DejaVu Sans"/>
              </a:defRPr>
            </a:pPr>
            <a:r>
              <a:rPr sz="1350" b="0">
                <a:solidFill>
                  <a:srgbClr val="526879"/>
                </a:solidFill>
                <a:latin typeface="DejaVu Sans"/>
                <a:ea typeface="DejaVu Sans"/>
                <a:cs typeface="DejaVu Sans"/>
              </a:rPr>
              <a:t>Legacy repository map example; illustrative only.</a:t>
            </a:r>
          </a:p>
        </p:txBody>
      </p:sp>
    </p:spTree>
    <p:extLst>
      <p:ext uri="{BB962C8B-B14F-4D97-AF65-F5344CB8AC3E}">
        <p14:creationId xmlns:p14="http://schemas.microsoft.com/office/powerpoint/2010/main" val="9297113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CCBB24-4512-41AE-9F86-F8C1491D1FDC}"/>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238CABD1-6CEB-489D-979C-8EA0F98BD4A5}"/>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42E44"/>
                </a:solidFill>
                <a:latin typeface="DejaVu Sans"/>
                <a:ea typeface="DejaVu Sans"/>
                <a:cs typeface="DejaVu Sans"/>
              </a:defRPr>
            </a:pPr>
            <a:r>
              <a:rPr sz="3450" b="1">
                <a:solidFill>
                  <a:srgbClr val="142E44"/>
                </a:solidFill>
                <a:latin typeface="DejaVu Sans"/>
                <a:ea typeface="DejaVu Sans"/>
                <a:cs typeface="DejaVu Sans"/>
              </a:rPr>
              <a:t>A working prototype with clear limits</a:t>
            </a:r>
          </a:p>
        </p:txBody>
      </p:sp>
      <p:sp>
        <p:nvSpPr>
          <p:cNvPr id="3" name="">
            <a:extLst xmlns:a="http://schemas.openxmlformats.org/drawingml/2006/main">
              <a:ext uri="{FF2B5EF4-FFF2-40B4-BE49-F238E27FC236}">
                <a16:creationId xmlns:a16="http://schemas.microsoft.com/office/drawing/2014/main" id="{1070D95D-4D2E-4C14-9DF5-45E056B250ED}"/>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Local Streamlit app; Docker configuration; no verified public production URL.</a:t>
            </a:r>
          </a:p>
        </p:txBody>
      </p:sp>
      <p:sp>
        <p:nvSpPr>
          <p:cNvPr id="4" name="">
            <a:extLst xmlns:a="http://schemas.openxmlformats.org/drawingml/2006/main">
              <a:ext uri="{FF2B5EF4-FFF2-40B4-BE49-F238E27FC236}">
                <a16:creationId xmlns:a16="http://schemas.microsoft.com/office/drawing/2014/main" id="{0944581C-E505-44F5-A1E5-29B61734B11B}"/>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FE545BB6-7F60-4640-A629-B8E14AFF19F9}"/>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07 / 08</a:t>
            </a:r>
          </a:p>
        </p:txBody>
      </p:sp>
      <p:sp>
        <p:nvSpPr>
          <p:cNvPr id="6" name="">
            <a:extLst xmlns:a="http://schemas.openxmlformats.org/drawingml/2006/main">
              <a:ext uri="{FF2B5EF4-FFF2-40B4-BE49-F238E27FC236}">
                <a16:creationId xmlns:a16="http://schemas.microsoft.com/office/drawing/2014/main" id="{508897FD-533B-4DE3-9835-523BCB1C4290}"/>
              </a:ext>
            </a:extLst>
          </p:cNvPr>
          <p:cNvSpPr>
            <a:spLocks xmlns:a="http://schemas.openxmlformats.org/drawingml/2006/main" noGrp="1"/>
          </p:cNvSpPr>
          <p:nvPr/>
        </p:nvSpPr>
        <p:spPr>
          <a:xfrm xmlns:a="http://schemas.openxmlformats.org/drawingml/2006/main">
            <a:off x="609600" y="30480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Verified technical baseline</a:t>
            </a:r>
          </a:p>
        </p:txBody>
      </p:sp>
      <p:sp>
        <p:nvSpPr>
          <p:cNvPr id="7" name="">
            <a:extLst xmlns:a="http://schemas.openxmlformats.org/drawingml/2006/main">
              <a:ext uri="{FF2B5EF4-FFF2-40B4-BE49-F238E27FC236}">
                <a16:creationId xmlns:a16="http://schemas.microsoft.com/office/drawing/2014/main" id="{6CF9C8DF-2C6D-4095-A2FA-3D59F32153DA}"/>
              </a:ext>
            </a:extLst>
          </p:cNvPr>
          <p:cNvSpPr>
            <a:spLocks xmlns:a="http://schemas.openxmlformats.org/drawingml/2006/main" noGrp="1"/>
          </p:cNvSpPr>
          <p:nvPr/>
        </p:nvSpPr>
        <p:spPr>
          <a:xfrm xmlns:a="http://schemas.openxmlformats.org/drawingml/2006/main">
            <a:off x="609600" y="3705225"/>
            <a:ext cx="5238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142E44"/>
                </a:solidFill>
                <a:latin typeface="DejaVu Sans"/>
                <a:ea typeface="DejaVu Sans"/>
                <a:cs typeface="DejaVu Sans"/>
              </a:defRPr>
            </a:pPr>
            <a:r>
              <a:rPr sz="1875" b="0">
                <a:solidFill>
                  <a:srgbClr val="142E44"/>
                </a:solidFill>
                <a:latin typeface="DejaVu Sans"/>
                <a:ea typeface="DejaVu Sans"/>
                <a:cs typeface="DejaVu Sans"/>
              </a:rPr>
              <a:t>Updated scoring and UI flows</a:t>
            </a:r>
          </a:p>
          <a:p xmlns:a="http://schemas.openxmlformats.org/drawingml/2006/main">
            <a:pPr algn="l">
              <a:buNone/>
              <a:defRPr sz="1875" b="0">
                <a:solidFill>
                  <a:srgbClr val="142E44"/>
                </a:solidFill>
                <a:latin typeface="DejaVu Sans"/>
                <a:ea typeface="DejaVu Sans"/>
                <a:cs typeface="DejaVu Sans"/>
              </a:defRPr>
            </a:pPr>
            <a:r>
              <a:rPr sz="1875" b="0">
                <a:solidFill>
                  <a:srgbClr val="142E44"/>
                </a:solidFill>
                <a:latin typeface="DejaVu Sans"/>
                <a:ea typeface="DejaVu Sans"/>
                <a:cs typeface="DejaVu Sans"/>
              </a:rPr>
              <a:t>Conditional density bonus</a:t>
            </a:r>
          </a:p>
          <a:p xmlns:a="http://schemas.openxmlformats.org/drawingml/2006/main">
            <a:pPr algn="l">
              <a:buNone/>
              <a:defRPr sz="1875" b="0">
                <a:solidFill>
                  <a:srgbClr val="142E44"/>
                </a:solidFill>
                <a:latin typeface="DejaVu Sans"/>
                <a:ea typeface="DejaVu Sans"/>
                <a:cs typeface="DejaVu Sans"/>
              </a:defRPr>
            </a:pPr>
            <a:r>
              <a:rPr sz="1875" b="0">
                <a:solidFill>
                  <a:srgbClr val="142E44"/>
                </a:solidFill>
                <a:latin typeface="DejaVu Sans"/>
                <a:ea typeface="DejaVu Sans"/>
                <a:cs typeface="DejaVu Sans"/>
              </a:rPr>
              <a:t>47 tests passed locally</a:t>
            </a:r>
          </a:p>
        </p:txBody>
      </p:sp>
      <p:sp>
        <p:nvSpPr>
          <p:cNvPr id="8" name="">
            <a:extLst xmlns:a="http://schemas.openxmlformats.org/drawingml/2006/main">
              <a:ext uri="{FF2B5EF4-FFF2-40B4-BE49-F238E27FC236}">
                <a16:creationId xmlns:a16="http://schemas.microsoft.com/office/drawing/2014/main" id="{BE291029-7633-458C-A6D9-697311BCE085}"/>
              </a:ext>
            </a:extLst>
          </p:cNvPr>
          <p:cNvSpPr>
            <a:spLocks xmlns:a="http://schemas.openxmlformats.org/drawingml/2006/main" noGrp="1"/>
          </p:cNvSpPr>
          <p:nvPr/>
        </p:nvSpPr>
        <p:spPr>
          <a:xfrm xmlns:a="http://schemas.openxmlformats.org/drawingml/2006/main">
            <a:off x="6705600" y="304800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Interpret with care</a:t>
            </a:r>
          </a:p>
        </p:txBody>
      </p:sp>
      <p:sp>
        <p:nvSpPr>
          <p:cNvPr id="9" name="">
            <a:extLst xmlns:a="http://schemas.openxmlformats.org/drawingml/2006/main">
              <a:ext uri="{FF2B5EF4-FFF2-40B4-BE49-F238E27FC236}">
                <a16:creationId xmlns:a16="http://schemas.microsoft.com/office/drawing/2014/main" id="{5739A4DC-D039-45F6-B9E1-4D0ABDC295B3}"/>
              </a:ext>
            </a:extLst>
          </p:cNvPr>
          <p:cNvSpPr>
            <a:spLocks xmlns:a="http://schemas.openxmlformats.org/drawingml/2006/main" noGrp="1"/>
          </p:cNvSpPr>
          <p:nvPr/>
        </p:nvSpPr>
        <p:spPr>
          <a:xfrm xmlns:a="http://schemas.openxmlformats.org/drawingml/2006/main">
            <a:off x="6705600" y="3705225"/>
            <a:ext cx="4857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E44"/>
                </a:solidFill>
                <a:latin typeface="DejaVu Sans"/>
                <a:ea typeface="DejaVu Sans"/>
                <a:cs typeface="DejaVu Sans"/>
              </a:defRPr>
            </a:pPr>
            <a:r>
              <a:rPr sz="1875" b="0">
                <a:solidFill>
                  <a:srgbClr val="142E44"/>
                </a:solidFill>
                <a:latin typeface="DejaVu Sans"/>
                <a:ea typeface="DejaVu Sans"/>
                <a:cs typeface="DejaVu Sans"/>
              </a:rPr>
              <a:t>Indirect access indicators</a:t>
            </a:r>
          </a:p>
          <a:p xmlns:a="http://schemas.openxmlformats.org/drawingml/2006/main">
            <a:pPr>
              <a:buNone/>
              <a:defRPr sz="1875" b="0">
                <a:solidFill>
                  <a:srgbClr val="142E44"/>
                </a:solidFill>
                <a:latin typeface="DejaVu Sans"/>
                <a:ea typeface="DejaVu Sans"/>
                <a:cs typeface="DejaVu Sans"/>
              </a:defRPr>
            </a:pPr>
            <a:r>
              <a:rPr sz="1875" b="0">
                <a:solidFill>
                  <a:srgbClr val="142E44"/>
                </a:solidFill>
                <a:latin typeface="DejaVu Sans"/>
                <a:ea typeface="DejaVu Sans"/>
                <a:cs typeface="DejaVu Sans"/>
              </a:rPr>
              <a:t>Incomplete and legacy data layers</a:t>
            </a:r>
          </a:p>
          <a:p xmlns:a="http://schemas.openxmlformats.org/drawingml/2006/main">
            <a:pPr>
              <a:buNone/>
              <a:defRPr sz="1875" b="0">
                <a:solidFill>
                  <a:srgbClr val="142E44"/>
                </a:solidFill>
                <a:latin typeface="DejaVu Sans"/>
                <a:ea typeface="DejaVu Sans"/>
                <a:cs typeface="DejaVu Sans"/>
              </a:defRPr>
            </a:pPr>
            <a:r>
              <a:rPr sz="1875" b="0">
                <a:solidFill>
                  <a:srgbClr val="142E44"/>
                </a:solidFill>
                <a:latin typeface="DejaVu Sans"/>
                <a:ea typeface="DejaVu Sans"/>
                <a:cs typeface="DejaVu Sans"/>
              </a:rPr>
              <a:t>No profit labels or measured time saving</a:t>
            </a:r>
          </a:p>
        </p:txBody>
      </p:sp>
      <p:sp>
        <p:nvSpPr>
          <p:cNvPr id="10" name="">
            <a:extLst xmlns:a="http://schemas.openxmlformats.org/drawingml/2006/main">
              <a:ext uri="{FF2B5EF4-FFF2-40B4-BE49-F238E27FC236}">
                <a16:creationId xmlns:a16="http://schemas.microsoft.com/office/drawing/2014/main" id="{A45A6CF0-43AA-47F4-8C7C-166EA76E3F1A}"/>
              </a:ext>
            </a:extLst>
          </p:cNvPr>
          <p:cNvSpPr>
            <a:spLocks xmlns:a="http://schemas.openxmlformats.org/drawingml/2006/main" noGrp="1"/>
          </p:cNvSpPr>
          <p:nvPr/>
        </p:nvSpPr>
        <p:spPr>
          <a:xfrm xmlns:a="http://schemas.openxmlformats.org/drawingml/2006/main">
            <a:off x="609600" y="580072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526879"/>
                </a:solidFill>
                <a:latin typeface="DejaVu Sans"/>
                <a:ea typeface="DejaVu Sans"/>
                <a:cs typeface="DejaVu Sans"/>
              </a:defRPr>
            </a:pPr>
            <a:r>
              <a:rPr sz="1500" b="0">
                <a:solidFill>
                  <a:srgbClr val="526879"/>
                </a:solidFill>
                <a:latin typeface="DejaVu Sans"/>
                <a:ea typeface="DejaVu Sans"/>
                <a:cs typeface="DejaVu Sans"/>
              </a:rPr>
              <a:t>Next validation: compare shortlist time and quality in a user pilot.</a:t>
            </a:r>
          </a:p>
        </p:txBody>
      </p:sp>
    </p:spTree>
    <p:extLst>
      <p:ext uri="{BB962C8B-B14F-4D97-AF65-F5344CB8AC3E}">
        <p14:creationId xmlns:p14="http://schemas.microsoft.com/office/powerpoint/2010/main" val="13514894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AD3F79-C5B9-4164-BCDA-D4728B970A76}"/>
              </a:ext>
            </a:extLst>
          </p:cNvPr>
          <p:cNvSpPr>
            <a:spLocks xmlns:a="http://schemas.openxmlformats.org/drawingml/2006/main" noGrp="1"/>
          </p:cNvSpPr>
          <p:nvPr/>
        </p:nvSpPr>
        <p:spPr>
          <a:xfrm xmlns:a="http://schemas.openxmlformats.org/drawingml/2006/main">
            <a:off x="609600" y="304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67AAB"/>
                </a:solidFill>
                <a:latin typeface="DejaVu Sans"/>
                <a:ea typeface="DejaVu Sans"/>
                <a:cs typeface="DejaVu Sans"/>
              </a:defRPr>
            </a:pPr>
            <a:r>
              <a:rPr sz="1350" b="1">
                <a:solidFill>
                  <a:srgbClr val="167AAB"/>
                </a:solidFill>
                <a:latin typeface="DejaVu Sans"/>
                <a:ea typeface="DejaVu Sans"/>
                <a:cs typeface="DejaVu Sans"/>
              </a:rPr>
              <a:t>SAMSUNG INNOVATION CAMPUS  /  AI IN MARKETING</a:t>
            </a:r>
          </a:p>
        </p:txBody>
      </p:sp>
      <p:sp>
        <p:nvSpPr>
          <p:cNvPr id="2" name="">
            <a:extLst xmlns:a="http://schemas.openxmlformats.org/drawingml/2006/main">
              <a:ext uri="{FF2B5EF4-FFF2-40B4-BE49-F238E27FC236}">
                <a16:creationId xmlns:a16="http://schemas.microsoft.com/office/drawing/2014/main" id="{55C98570-84AA-41B2-A9FB-428357F88FCE}"/>
              </a:ext>
            </a:extLst>
          </p:cNvPr>
          <p:cNvSpPr>
            <a:spLocks xmlns:a="http://schemas.openxmlformats.org/drawingml/2006/main" noGrp="1"/>
          </p:cNvSpPr>
          <p:nvPr/>
        </p:nvSpPr>
        <p:spPr>
          <a:xfrm xmlns:a="http://schemas.openxmlformats.org/drawingml/2006/main">
            <a:off x="609600" y="952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000" b="1">
                <a:solidFill>
                  <a:srgbClr val="142E44"/>
                </a:solidFill>
                <a:latin typeface="DejaVu Sans"/>
                <a:ea typeface="DejaVu Sans"/>
                <a:cs typeface="DejaVu Sans"/>
              </a:defRPr>
            </a:pPr>
            <a:r>
              <a:rPr sz="3000" b="1">
                <a:solidFill>
                  <a:srgbClr val="142E44"/>
                </a:solidFill>
                <a:latin typeface="DejaVu Sans"/>
                <a:ea typeface="DejaVu Sans"/>
                <a:cs typeface="DejaVu Sans"/>
              </a:rPr>
              <a:t>Connection to UN Sustainable Development Goals</a:t>
            </a:r>
          </a:p>
        </p:txBody>
      </p:sp>
      <p:sp>
        <p:nvSpPr>
          <p:cNvPr id="3" name="">
            <a:extLst xmlns:a="http://schemas.openxmlformats.org/drawingml/2006/main">
              <a:ext uri="{FF2B5EF4-FFF2-40B4-BE49-F238E27FC236}">
                <a16:creationId xmlns:a16="http://schemas.microsoft.com/office/drawing/2014/main" id="{391F5921-16E4-4D3E-B2B1-0D2B49108EF1}"/>
              </a:ext>
            </a:extLst>
          </p:cNvPr>
          <p:cNvSpPr>
            <a:spLocks xmlns:a="http://schemas.openxmlformats.org/drawingml/2006/main" noGrp="1"/>
          </p:cNvSpPr>
          <p:nvPr/>
        </p:nvSpPr>
        <p:spPr>
          <a:xfrm xmlns:a="http://schemas.openxmlformats.org/drawingml/2006/main">
            <a:off x="609600" y="19431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526879"/>
                </a:solidFill>
                <a:latin typeface="DejaVu Sans"/>
                <a:ea typeface="DejaVu Sans"/>
                <a:cs typeface="DejaVu Sans"/>
              </a:defRPr>
            </a:pPr>
            <a:r>
              <a:rPr sz="1800" b="0">
                <a:solidFill>
                  <a:srgbClr val="526879"/>
                </a:solidFill>
                <a:latin typeface="DejaVu Sans"/>
                <a:ea typeface="DejaVu Sans"/>
                <a:cs typeface="DejaVu Sans"/>
              </a:rPr>
              <a:t>Design intentions. Sustainability outcomes still need measurement.</a:t>
            </a:r>
          </a:p>
        </p:txBody>
      </p:sp>
      <p:sp>
        <p:nvSpPr>
          <p:cNvPr id="4" name="">
            <a:extLst xmlns:a="http://schemas.openxmlformats.org/drawingml/2006/main">
              <a:ext uri="{FF2B5EF4-FFF2-40B4-BE49-F238E27FC236}">
                <a16:creationId xmlns:a16="http://schemas.microsoft.com/office/drawing/2014/main" id="{868BDDC3-0A04-4E58-B958-8088089490B2}"/>
              </a:ext>
            </a:extLst>
          </p:cNvPr>
          <p:cNvSpPr>
            <a:spLocks xmlns:a="http://schemas.openxmlformats.org/drawingml/2006/main" noGrp="1"/>
          </p:cNvSpPr>
          <p:nvPr/>
        </p:nvSpPr>
        <p:spPr>
          <a:xfrm xmlns:a="http://schemas.openxmlformats.org/drawingml/2006/main">
            <a:off x="609600" y="63436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Retail Location Intelligence  •  Group 6</a:t>
            </a:r>
          </a:p>
        </p:txBody>
      </p:sp>
      <p:sp>
        <p:nvSpPr>
          <p:cNvPr id="5" name="">
            <a:extLst xmlns:a="http://schemas.openxmlformats.org/drawingml/2006/main">
              <a:ext uri="{FF2B5EF4-FFF2-40B4-BE49-F238E27FC236}">
                <a16:creationId xmlns:a16="http://schemas.microsoft.com/office/drawing/2014/main" id="{9DCC2EF6-E1E9-43AC-A9DE-12A9342517A0}"/>
              </a:ext>
            </a:extLst>
          </p:cNvPr>
          <p:cNvSpPr>
            <a:spLocks xmlns:a="http://schemas.openxmlformats.org/drawingml/2006/main" noGrp="1"/>
          </p:cNvSpPr>
          <p:nvPr/>
        </p:nvSpPr>
        <p:spPr>
          <a:xfrm xmlns:a="http://schemas.openxmlformats.org/drawingml/2006/main">
            <a:off x="10572750" y="6343650"/>
            <a:ext cx="1009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879"/>
                </a:solidFill>
                <a:latin typeface="DejaVu Sans"/>
                <a:ea typeface="DejaVu Sans"/>
                <a:cs typeface="DejaVu Sans"/>
              </a:defRPr>
            </a:pPr>
            <a:r>
              <a:rPr sz="1200" b="0">
                <a:solidFill>
                  <a:srgbClr val="526879"/>
                </a:solidFill>
                <a:latin typeface="DejaVu Sans"/>
                <a:ea typeface="DejaVu Sans"/>
                <a:cs typeface="DejaVu Sans"/>
              </a:rPr>
              <a:t>08 / 08</a:t>
            </a:r>
          </a:p>
        </p:txBody>
      </p:sp>
      <p:sp>
        <p:nvSpPr>
          <p:cNvPr id="6" name="">
            <a:extLst xmlns:a="http://schemas.openxmlformats.org/drawingml/2006/main">
              <a:ext uri="{FF2B5EF4-FFF2-40B4-BE49-F238E27FC236}">
                <a16:creationId xmlns:a16="http://schemas.microsoft.com/office/drawing/2014/main" id="{64ABD621-153B-449D-9CE3-077EB23351E1}"/>
              </a:ext>
            </a:extLst>
          </p:cNvPr>
          <p:cNvSpPr>
            <a:spLocks xmlns:a="http://schemas.openxmlformats.org/drawingml/2006/main" noGrp="1"/>
          </p:cNvSpPr>
          <p:nvPr/>
        </p:nvSpPr>
        <p:spPr>
          <a:xfrm xmlns:a="http://schemas.openxmlformats.org/drawingml/2006/main">
            <a:off x="609600" y="310515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SDG 3 and SDG 8</a:t>
            </a:r>
          </a:p>
        </p:txBody>
      </p:sp>
      <p:sp>
        <p:nvSpPr>
          <p:cNvPr id="7" name="">
            <a:extLst xmlns:a="http://schemas.openxmlformats.org/drawingml/2006/main">
              <a:ext uri="{FF2B5EF4-FFF2-40B4-BE49-F238E27FC236}">
                <a16:creationId xmlns:a16="http://schemas.microsoft.com/office/drawing/2014/main" id="{640F3200-26D6-4052-AA21-56D8C6B48463}"/>
              </a:ext>
            </a:extLst>
          </p:cNvPr>
          <p:cNvSpPr>
            <a:spLocks xmlns:a="http://schemas.openxmlformats.org/drawingml/2006/main" noGrp="1"/>
          </p:cNvSpPr>
          <p:nvPr/>
        </p:nvSpPr>
        <p:spPr>
          <a:xfrm xmlns:a="http://schemas.openxmlformats.org/drawingml/2006/main">
            <a:off x="609600" y="3762375"/>
            <a:ext cx="52863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3  Good Health and Well-being</a:t>
            </a:r>
          </a:p>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Accessible social places near parks</a:t>
            </a:r>
          </a:p>
          <a:p xmlns:a="http://schemas.openxmlformats.org/drawingml/2006/main">
            <a:pPr>
              <a:buNone/>
              <a:defRPr sz="2025" b="0">
                <a:solidFill>
                  <a:srgbClr val="142E44"/>
                </a:solidFill>
                <a:latin typeface="DejaVu Sans"/>
                <a:ea typeface="DejaVu Sans"/>
                <a:cs typeface="DejaVu Sans"/>
              </a:defRPr>
            </a:pPr>
            <a:r>
              <a:rPr sz="2025" b="0">
                <a:solidFill>
                  <a:srgbClr val="142E44"/>
                </a:solidFill>
                <a:latin typeface="DejaVu Sans"/>
                <a:ea typeface="DejaVu Sans"/>
                <a:cs typeface="DejaVu Sans"/>
              </a:rPr>
              <a:t/>
            </a:r>
          </a:p>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8  Decent Work and Economic Growth</a:t>
            </a:r>
          </a:p>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Better-informed local business planning</a:t>
            </a:r>
          </a:p>
        </p:txBody>
      </p:sp>
      <p:sp>
        <p:nvSpPr>
          <p:cNvPr id="8" name="">
            <a:extLst xmlns:a="http://schemas.openxmlformats.org/drawingml/2006/main">
              <a:ext uri="{FF2B5EF4-FFF2-40B4-BE49-F238E27FC236}">
                <a16:creationId xmlns:a16="http://schemas.microsoft.com/office/drawing/2014/main" id="{F3A28255-CAD7-46DB-BE8C-119FC12013BD}"/>
              </a:ext>
            </a:extLst>
          </p:cNvPr>
          <p:cNvSpPr>
            <a:spLocks xmlns:a="http://schemas.openxmlformats.org/drawingml/2006/main" noGrp="1"/>
          </p:cNvSpPr>
          <p:nvPr/>
        </p:nvSpPr>
        <p:spPr>
          <a:xfrm xmlns:a="http://schemas.openxmlformats.org/drawingml/2006/main">
            <a:off x="6705600" y="31051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1">
                <a:solidFill>
                  <a:srgbClr val="167AAB"/>
                </a:solidFill>
                <a:latin typeface="DejaVu Sans"/>
                <a:ea typeface="DejaVu Sans"/>
                <a:cs typeface="DejaVu Sans"/>
              </a:defRPr>
            </a:pPr>
            <a:r>
              <a:rPr sz="2250" b="1">
                <a:solidFill>
                  <a:srgbClr val="167AAB"/>
                </a:solidFill>
                <a:latin typeface="DejaVu Sans"/>
                <a:ea typeface="DejaVu Sans"/>
                <a:cs typeface="DejaVu Sans"/>
              </a:rPr>
              <a:t>SDG 11</a:t>
            </a:r>
          </a:p>
        </p:txBody>
      </p:sp>
      <p:sp>
        <p:nvSpPr>
          <p:cNvPr id="9" name="">
            <a:extLst xmlns:a="http://schemas.openxmlformats.org/drawingml/2006/main">
              <a:ext uri="{FF2B5EF4-FFF2-40B4-BE49-F238E27FC236}">
                <a16:creationId xmlns:a16="http://schemas.microsoft.com/office/drawing/2014/main" id="{2473FB38-3D5B-4717-B951-D1041449F5F6}"/>
              </a:ext>
            </a:extLst>
          </p:cNvPr>
          <p:cNvSpPr>
            <a:spLocks xmlns:a="http://schemas.openxmlformats.org/drawingml/2006/main" noGrp="1"/>
          </p:cNvSpPr>
          <p:nvPr/>
        </p:nvSpPr>
        <p:spPr>
          <a:xfrm xmlns:a="http://schemas.openxmlformats.org/drawingml/2006/main">
            <a:off x="6705600" y="3762375"/>
            <a:ext cx="48577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Sustainable Cities and Communities</a:t>
            </a:r>
          </a:p>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Consider public transport, parks</a:t>
            </a:r>
          </a:p>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and neighborhood access</a:t>
            </a:r>
          </a:p>
          <a:p xmlns:a="http://schemas.openxmlformats.org/drawingml/2006/main">
            <a:pPr>
              <a:buNone/>
              <a:defRPr sz="2025" b="0">
                <a:solidFill>
                  <a:srgbClr val="142E44"/>
                </a:solidFill>
                <a:latin typeface="DejaVu Sans"/>
                <a:ea typeface="DejaVu Sans"/>
                <a:cs typeface="DejaVu Sans"/>
              </a:defRPr>
            </a:pPr>
            <a:r>
              <a:rPr sz="2025" b="0">
                <a:solidFill>
                  <a:srgbClr val="142E44"/>
                </a:solidFill>
                <a:latin typeface="DejaVu Sans"/>
                <a:ea typeface="DejaVu Sans"/>
                <a:cs typeface="DejaVu Sans"/>
              </a:rPr>
              <a:t/>
            </a:r>
          </a:p>
          <a:p xmlns:a="http://schemas.openxmlformats.org/drawingml/2006/main">
            <a:pPr algn="l">
              <a:buNone/>
              <a:defRPr sz="1650" b="0">
                <a:solidFill>
                  <a:srgbClr val="142E44"/>
                </a:solidFill>
                <a:latin typeface="DejaVu Sans"/>
                <a:ea typeface="DejaVu Sans"/>
                <a:cs typeface="DejaVu Sans"/>
              </a:defRPr>
            </a:pPr>
            <a:r>
              <a:rPr sz="1650" b="0">
                <a:solidFill>
                  <a:srgbClr val="142E44"/>
                </a:solidFill>
                <a:latin typeface="DejaVu Sans"/>
                <a:ea typeface="DejaVu Sans"/>
                <a:cs typeface="DejaVu Sans"/>
              </a:rPr>
              <a:t>Safety and resilience need further data</a:t>
            </a:r>
          </a:p>
        </p:txBody>
      </p:sp>
      <p:sp>
        <p:nvSpPr>
          <p:cNvPr id="10" name="">
            <a:extLst xmlns:a="http://schemas.openxmlformats.org/drawingml/2006/main">
              <a:ext uri="{FF2B5EF4-FFF2-40B4-BE49-F238E27FC236}">
                <a16:creationId xmlns:a16="http://schemas.microsoft.com/office/drawing/2014/main" id="{C611C6F2-D379-43BB-8A19-473C5102B6CF}"/>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1">
                <a:solidFill>
                  <a:srgbClr val="142E44"/>
                </a:solidFill>
                <a:latin typeface="DejaVu Sans"/>
                <a:ea typeface="DejaVu Sans"/>
                <a:cs typeface="DejaVu Sans"/>
              </a:defRPr>
            </a:pPr>
            <a:r>
              <a:rPr sz="1725" b="1">
                <a:solidFill>
                  <a:srgbClr val="142E44"/>
                </a:solidFill>
                <a:latin typeface="DejaVu Sans"/>
                <a:ea typeface="DejaVu Sans"/>
                <a:cs typeface="DejaVu Sans"/>
              </a:rPr>
              <a:t>Health, employment and urban outcomes have not been measured.</a:t>
            </a:r>
          </a:p>
        </p:txBody>
      </p:sp>
    </p:spTree>
    <p:extLst>
      <p:ext uri="{BB962C8B-B14F-4D97-AF65-F5344CB8AC3E}">
        <p14:creationId xmlns:p14="http://schemas.microsoft.com/office/powerpoint/2010/main" val="2092316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2026-10-07T14:48:38.3930000Z</dcterms:created>
  <dcterms:modified xsi:type="dcterms:W3CDTF">2026-10-07T14:48:38.3930000Z</dcterms:modified>
</coreProperties>
</file>