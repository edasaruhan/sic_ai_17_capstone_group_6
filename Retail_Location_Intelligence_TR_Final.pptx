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12456ec69944a0" /><Relationship Type="http://schemas.openxmlformats.org/officeDocument/2006/relationships/extended-properties" Target="/docProps/app.xml" Id="R28c9d43032784bc7" /><Relationship Type="http://schemas.openxmlformats.org/officeDocument/2006/relationships/officeDocument" Target="/ppt/presentation.xml" Id="R4e372399c3294fcf" /></Relationships>
</file>

<file path=ppt/presentation.xml><?xml version="1.0" encoding="utf-8"?>
<p:presentation xmlns:p="http://schemas.openxmlformats.org/presentationml/2006/main">
  <p:sldMasterIdLst>
    <p:sldMasterId xmlns:r="http://schemas.openxmlformats.org/officeDocument/2006/relationships" id="2147483648" r:id="R853636995a704917"/>
  </p:sldMasterIdLst>
  <p:notesMasterIdLst>
    <p:notesMasterId xmlns:r="http://schemas.openxmlformats.org/officeDocument/2006/relationships" r:id="R9a0c75fc8407447d"/>
  </p:notesMasterIdLst>
  <p:sldIdLst>
    <p:sldId xmlns:r="http://schemas.openxmlformats.org/officeDocument/2006/relationships" id="256" r:id="R111de47b4ceb4730"/>
    <p:sldId xmlns:r="http://schemas.openxmlformats.org/officeDocument/2006/relationships" id="257" r:id="R68c85b3f194d44f4"/>
    <p:sldId xmlns:r="http://schemas.openxmlformats.org/officeDocument/2006/relationships" id="258" r:id="R62e1409bb7594ad6"/>
    <p:sldId xmlns:r="http://schemas.openxmlformats.org/officeDocument/2006/relationships" id="259" r:id="Rd159c0a352204cca"/>
    <p:sldId xmlns:r="http://schemas.openxmlformats.org/officeDocument/2006/relationships" id="260" r:id="Rb7eff7f8eaa44423"/>
    <p:sldId xmlns:r="http://schemas.openxmlformats.org/officeDocument/2006/relationships" id="261" r:id="Re6e29c3003494b12"/>
    <p:sldId xmlns:r="http://schemas.openxmlformats.org/officeDocument/2006/relationships" id="262" r:id="Ra93cf49580c34479"/>
    <p:sldId xmlns:r="http://schemas.openxmlformats.org/officeDocument/2006/relationships" id="263" r:id="R325808e427b94190"/>
    <p:sldId xmlns:r="http://schemas.openxmlformats.org/officeDocument/2006/relationships" id="264" r:id="Rf0a26ff3e9bd456d"/>
    <p:sldId xmlns:r="http://schemas.openxmlformats.org/officeDocument/2006/relationships" id="265" r:id="R74fd767d99384eff"/>
    <p:sldId xmlns:r="http://schemas.openxmlformats.org/officeDocument/2006/relationships" id="266" r:id="Rec40050cfd0b40da"/>
    <p:sldId xmlns:r="http://schemas.openxmlformats.org/officeDocument/2006/relationships" id="267" r:id="Rc1217ce8e722447e"/>
    <p:sldId xmlns:r="http://schemas.openxmlformats.org/officeDocument/2006/relationships" id="268" r:id="R47c932d675174c76"/>
    <p:sldId xmlns:r="http://schemas.openxmlformats.org/officeDocument/2006/relationships" id="269" r:id="R6992f2b12604421e"/>
    <p:sldId xmlns:r="http://schemas.openxmlformats.org/officeDocument/2006/relationships" id="270" r:id="Rad140a3bdd0e43df"/>
    <p:sldId xmlns:r="http://schemas.openxmlformats.org/officeDocument/2006/relationships" id="271" r:id="R215221e45aca40d8"/>
    <p:sldId xmlns:r="http://schemas.openxmlformats.org/officeDocument/2006/relationships" id="272" r:id="R6d5eeb038bfa4bdb"/>
    <p:sldId xmlns:r="http://schemas.openxmlformats.org/officeDocument/2006/relationships" id="273" r:id="R73f38ffc876c4182"/>
    <p:sldId xmlns:r="http://schemas.openxmlformats.org/officeDocument/2006/relationships" id="274" r:id="Rec71727f6a084383"/>
    <p:sldId xmlns:r="http://schemas.openxmlformats.org/officeDocument/2006/relationships" id="275" r:id="Rb6bb2577eec940a2"/>
    <p:sldId xmlns:r="http://schemas.openxmlformats.org/officeDocument/2006/relationships" id="276" r:id="R27f40fc25f5d42c5"/>
    <p:sldId xmlns:r="http://schemas.openxmlformats.org/officeDocument/2006/relationships" id="277" r:id="R621121b1d06f46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49708a7ab417a" /><Relationship Type="http://schemas.openxmlformats.org/officeDocument/2006/relationships/slideMaster" Target="/ppt/slideMasters/slideMaster1.xml" Id="R853636995a704917" /><Relationship Type="http://schemas.openxmlformats.org/officeDocument/2006/relationships/notesMaster" Target="/ppt/notesMasters/notesMaster1.xml" Id="R9a0c75fc8407447d" /><Relationship Type="http://schemas.openxmlformats.org/officeDocument/2006/relationships/presProps" Target="/ppt/presProps.xml" Id="R19573bfe078a47b1" /><Relationship Type="http://schemas.openxmlformats.org/officeDocument/2006/relationships/tableStyles" Target="/ppt/tableStyles.xml" Id="Ra5306b1a03614787" /><Relationship Type="http://schemas.openxmlformats.org/officeDocument/2006/relationships/slide" Target="/ppt/slides/slide1.xml" Id="R111de47b4ceb4730" /><Relationship Type="http://schemas.openxmlformats.org/officeDocument/2006/relationships/slide" Target="/ppt/slides/slide2.xml" Id="R68c85b3f194d44f4" /><Relationship Type="http://schemas.openxmlformats.org/officeDocument/2006/relationships/slide" Target="/ppt/slides/slide3.xml" Id="R62e1409bb7594ad6" /><Relationship Type="http://schemas.openxmlformats.org/officeDocument/2006/relationships/slide" Target="/ppt/slides/slide4.xml" Id="Rd159c0a352204cca" /><Relationship Type="http://schemas.openxmlformats.org/officeDocument/2006/relationships/slide" Target="/ppt/slides/slide5.xml" Id="Rb7eff7f8eaa44423" /><Relationship Type="http://schemas.openxmlformats.org/officeDocument/2006/relationships/slide" Target="/ppt/slides/slide6.xml" Id="Re6e29c3003494b12" /><Relationship Type="http://schemas.openxmlformats.org/officeDocument/2006/relationships/slide" Target="/ppt/slides/slide7.xml" Id="Ra93cf49580c34479" /><Relationship Type="http://schemas.openxmlformats.org/officeDocument/2006/relationships/slide" Target="/ppt/slides/slide8.xml" Id="R325808e427b94190" /><Relationship Type="http://schemas.openxmlformats.org/officeDocument/2006/relationships/slide" Target="/ppt/slides/slide9.xml" Id="Rf0a26ff3e9bd456d" /><Relationship Type="http://schemas.openxmlformats.org/officeDocument/2006/relationships/slide" Target="/ppt/slides/slide10.xml" Id="R74fd767d99384eff" /><Relationship Type="http://schemas.openxmlformats.org/officeDocument/2006/relationships/slide" Target="/ppt/slides/slide11.xml" Id="Rec40050cfd0b40da" /><Relationship Type="http://schemas.openxmlformats.org/officeDocument/2006/relationships/slide" Target="/ppt/slides/slide12.xml" Id="Rc1217ce8e722447e" /><Relationship Type="http://schemas.openxmlformats.org/officeDocument/2006/relationships/slide" Target="/ppt/slides/slide13.xml" Id="R47c932d675174c76" /><Relationship Type="http://schemas.openxmlformats.org/officeDocument/2006/relationships/slide" Target="/ppt/slides/slide14.xml" Id="R6992f2b12604421e" /><Relationship Type="http://schemas.openxmlformats.org/officeDocument/2006/relationships/slide" Target="/ppt/slides/slide15.xml" Id="Rad140a3bdd0e43df" /><Relationship Type="http://schemas.openxmlformats.org/officeDocument/2006/relationships/slide" Target="/ppt/slides/slide16.xml" Id="R215221e45aca40d8" /><Relationship Type="http://schemas.openxmlformats.org/officeDocument/2006/relationships/slide" Target="/ppt/slides/slide17.xml" Id="R6d5eeb038bfa4bdb" /><Relationship Type="http://schemas.openxmlformats.org/officeDocument/2006/relationships/slide" Target="/ppt/slides/slide18.xml" Id="R73f38ffc876c4182" /><Relationship Type="http://schemas.openxmlformats.org/officeDocument/2006/relationships/slide" Target="/ppt/slides/slide19.xml" Id="Rec71727f6a084383" /><Relationship Type="http://schemas.openxmlformats.org/officeDocument/2006/relationships/slide" Target="/ppt/slides/slide20.xml" Id="Rb6bb2577eec940a2" /><Relationship Type="http://schemas.openxmlformats.org/officeDocument/2006/relationships/slide" Target="/ppt/slides/slide21.xml" Id="R27f40fc25f5d42c5" /><Relationship Type="http://schemas.openxmlformats.org/officeDocument/2006/relationships/slide" Target="/ppt/slides/slide22.xml" Id="R621121b1d06f46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6080b100e74a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48d7b083ba47ec" /><Relationship Type="http://schemas.openxmlformats.org/officeDocument/2006/relationships/notesMaster" Target="/ppt/notesMasters/notesMaster1.xml" Id="Rd0c70bf9f85743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327deea40b4025" /><Relationship Type="http://schemas.openxmlformats.org/officeDocument/2006/relationships/notesMaster" Target="/ppt/notesMasters/notesMaster1.xml" Id="Rcf8ec4a3391f4a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0c917b8b5a497b" /><Relationship Type="http://schemas.openxmlformats.org/officeDocument/2006/relationships/notesMaster" Target="/ppt/notesMasters/notesMaster1.xml" Id="R92df2977a51d4f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3f0bfa8c414273" /><Relationship Type="http://schemas.openxmlformats.org/officeDocument/2006/relationships/notesMaster" Target="/ppt/notesMasters/notesMaster1.xml" Id="R592ec1430c4645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d18460d8e24ddb" /><Relationship Type="http://schemas.openxmlformats.org/officeDocument/2006/relationships/notesMaster" Target="/ppt/notesMasters/notesMaster1.xml" Id="R0ba1d496ad7f41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8413e05eb34c52" /><Relationship Type="http://schemas.openxmlformats.org/officeDocument/2006/relationships/notesMaster" Target="/ppt/notesMasters/notesMaster1.xml" Id="R6742a697827246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8f866e209d4d2a" /><Relationship Type="http://schemas.openxmlformats.org/officeDocument/2006/relationships/notesMaster" Target="/ppt/notesMasters/notesMaster1.xml" Id="R3967ee5e55da46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212744f9e741bc" /><Relationship Type="http://schemas.openxmlformats.org/officeDocument/2006/relationships/notesMaster" Target="/ppt/notesMasters/notesMaster1.xml" Id="R50e12f18857448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a8940dd4944240" /><Relationship Type="http://schemas.openxmlformats.org/officeDocument/2006/relationships/notesMaster" Target="/ppt/notesMasters/notesMaster1.xml" Id="R4f6c67e6d0ae44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e15dc013fa4609" /><Relationship Type="http://schemas.openxmlformats.org/officeDocument/2006/relationships/notesMaster" Target="/ppt/notesMasters/notesMaster1.xml" Id="Rd65a49e73cd641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95858ceed74d12" /><Relationship Type="http://schemas.openxmlformats.org/officeDocument/2006/relationships/notesMaster" Target="/ppt/notesMasters/notesMaster1.xml" Id="R93fed64a81b24b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c3ba32fcf64a81" /><Relationship Type="http://schemas.openxmlformats.org/officeDocument/2006/relationships/notesMaster" Target="/ppt/notesMasters/notesMaster1.xml" Id="R61448f98231946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33914be6154ffe" /><Relationship Type="http://schemas.openxmlformats.org/officeDocument/2006/relationships/notesMaster" Target="/ppt/notesMasters/notesMaster1.xml" Id="Rb5ae3f50376849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435a1e4dae4d26" /><Relationship Type="http://schemas.openxmlformats.org/officeDocument/2006/relationships/notesMaster" Target="/ppt/notesMasters/notesMaster1.xml" Id="R2eacf6d4ea2c46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7875e5764c4e29" /><Relationship Type="http://schemas.openxmlformats.org/officeDocument/2006/relationships/notesMaster" Target="/ppt/notesMasters/notesMaster1.xml" Id="R97ab9b83c4a044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77346eb52b4f6f" /><Relationship Type="http://schemas.openxmlformats.org/officeDocument/2006/relationships/notesMaster" Target="/ppt/notesMasters/notesMaster1.xml" Id="R26b22c69e76641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77a4153f294871" /><Relationship Type="http://schemas.openxmlformats.org/officeDocument/2006/relationships/notesMaster" Target="/ppt/notesMasters/notesMaster1.xml" Id="R532b85c4c12c4f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d84525bf9f4085" /><Relationship Type="http://schemas.openxmlformats.org/officeDocument/2006/relationships/notesMaster" Target="/ppt/notesMasters/notesMaster1.xml" Id="R74d4f4088fb542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ecd75f049541d6" /><Relationship Type="http://schemas.openxmlformats.org/officeDocument/2006/relationships/notesMaster" Target="/ppt/notesMasters/notesMaster1.xml" Id="Rc8e20adf91dc42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cf8427303149d1" /><Relationship Type="http://schemas.openxmlformats.org/officeDocument/2006/relationships/notesMaster" Target="/ppt/notesMasters/notesMaster1.xml" Id="R722710f56ceb47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d7256eb22b4374" /><Relationship Type="http://schemas.openxmlformats.org/officeDocument/2006/relationships/notesMaster" Target="/ppt/notesMasters/notesMaster1.xml" Id="Rf6a34e47105e4e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886e76c980a497a" /><Relationship Type="http://schemas.openxmlformats.org/officeDocument/2006/relationships/notesMaster" Target="/ppt/notesMasters/notesMaster1.xml" Id="Rd17afed5fea946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Bugün Retail Location Intelligence projemizi sunuyoruz. Samsung Innovation Campus AI in Marketing Capstone kapsamında, Çankaya’da kafe açmayı düşünen girişimciler için konum odaklı pazar planlama aracı geliştirdik. Kapak görseli yapay zekâyla oluşturulmuş temsili bir kent illüstrasyonudur. Odağımız market-location fit, yani pazar çevresiyle konumun uyumu. Birleşmiş Milletler Sürdürülebilir Kalkınma Amacı 11 ile bağlantımızı da ulaşım ve mahalle erişimini karar sürecinde görünür kılmak üzerinden kuruyoruz.</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kafe girişimcisi lokasyon seçerken çevredeki hareketliliği, ulaşımı, nüfusu ve rakipleri birlikte değerlendirmek zorunda. Bu veriler farklı kaynaklarda bulunduğunda aday bölgeleri karşılaştırmak zaman alıyor. Proje bu ilk değerlendirmeyi aynı ölçek üzerinde yapmayı amaçlıyor. Kira ve gerçek müşteri davranışı gibi yatırım kararını etkileyen unsurlar ise sahada ayrıca incelenmeli.</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Market-location fit ifadesini bu projede pazar çevresiyle seçilen konumun uyumu olarak kullanıyoruz. Pazar çevresini nüfus, talep oluşturabilecek kurumlar ve mevcut işletmelerle temsil ediyoruz. Konumu ise 300 metre hücreler ve erişim göstergeleriyle değerlendiriyoruz. Hedef müşteri uyumu kavramsal odağımız olsa da müşteri tercihleri, harcama kapasitesi ve segment üyeliği mevcut veriyle doğrudan ölçülmüyor.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Pazarlama sadece iletişim ve reklamdan oluşmuyor. Hedef pazara nereden erişileceği ve işletmenin hangi çevrede konumlanacağı da pazarlama kararı. Projemiz bu nedenle konum odaklı pazar planlamasına odaklanıyor. Üniversite çevresi ya da yerleşik nüfus yoğunluğu hedef kitle hakkında ipucu verebilir, ancak bireylerin müşteri olacağı anlamına gelmez. Model bu sınırlar içinde ön incelemeyi destekliyor.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Birleşmiş Milletler Hedef 11, şehirleri ve yerleşimleri kapsayıcı, güvenli, dayanıklı ve sürdürülebilir hale getirmeyi amaçlar. Projenin doğrudan ilişkilendiği çerçeve ulaşım erişimi ve bütünleşik mekânsal planlamadır. Durak ve metro göstergeleri 11.2 ile, bölgesel veriyle konum karşılaştırması 11.3 ile kavramsal bağlantı kuruyor. Proje resmi SDG göstergelerini hesaplamıyor ve ölçülmüş bir sürdürülebilirlik etkisi iddia etmiyor.</a:t>
            </a:r>
          </a:p>
          <a:p xmlns:a="http://schemas.openxmlformats.org/drawingml/2006/main">
            <a:r>
              <a:t/>
            </a:r>
          </a:p>
          <a:p xmlns:a="http://schemas.openxmlformats.org/drawingml/2006/main">
            <a:r>
              <a:t>Kaynaklar:</a:t>
            </a:r>
          </a:p>
          <a:p xmlns:a="http://schemas.openxmlformats.org/drawingml/2006/main">
            <a:r>
              <a:t>https://sdgs.un.org/goals/goal11</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kapsamımız Ankara’nın Çankaya ilçesi ve kafe lokasyon analizi. Kayıtlı özellik veri seti 5.361 hücre ve 121 mahalle etiketi içeriyor. Hücre boyutu 300 metre. Bu çözünürlük bölgeleri karşılaştırmamızı sağlıyor ancak belirli bir dükkân ya da bina için yatırım önerisi vermiyor. İlçe sınırında dışarıdaki işletmeleri hesaba katmamak ve kısmi hücreler sonuçların yorumunu etkileyebilir.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a:p xmlns:a="http://schemas.openxmlformats.org/drawingml/2006/main">
            <a:r>
              <a:t>https://github.com/edasaruhan/SIC_AI_17_Capstone_Group_6/blob/457b4b65d2df8151a8f9d4a6d0faa4233af01581/data/data_dictionary.md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OpenStreetMap kafe, kurum, ulaşım ve yol ağı verilerini sağlıyor. Mahalle nüfus tablosu repoda TÜİK ADNKS 2025 etiketli olarak yer alıyor. Bu sunum nüfus tablosunun kaynağını depo açıklamasına göre aktarıyor, bağımsız bir resmi nüfus doğrulaması yapmıyor. Nüfus katmanı yerleşik nüfusu temsil ediyor. Gerçek yaya akışı, müşteri tercihleri ve satış bilgisi veri setinde bulunmuyor.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a:p xmlns:a="http://schemas.openxmlformats.org/drawingml/2006/main">
            <a:r>
              <a:t>https://github.com/edasaruhan/SIC_AI_17_Capstone_Group_6/blob/457b4b65d2df8151a8f9d4a6d0faa4233af01581/data/data_dictionary.md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İş akışı Çankaya sınırının alınmasıyla başlıyor. Mekânsal ölçümlerde metre birimi için UTM koordinat sistemi kullanılıyor. 300 metrelik ızgara üretildikten sonra her hücrenin çevresindeki kurumlar tampon yarıçaplarıyla sayılıyor. Mahalle nüfusunu kesişim alanına göre hücrelere dağıtıyoruz. Bu yöntem nüfusun mahalle içinde eşit dağıldığını varsayar. Normalizasyonu ilçe genelinde, kullanıcı mahalle filtresinden önce yapıyoruz.</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https://github.com/edasaruhan/SIC_AI_17_Capstone_Group_6/blob/457b4b65d2df8151a8f9d4a6d0faa4233af01581/data/data_dictionary.md</a:t>
            </a:r>
          </a:p>
          <a:p xmlns:a="http://schemas.openxmlformats.org/drawingml/2006/main">
            <a:r>
              <a:t>https://github.com/edasaruhan/SIC_AI_17_Capstone_Group_6/blob/457b4b65d2df8151a8f9d4a6d0faa4233af01581/src/build_features.py</a:t>
            </a:r>
          </a:p>
          <a:p xmlns:a="http://schemas.openxmlformats.org/drawingml/2006/main">
            <a:r>
              <a:t>https://github.com/edasaruhan/SIC_AI_17_Capstone_Group_6/blob/457b4b65d2df8151a8f9d4a6d0faa4233af01581/src/allocate_population.py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Uygunluk puanı çok kriterli karar analizine dayanıyor. Kullanıcının verdiği ağırlıklarla bölgenin göreli uygunluğunu açıklıyor. Random Forest benzerlik puanı ise çevrede kayıtlı kafe bulunmasıyla ilişkili örüntüleri öğreniyor. Aynı hücre için bu iki puan farklı olabilir. Benzerlik yüksek diye bölge yeni bir kafe için otomatik olarak uygun sayılmaz. Her iki puan da gelir ya da kâr tahmini olarak yorumlanmamalı.</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a:p xmlns:a="http://schemas.openxmlformats.org/drawingml/2006/main">
            <a:r>
              <a:t>https://github.com/edasaruhan/SIC_AI_17_Capstone_Group_6/blob/457b4b65d2df8151a8f9d4a6d0faa4233af01581/src/scoring.py</a:t>
            </a:r>
          </a:p>
          <a:p xmlns:a="http://schemas.openxmlformats.org/drawingml/2006/main">
            <a:r>
              <a:t>https://github.com/edasaruhan/SIC_AI_17_Capstone_Group_6/blob/457b4b65d2df8151a8f9d4a6d0faa4233af01581/src/cafe_similarity.py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Varsayılan olumlu ağırlıklar talep yüzde 45, erişim yüzde 25 ve nüfus yüzde 20. Olumlu bileşenler toplamları olan yüzde 90’a bölünerek yeniden ölçekleniyor. Bu yüzden bu yüzdeler nihai puanın değişmez payları değildir. Temel puana şartlar uygunsa en çok 5 puan yoğunluk bonusu ekleniyor, rekabet için en çok 5 puan çıkarılıyor. Ağırlıklar ticari sonuçlardan öğrenilmiyor, kullanıcı senaryosunu temsil ediyor.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https://github.com/edasaruhan/SIC_AI_17_Capstone_Group_6/blob/457b4b65d2df8151a8f9d4a6d0faa4233af01581/src/scoring.py</a:t>
            </a:r>
          </a:p>
          <a:p xmlns:a="http://schemas.openxmlformats.org/drawingml/2006/main">
            <a:r>
              <a:t>https://github.com/edasaruhan/SIC_AI_17_Capstone_Group_6/blob/457b4b65d2df8151a8f9d4a6d0faa4233af01581/docs/temel_kullanim.md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Talep bileşeni üniversite, alışveriş, okul ve park gibi çevre özelliklerini bir araya getiriyor. Yeni iş akışı ofis, devlet dairesi ve kreşleri de içeriyor fakat bu katmanlar kayıtlı eski veride bulunmuyor. Erişim bileşeni durakları, metro yakınlığını ve kavşakları kullanıyor. Kavşak sayısı gerçek yaya sayımı değil bir vekil gösterge. Yeni okul sayımında açık ISCED 2 veya 3 etiketi aranıyor, eski dosyada genel okul sayıları var.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https://github.com/edasaruhan/SIC_AI_17_Capstone_Group_6/blob/457b4b65d2df8151a8f9d4a6d0faa4233af01581/data/data_dictionary.md</a:t>
            </a:r>
          </a:p>
          <a:p xmlns:a="http://schemas.openxmlformats.org/drawingml/2006/main">
            <a:r>
              <a:t>https://github.com/edasaruhan/SIC_AI_17_Capstone_Group_6/blob/457b4b65d2df8151a8f9d4a6d0faa4233af01581/docs/temel_kullanim.md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Rekabeti üç farklı mekânsal ölçekte değerlendiriyoruz. Merkez hücrede en az iki, merkezle sekiz komşuda en az altı, beşe beş blokta en az on üç kafe bulunması ayrı eşik aşımı oluşturuyor. Varsayılan ceza her aşım için yaklaşık 1,67 puan. Hiçbir eşik aşılmadığında 500 metre içindeki benzer işletme yoğunluğu bonus verebiliyor. Eşikler ticari veriyle doğrulanmış değerler değil, ayarlanabilir başlangıç varsayımları.</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https://github.com/edasaruhan/SIC_AI_17_Capstone_Group_6/blob/457b4b65d2df8151a8f9d4a6d0faa4233af01581/src/cafe_grid_competition.py</a:t>
            </a:r>
          </a:p>
          <a:p xmlns:a="http://schemas.openxmlformats.org/drawingml/2006/main">
            <a:r>
              <a:t>https://github.com/edasaruhan/SIC_AI_17_Capstone_Group_6/blob/457b4b65d2df8151a8f9d4a6d0faa4233af01581/src/scoring.py</a:t>
            </a:r>
          </a:p>
          <a:p xmlns:a="http://schemas.openxmlformats.org/drawingml/2006/main">
            <a:r>
              <a:t>https://github.com/edasaruhan/SIC_AI_17_Capstone_Group_6/blob/457b4b65d2df8151a8f9d4a6d0faa4233af01581/docs/temel_kullanim.md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 Forest modelinin hedefi, bir hücrenin 500 metre çevresinde en az bir kayıtlı kafe bulunması. Model 300 ağaç kullanıyor. Kafe sayısı gibi hedefi doğrudan açığa çıkaran sütunları girdilerden çıkarıyoruz. Çeşitlilik özelliğini de kafeleri dışarıda bırakarak yeniden hesaplıyoruz. Eksik değer medyanları her eğitim katında öğreniliyor. Gösterilen puanlar eğitim dışında tutulan hücrelerin olasılıklarıyla hesaplanıyor.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https://github.com/edasaruhan/SIC_AI_17_Capstone_Group_6/blob/457b4b65d2df8151a8f9d4a6d0faa4233af01581/src/cafe_similarity.py</a:t>
            </a:r>
          </a:p>
          <a:p xmlns:a="http://schemas.openxmlformats.org/drawingml/2006/main">
            <a:r>
              <a:t>https://github.com/edasaruhan/SIC_AI_17_Capstone_Group_6/blob/457b4b65d2df8151a8f9d4a6d0faa4233af01581/docs/model_validation.md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Doğrulama raporu 5 Ekim 2026 tarihli ve kayıtlı 5.361 hücreyle yapılan çalışmayı belgeliyor. Beş katlı çapraz doğrulamada mahalleler eğitim ve test arasında ayrılıyor. Kat ROC-AUC değerlerinin ortalaması 0,960. Bu, kayıtlı kafe varlığını ayırt etme performansıdır. ROC-AUC bir doğruluk yüzdesi değildir. Komşu mahallelerin ortak tamponları kalabildiği için mekânsal bağımlılık tamamen giderilmiş sayılmaz.</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https://github.com/edasaruhan/SIC_AI_17_Capstone_Group_6/blob/457b4b65d2df8151a8f9d4a6d0faa4233af01581/docs/model_validation.md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Doğrulama belgesindeki tam veri modeli Gini önemleri, çevredeki çeşitlilik, restoranlar ve alışveriş noktalarının modelde öne çıktığını gösteriyor. Bu değerler hangi özelliklerin bölünmelerde daha çok kullanıldığını anlatır. Nedensellik ya da kafelerin başarılı olmasını sağlayan etkenler olarak okunmamalı. Birbiriyle ilişkili özellikler ve ölçek farkları önem sıralamasını etkileyebilir. Grafikte en yüksek altı değer yer alıyor.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https://github.com/edasaruhan/SIC_AI_17_Capstone_Group_6/blob/457b4b65d2df8151a8f9d4a6d0faa4233af01581/docs/model_validation.md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Harita her 300 metrelik hücreyi uygunluk puanına göre tonluyor. Güncel uygulama 0 ile 100 arasında sabit açık yeşilden koyu yeşile ölçek kullanıyor, böylece mahalle filtresi değiştiğinde renk anlamı sabit kalıyor. Buradaki görsel deponun kayıtlı harita çıktısıdır, canlı ekran görüntüsü değildir. Koyu bölgeler seçilen göstergeler ve ağırlıklar altında daha yüksek puan alan alanları gösterir.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https://github.com/edasaruhan/SIC_AI_17_Capstone_Group_6/blob/457b4b65d2df8151a8f9d4a6d0faa4233af01581/images/suitability-map.png</a:t>
            </a:r>
          </a:p>
          <a:p xmlns:a="http://schemas.openxmlformats.org/drawingml/2006/main">
            <a:r>
              <a:t>https://github.com/edasaruhan/SIC_AI_17_Capstone_Group_6/blob/457b4b65d2df8151a8f9d4a6d0faa4233af01581/src/visualization.py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Kullanıcı önce mahalleleri ve harita görünümünü seçiyor. Ardından kafe konseptinin önceliklerine göre ağırlıkları ayarlayıp minimum puanı belirleyebiliyor. 2D ve 3D haritalar aynı özellikleri farklı biçimde incelemeyi sağlıyor. Aday hücreye tıklayınca bileşen katkıları ve varsa eksik veri uyarıları görülebiliyor. Son karar için aday bölgelerin sahada incelenmesi gerekiyor.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https://github.com/edasaruhan/SIC_AI_17_Capstone_Group_6/blob/457b4b65d2df8151a8f9d4a6d0faa4233af01581/app.py</a:t>
            </a:r>
          </a:p>
          <a:p xmlns:a="http://schemas.openxmlformats.org/drawingml/2006/main">
            <a:r>
              <a:t>https://github.com/edasaruhan/SIC_AI_17_Capstone_Group_6/blob/457b4b65d2df8151a8f9d4a6d0faa4233af01581/docs/temel_kullanim.md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örnek bir kullanım senaryosudur, proje tarafından doğrulanmış müşteri segmenti değildir. Öğrenci odaklı kafe düşünen girişimci üniversite çevresini ve toplu taşıma erişimini daha önemli görerek bir senaryo oluşturabilir. Talep alt ağırlıkları mevcut sürümde sabit olduğu için kullanıcı talep ve erişim ana ağırlıklarını değiştirir. Adaylar belirlendikten sonra üniversiteye fiili erişim, kira, fiyat uyumu ve gerçek hareketlilik sahada kontrol edilir.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https://github.com/edasaruhan/SIC_AI_17_Capstone_Group_6/blob/457b4b65d2df8151a8f9d4a6d0faa4233af01581/docs/temel_kullanim.md</a:t>
            </a:r>
          </a:p>
          <a:p xmlns:a="http://schemas.openxmlformats.org/drawingml/2006/main">
            <a:r>
              <a:t>https://github.com/edasaruhan/SIC_AI_17_Capstone_Group_6/blob/457b4b65d2df8151a8f9d4a6d0faa4233af01581/app.py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Projede puanlama, model, haritalar, filtreler ve Docker yapılandırması bulunuyor. Dokümantasyon Python 3.11 ve 3.12’de 43 test geçtiğini bildiriyor, bu sunum için yeni bir test çalıştırması yapılmadı. Kayıtlı eski veride ham kafe koordinatları ve bazı yeni katmanlar yok. Bu nedenle rekabet alanları otomatik olarak her zaman üretilemiyor ve uygulama etkilenmiş puanları geçici işaretliyor. OSM yenilemesi dış hizmetlere bağlı.</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a:p xmlns:a="http://schemas.openxmlformats.org/drawingml/2006/main">
            <a:r>
              <a:t>https://github.com/edasaruhan/SIC_AI_17_Capstone_Group_6/blob/457b4b65d2df8151a8f9d4a6d0faa4233af01581/data/data_dictionary.md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sonraki adım veri yenilemesi ve saha doğrulaması. Ticari değer önerisini test etmek için girişimcilere aynı bölge seçimi görevini manuel haritayla ve uygulamayla yaptırmayı öneriyoruz. Ana ölçüt aday listeyi hazırlama süresi olabilir. Adayların saha uygunluğu ve kullanıcıların gerekçeleri anlama düzeyi de birlikte değerlendirilmeli. Daha sonra kira ve ölçülmüş yaya hareketi eklenebilir. Bunlar gelecek planı, tamamlanmış özellik değil.</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Projemiz kafe girişimcisine konumları ortak bir ölçek üzerinde karşılaştırma imkânı sunuyor. Market-location fit odağımız, pazar çevresinin özellikleriyle konum erişimini girişimcinin öncelikleri altında birlikte değerlendirmek. Hedef 11 bağlantımız ise toplu taşıma ve mahalle çevresini konum kararlarında görünür kılmak. Sonuç bir saha inceleme listesi ve bu listenin gerekçeleri. Ticari değerimizin büyüklüğünü pilot uygulamayla ölçmeyi planlıyoruz.</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Sunum deponun 457b4b6 sürümündeki kaynak kodu ve dokümantasyonuna dayanır. Model sonuçları docs/model_validation.md belgesindeki 5 Ekim 2026 kaydından alınmıştır. Sunumu yaklaşık 10–15 dakikada ayrıntılı anlatabilirsiniz. Beş dakikalık akış için 1, 2, 3, 5, 9, 14, 16, 19 ve 21 numaralı slaytlar seçilebilir. Uygulamayı çalıştırmak için Python 3.11 veya 3.12 ortamında requirements.txt kurulup python -m streamlit run app.py komutu kullanılır.</a:t>
            </a:r>
          </a:p>
          <a:p xmlns:a="http://schemas.openxmlformats.org/drawingml/2006/main">
            <a:r>
              <a:t/>
            </a:r>
          </a:p>
          <a:p xmlns:a="http://schemas.openxmlformats.org/drawingml/2006/main">
            <a:r>
              <a:t>Kaynaklar:</a:t>
            </a:r>
          </a:p>
          <a:p xmlns:a="http://schemas.openxmlformats.org/drawingml/2006/main">
            <a:r>
              <a:t>https://github.com/edasaruhan/SIC_AI_17_Capstone_Group_6/blob/457b4b65d2df8151a8f9d4a6d0faa4233af01581/README_TR.md</a:t>
            </a:r>
          </a:p>
          <a:p xmlns:a="http://schemas.openxmlformats.org/drawingml/2006/main">
            <a:r>
              <a:t>https://github.com/edasaruhan/SIC_AI_17_Capstone_Group_6/blob/457b4b65d2df8151a8f9d4a6d0faa4233af01581/docs/model_validation.md</a:t>
            </a:r>
          </a:p>
          <a:p xmlns:a="http://schemas.openxmlformats.org/drawingml/2006/main">
            <a:r>
              <a:t>https://github.com/edasaruhan/SIC_AI_17_Capstone_Group_6/blob/457b4b65d2df8151a8f9d4a6d0faa4233af01581/data/data_dictionary.md</a:t>
            </a:r>
          </a:p>
          <a:p xmlns:a="http://schemas.openxmlformats.org/drawingml/2006/main">
            <a:r>
              <a:t>https://sdgs.un.org/goals/goal11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3a40ea979b48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800b2fd0394c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53bf6325fe41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49373c0dc74b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ba02ecc9a14e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973e8683704e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77C3130-04E3-430D-8607-23F011BBA7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05B2C8A-7CCC-4F6A-84F8-624E94625B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2E548EE-A6D4-4707-AE65-E76F78E884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BEC92AA-9BD4-4A52-9ED1-F00EAA8085F0}"/>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EED95F6-0627-453E-BFBE-9C15C9AD60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829279B-7E32-40E1-BA13-82C2E36FBC5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1A7ADFA-7DC9-4432-BB9C-FB54E4233C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A0A0AA3-A7ED-4D9F-A41A-8BF724C031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BDDB9FB-B819-44C9-8051-4481454E1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8B57807-D220-4884-9BB6-63ECBAA745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D1DCABD-3D95-4863-B477-E9CD05A4AE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ED45E8A-A23F-4686-9FA6-D6F3DA1F849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24DCE42-2418-4945-90AB-C68FE5B75E1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B6567B3-BD38-4B98-8DA8-F15C3C8665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CD8011C-B2E9-4BEF-9721-29C5D9D90A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9f6493595748cc" /><Relationship Type="http://schemas.openxmlformats.org/officeDocument/2006/relationships/slideLayout" Target="/ppt/slideLayouts/slideLayout1.xml" Id="R5de775e5466441b6" /><Relationship Type="http://schemas.openxmlformats.org/officeDocument/2006/relationships/slideLayout" Target="/ppt/slideLayouts/slideLayout2.xml" Id="R107f1c6c52424155" /><Relationship Type="http://schemas.openxmlformats.org/officeDocument/2006/relationships/slideLayout" Target="/ppt/slideLayouts/slideLayout3.xml" Id="Rbda6091ff9db4f3b" /><Relationship Type="http://schemas.openxmlformats.org/officeDocument/2006/relationships/slideLayout" Target="/ppt/slideLayouts/slideLayout4.xml" Id="R3b4c0b1f9806481b" /><Relationship Type="http://schemas.openxmlformats.org/officeDocument/2006/relationships/slideLayout" Target="/ppt/slideLayouts/slideLayout5.xml" Id="R05b7a7aec36a41d8" /><Relationship Type="http://schemas.openxmlformats.org/officeDocument/2006/relationships/slideLayout" Target="/ppt/slideLayouts/slideLayout6.xml" Id="R9fdda58c940d4c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e775e5466441b6"/>
    <p:sldLayoutId xmlns:r="http://schemas.openxmlformats.org/officeDocument/2006/relationships" id="2147483650" r:id="R107f1c6c52424155"/>
    <p:sldLayoutId xmlns:r="http://schemas.openxmlformats.org/officeDocument/2006/relationships" id="2147483651" r:id="Rbda6091ff9db4f3b"/>
    <p:sldLayoutId xmlns:r="http://schemas.openxmlformats.org/officeDocument/2006/relationships" id="2147483652" r:id="R3b4c0b1f9806481b"/>
    <p:sldLayoutId xmlns:r="http://schemas.openxmlformats.org/officeDocument/2006/relationships" id="2147483653" r:id="R05b7a7aec36a41d8"/>
    <p:sldLayoutId xmlns:r="http://schemas.openxmlformats.org/officeDocument/2006/relationships" id="2147483654" r:id="R9fdda58c940d4c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6e58045d964243" /><Relationship Type="http://schemas.openxmlformats.org/officeDocument/2006/relationships/image" Target="/ppt/media/image.png" Id="R59c9d0aac1b34042" /><Relationship Type="http://schemas.openxmlformats.org/officeDocument/2006/relationships/notesSlide" Target="/ppt/notesSlides/notesSlide1.xml" Id="Rffbe8931467b4d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399abf0c4f4154" /><Relationship Type="http://schemas.openxmlformats.org/officeDocument/2006/relationships/notesSlide" Target="/ppt/notesSlides/notesSlide2.xml" Id="R65c1cb4a78dd4b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ce550a7e7f4f2b" /><Relationship Type="http://schemas.openxmlformats.org/officeDocument/2006/relationships/notesSlide" Target="/ppt/notesSlides/notesSlide3.xml" Id="Rfcb1835c92b44d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670d52d3a043e4" /><Relationship Type="http://schemas.openxmlformats.org/officeDocument/2006/relationships/notesSlide" Target="/ppt/notesSlides/notesSlide4.xml" Id="R4989fafe87204c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a2ae369e0d4c65" /><Relationship Type="http://schemas.openxmlformats.org/officeDocument/2006/relationships/notesSlide" Target="/ppt/notesSlides/notesSlide5.xml" Id="R92b456f420964e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cf0bae43c784718" /><Relationship Type="http://schemas.openxmlformats.org/officeDocument/2006/relationships/notesSlide" Target="/ppt/notesSlides/notesSlide6.xml" Id="Ra531d8e4182544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dacf23f337d4996" /><Relationship Type="http://schemas.openxmlformats.org/officeDocument/2006/relationships/notesSlide" Target="/ppt/notesSlides/notesSlide7.xml" Id="Rceb37025477440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407fed7dac4864" /><Relationship Type="http://schemas.openxmlformats.org/officeDocument/2006/relationships/notesSlide" Target="/ppt/notesSlides/notesSlide8.xml" Id="R8f6fdab3839345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a3db5939604e56" /><Relationship Type="http://schemas.openxmlformats.org/officeDocument/2006/relationships/notesSlide" Target="/ppt/notesSlides/notesSlide9.xml" Id="R243eb29d8e764e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c57e5a1f474bd5" /><Relationship Type="http://schemas.openxmlformats.org/officeDocument/2006/relationships/chart" Target="/ppt/slides/charts/chart1.xml" Id="Rb96f566390214ff3" /><Relationship Type="http://schemas.openxmlformats.org/officeDocument/2006/relationships/notesSlide" Target="/ppt/notesSlides/notesSlide10.xml" Id="Ra42d2b96e06349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e2d3a9a88c4dbd" /><Relationship Type="http://schemas.openxmlformats.org/officeDocument/2006/relationships/notesSlide" Target="/ppt/notesSlides/notesSlide11.xml" Id="R7287bd30795141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74581cd3564570" /><Relationship Type="http://schemas.openxmlformats.org/officeDocument/2006/relationships/notesSlide" Target="/ppt/notesSlides/notesSlide12.xml" Id="Ra4062ed8d40e43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b728247ba2d42e9" /><Relationship Type="http://schemas.openxmlformats.org/officeDocument/2006/relationships/notesSlide" Target="/ppt/notesSlides/notesSlide13.xml" Id="R13dab82dd04447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b7ced0a1fe4f35" /><Relationship Type="http://schemas.openxmlformats.org/officeDocument/2006/relationships/chart" Target="/ppt/slides/charts/chart2.xml" Id="Rc24b0532853e4b6a" /><Relationship Type="http://schemas.openxmlformats.org/officeDocument/2006/relationships/notesSlide" Target="/ppt/notesSlides/notesSlide14.xml" Id="R136ad2d442714b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1f1c287dc049e9" /><Relationship Type="http://schemas.openxmlformats.org/officeDocument/2006/relationships/chart" Target="/ppt/slides/charts/chart3.xml" Id="R6df1f622038e4dc1" /><Relationship Type="http://schemas.openxmlformats.org/officeDocument/2006/relationships/notesSlide" Target="/ppt/notesSlides/notesSlide15.xml" Id="Rdb5a171fb00742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a0ba8b21f704586" /><Relationship Type="http://schemas.openxmlformats.org/officeDocument/2006/relationships/image" Target="/ppt/media/image2.png" Id="R1cd52bb516084ae4" /><Relationship Type="http://schemas.openxmlformats.org/officeDocument/2006/relationships/notesSlide" Target="/ppt/notesSlides/notesSlide16.xml" Id="Rb6d89c819faf45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23a5dc52bf9428b" /><Relationship Type="http://schemas.openxmlformats.org/officeDocument/2006/relationships/notesSlide" Target="/ppt/notesSlides/notesSlide17.xml" Id="R4bfbfc8a46eb43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7a372bee2ee494d" /><Relationship Type="http://schemas.openxmlformats.org/officeDocument/2006/relationships/notesSlide" Target="/ppt/notesSlides/notesSlide18.xml" Id="R1f49b0bc1eaa46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49f566f58104e82" /><Relationship Type="http://schemas.openxmlformats.org/officeDocument/2006/relationships/notesSlide" Target="/ppt/notesSlides/notesSlide19.xml" Id="R8eba739903754e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ddd5da03a0049d6" /><Relationship Type="http://schemas.openxmlformats.org/officeDocument/2006/relationships/notesSlide" Target="/ppt/notesSlides/notesSlide20.xml" Id="R5354e4e9fa2d4c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2f16cd684fd4f63" /><Relationship Type="http://schemas.openxmlformats.org/officeDocument/2006/relationships/notesSlide" Target="/ppt/notesSlides/notesSlide21.xml" Id="Rb14c6508444e43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4d4efc192bd4207" /><Relationship Type="http://schemas.openxmlformats.org/officeDocument/2006/relationships/notesSlide" Target="/ppt/notesSlides/notesSlide22.xml" Id="Rd1e6dfcb198b44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Başlangıç ağırlığı</c:v>
          </c:tx>
          <c:spPr>
            <a:solidFill xmlns:a="http://schemas.openxmlformats.org/drawingml/2006/main">
              <a:srgbClr val="23694D"/>
            </a:solidFill>
          </c:spPr>
          <c:cat>
            <c:strRef>
              <c:f>'Chart Data'!$A$2:$A$4</c:f>
              <c:strCache>
                <c:ptCount val="3"/>
                <c:pt idx="0">
                  <c:v>Talep</c:v>
                </c:pt>
                <c:pt idx="1">
                  <c:v>Erişim</c:v>
                </c:pt>
                <c:pt idx="2">
                  <c:v>Nüfus</c:v>
                </c:pt>
              </c:strCache>
            </c:strRef>
          </c:cat>
          <c:val>
            <c:numRef>
              <c:f>'Chart Data'!$B$2:$B$4</c:f>
              <c:numCache>
                <c:formatCode>0"%"</c:formatCode>
                <c:ptCount val="3"/>
                <c:pt idx="0">
                  <c:v>45</c:v>
                </c:pt>
                <c:pt idx="1">
                  <c:v>25</c:v>
                </c:pt>
                <c:pt idx="2">
                  <c:v>20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DED7"/>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675F"/>
                </a:solidFill>
                <a:latin typeface="DejaVu Sans"/>
                <a:ea typeface="DejaVu Sans"/>
                <a:cs typeface="DejaVu Sans"/>
              </a:defRPr>
            </a:pPr>
          </a:p>
        </c:txPr>
        <c:crossAx val="48672768"/>
      </c:catAx>
      <c:valAx>
        <c:axId val="48672768"/>
        <c:scaling>
          <c:orientation val="minMax"/>
          <c:max val="50"/>
          <c:min val="0"/>
        </c:scaling>
        <c:delete val="0"/>
        <c:axPos val="b"/>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D31"/>
                </a:solidFill>
                <a:latin typeface="DejaVu Sans"/>
                <a:ea typeface="DejaVu Sans"/>
                <a:cs typeface="DejaVu Sans"/>
              </a:defRPr>
            </a:pPr>
          </a:p>
        </c:txPr>
        <c:crossAx val="48650112"/>
        <c:crossBetween val="between"/>
        <c:majorUnit val="5"/>
      </c:valAx>
      <c:spPr>
        <a:solidFill xmlns:a="http://schemas.openxmlformats.org/drawingml/2006/main">
          <a:srgbClr val="F6F5EF"/>
        </a:solidFill>
      </c:spPr>
    </c:plotArea>
    <c:plotVisOnly val="1"/>
  </c:chart>
  <c:spPr>
    <a:solidFill xmlns:a="http://schemas.openxmlformats.org/drawingml/2006/main">
      <a:srgbClr val="F6F5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ROC-AUC</c:v>
          </c:tx>
          <c:spPr>
            <a:solidFill xmlns:a="http://schemas.openxmlformats.org/drawingml/2006/main">
              <a:srgbClr val="23694D"/>
            </a:solidFill>
          </c:spPr>
          <c:cat>
            <c:strRef>
              <c:f>'Chart Data'!$A$2:$A$6</c:f>
              <c:strCache>
                <c:ptCount val="5"/>
                <c:pt idx="0">
                  <c:v>Kat 1</c:v>
                </c:pt>
                <c:pt idx="1">
                  <c:v>Kat 2</c:v>
                </c:pt>
                <c:pt idx="2">
                  <c:v>Kat 3</c:v>
                </c:pt>
                <c:pt idx="3">
                  <c:v>Kat 4</c:v>
                </c:pt>
                <c:pt idx="4">
                  <c:v>Kat 5</c:v>
                </c:pt>
              </c:strCache>
            </c:strRef>
          </c:cat>
          <c:val>
            <c:numRef>
              <c:f>'Chart Data'!$B$2:$B$6</c:f>
              <c:numCache>
                <c:formatCode>0.000</c:formatCode>
                <c:ptCount val="5"/>
                <c:pt idx="0">
                  <c:v>0.99</c:v>
                </c:pt>
                <c:pt idx="1">
                  <c:v>0.9</c:v>
                </c:pt>
                <c:pt idx="2">
                  <c:v>0.953</c:v>
                </c:pt>
                <c:pt idx="3">
                  <c:v>0.972</c:v>
                </c:pt>
                <c:pt idx="4">
                  <c:v>0.985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DED7"/>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675F"/>
                </a:solidFill>
                <a:latin typeface="DejaVu Sans"/>
                <a:ea typeface="DejaVu Sans"/>
                <a:cs typeface="DejaVu Sans"/>
              </a:defRPr>
            </a:pPr>
          </a:p>
        </c:txPr>
        <c:crossAx val="48672768"/>
      </c:catAx>
      <c:valAx>
        <c:axId val="48672768"/>
        <c:scaling>
          <c:orientation val="minMax"/>
          <c:max val="1"/>
          <c:min val="0"/>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D31"/>
                </a:solidFill>
                <a:latin typeface="DejaVu Sans"/>
                <a:ea typeface="DejaVu Sans"/>
                <a:cs typeface="DejaVu Sans"/>
              </a:defRPr>
            </a:pPr>
          </a:p>
        </c:txPr>
        <c:crossAx val="48650112"/>
        <c:crossBetween val="between"/>
        <c:majorUnit val="0.2"/>
      </c:valAx>
      <c:spPr>
        <a:solidFill xmlns:a="http://schemas.openxmlformats.org/drawingml/2006/main">
          <a:srgbClr val="F6F5EF"/>
        </a:solidFill>
      </c:spPr>
    </c:plotArea>
    <c:plotVisOnly val="1"/>
  </c:chart>
  <c:spPr>
    <a:solidFill xmlns:a="http://schemas.openxmlformats.org/drawingml/2006/main">
      <a:srgbClr val="F6F5E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Gini önem payı</c:v>
          </c:tx>
          <c:spPr>
            <a:solidFill xmlns:a="http://schemas.openxmlformats.org/drawingml/2006/main">
              <a:srgbClr val="23694D"/>
            </a:solidFill>
          </c:spPr>
          <c:cat>
            <c:strRef>
              <c:f>'Chart Data'!$A$2:$A$7</c:f>
              <c:strCache>
                <c:ptCount val="6"/>
                <c:pt idx="0">
                  <c:v>Kafesiz çeşitlilik</c:v>
                </c:pt>
                <c:pt idx="1">
                  <c:v>Restoranlar</c:v>
                </c:pt>
                <c:pt idx="2">
                  <c:v>Alışveriş noktaları</c:v>
                </c:pt>
                <c:pt idx="3">
                  <c:v>Metro mesafesi</c:v>
                </c:pt>
                <c:pt idx="4">
                  <c:v>Parklar</c:v>
                </c:pt>
                <c:pt idx="5">
                  <c:v>Nüfus yoğunluğu</c:v>
                </c:pt>
              </c:strCache>
            </c:strRef>
          </c:cat>
          <c:val>
            <c:numRef>
              <c:f>'Chart Data'!$B$2:$B$7</c:f>
              <c:numCache>
                <c:formatCode>0.0"%"</c:formatCode>
                <c:ptCount val="6"/>
                <c:pt idx="0">
                  <c:v>23.9</c:v>
                </c:pt>
                <c:pt idx="1">
                  <c:v>16.9</c:v>
                </c:pt>
                <c:pt idx="2">
                  <c:v>16.3</c:v>
                </c:pt>
                <c:pt idx="3">
                  <c:v>11.6</c:v>
                </c:pt>
                <c:pt idx="4">
                  <c:v>9.3</c:v>
                </c:pt>
                <c:pt idx="5">
                  <c:v>7.1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D31"/>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DED7"/>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6675F"/>
                </a:solidFill>
                <a:latin typeface="DejaVu Sans"/>
                <a:ea typeface="DejaVu Sans"/>
                <a:cs typeface="DejaVu Sans"/>
              </a:defRPr>
            </a:pPr>
          </a:p>
        </c:txPr>
        <c:crossAx val="48672768"/>
      </c:catAx>
      <c:valAx>
        <c:axId val="48672768"/>
        <c:scaling>
          <c:orientation val="minMax"/>
          <c:max val="28"/>
          <c:min val="0"/>
        </c:scaling>
        <c:delete val="0"/>
        <c:axPos val="b"/>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D31"/>
                </a:solidFill>
                <a:latin typeface="DejaVu Sans"/>
                <a:ea typeface="DejaVu Sans"/>
                <a:cs typeface="DejaVu Sans"/>
              </a:defRPr>
            </a:pPr>
          </a:p>
        </c:txPr>
        <c:crossAx val="48650112"/>
        <c:crossBetween val="between"/>
        <c:majorUnit val="5"/>
      </c:valAx>
      <c:spPr>
        <a:solidFill xmlns:a="http://schemas.openxmlformats.org/drawingml/2006/main">
          <a:srgbClr val="F6F5EF"/>
        </a:solidFill>
      </c:spPr>
    </c:plotArea>
    <c:plotVisOnly val="1"/>
  </c:chart>
  <c:spPr>
    <a:solidFill xmlns:a="http://schemas.openxmlformats.org/drawingml/2006/main">
      <a:srgbClr val="F6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3D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D102C1-DA99-4CD6-9D88-C6791154CC37}"/>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53AD50A-A75B-4567-A139-22FF8BA986F0}"/>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9c9d0aac1b3404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0B4B1CD-1F3C-4225-AEB7-0BB7F65A898F}"/>
              </a:ext>
            </a:extLst>
          </p:cNvPr>
          <p:cNvSpPr>
            <a:spLocks xmlns:a="http://schemas.openxmlformats.org/drawingml/2006/main" noGrp="1"/>
          </p:cNvSpPr>
          <p:nvPr/>
        </p:nvSpPr>
        <p:spPr>
          <a:xfrm xmlns:a="http://schemas.openxmlformats.org/drawingml/2006/main">
            <a:off x="685800" y="1562100"/>
            <a:ext cx="704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FFFFFF"/>
                </a:solidFill>
                <a:latin typeface="DejaVu Sans"/>
                <a:ea typeface="DejaVu Sans"/>
                <a:cs typeface="DejaVu Sans"/>
              </a:defRPr>
            </a:pPr>
            <a:r>
              <a:rPr sz="4725" b="1">
                <a:solidFill>
                  <a:srgbClr val="FFFFFF"/>
                </a:solidFill>
                <a:latin typeface="DejaVu Sans"/>
                <a:ea typeface="DejaVu Sans"/>
                <a:cs typeface="DejaVu Sans"/>
              </a:rPr>
              <a:t>Retail Location</a:t>
            </a:r>
          </a:p>
          <a:p xmlns:a="http://schemas.openxmlformats.org/drawingml/2006/main">
            <a:pPr>
              <a:defRPr sz="4725" b="1">
                <a:solidFill>
                  <a:srgbClr val="FFFFFF"/>
                </a:solidFill>
                <a:latin typeface="DejaVu Sans"/>
                <a:ea typeface="DejaVu Sans"/>
                <a:cs typeface="DejaVu Sans"/>
              </a:defRPr>
            </a:pPr>
            <a:r>
              <a:rPr sz="4725" b="1">
                <a:solidFill>
                  <a:srgbClr val="FFFFFF"/>
                </a:solidFill>
                <a:latin typeface="DejaVu Sans"/>
                <a:ea typeface="DejaVu Sans"/>
                <a:cs typeface="DejaVu Sans"/>
              </a:rPr>
              <a:t>Intelligence</a:t>
            </a:r>
          </a:p>
        </p:txBody>
      </p:sp>
      <p:sp>
        <p:nvSpPr>
          <p:cNvPr id="5" name="">
            <a:extLst xmlns:a="http://schemas.openxmlformats.org/drawingml/2006/main">
              <a:ext uri="{FF2B5EF4-FFF2-40B4-BE49-F238E27FC236}">
                <a16:creationId xmlns:a16="http://schemas.microsoft.com/office/drawing/2014/main" id="{28FD485D-5377-48BD-BA8A-396C780449D7}"/>
              </a:ext>
            </a:extLst>
          </p:cNvPr>
          <p:cNvSpPr>
            <a:spLocks xmlns:a="http://schemas.openxmlformats.org/drawingml/2006/main" noGrp="1"/>
          </p:cNvSpPr>
          <p:nvPr/>
        </p:nvSpPr>
        <p:spPr>
          <a:xfrm xmlns:a="http://schemas.openxmlformats.org/drawingml/2006/main">
            <a:off x="685800" y="3429000"/>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Çankaya’da kafe yeri seçimi</a:t>
            </a:r>
          </a:p>
        </p:txBody>
      </p:sp>
      <p:sp>
        <p:nvSpPr>
          <p:cNvPr id="6" name="">
            <a:extLst xmlns:a="http://schemas.openxmlformats.org/drawingml/2006/main">
              <a:ext uri="{FF2B5EF4-FFF2-40B4-BE49-F238E27FC236}">
                <a16:creationId xmlns:a16="http://schemas.microsoft.com/office/drawing/2014/main" id="{6D5547C4-903B-4812-ABD9-057F6A694E70}"/>
              </a:ext>
            </a:extLst>
          </p:cNvPr>
          <p:cNvSpPr>
            <a:spLocks xmlns:a="http://schemas.openxmlformats.org/drawingml/2006/main" noGrp="1"/>
          </p:cNvSpPr>
          <p:nvPr/>
        </p:nvSpPr>
        <p:spPr>
          <a:xfrm xmlns:a="http://schemas.openxmlformats.org/drawingml/2006/main">
            <a:off x="685800" y="4191000"/>
            <a:ext cx="542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EEEDD"/>
                </a:solidFill>
                <a:latin typeface="DejaVu Sans"/>
                <a:ea typeface="DejaVu Sans"/>
                <a:cs typeface="DejaVu Sans"/>
              </a:defRPr>
            </a:pPr>
            <a:r>
              <a:rPr sz="1800" b="0">
                <a:solidFill>
                  <a:srgbClr val="EEEEDD"/>
                </a:solidFill>
                <a:latin typeface="DejaVu Sans"/>
                <a:ea typeface="DejaVu Sans"/>
                <a:cs typeface="DejaVu Sans"/>
              </a:rPr>
              <a:t>Market-location fit</a:t>
            </a:r>
          </a:p>
          <a:p xmlns:a="http://schemas.openxmlformats.org/drawingml/2006/main">
            <a:pPr>
              <a:defRPr sz="1800" b="0">
                <a:solidFill>
                  <a:srgbClr val="EEEEDD"/>
                </a:solidFill>
                <a:latin typeface="DejaVu Sans"/>
                <a:ea typeface="DejaVu Sans"/>
                <a:cs typeface="DejaVu Sans"/>
              </a:defRPr>
            </a:pPr>
            <a:r>
              <a:rPr sz="1800" b="0">
                <a:solidFill>
                  <a:srgbClr val="EEEEDD"/>
                </a:solidFill>
                <a:latin typeface="DejaVu Sans"/>
                <a:ea typeface="DejaVu Sans"/>
                <a:cs typeface="DejaVu Sans"/>
              </a:rPr>
              <a:t>BM Hedef 11</a:t>
            </a:r>
          </a:p>
          <a:p xmlns:a="http://schemas.openxmlformats.org/drawingml/2006/main">
            <a:pPr>
              <a:defRPr sz="1800" b="0">
                <a:solidFill>
                  <a:srgbClr val="EEEEDD"/>
                </a:solidFill>
                <a:latin typeface="DejaVu Sans"/>
                <a:ea typeface="DejaVu Sans"/>
                <a:cs typeface="DejaVu Sans"/>
              </a:defRPr>
            </a:pPr>
            <a:r>
              <a:rPr sz="1800" b="0">
                <a:solidFill>
                  <a:srgbClr val="EEEEDD"/>
                </a:solidFill>
                <a:latin typeface="DejaVu Sans"/>
                <a:ea typeface="DejaVu Sans"/>
                <a:cs typeface="DejaVu Sans"/>
              </a:rPr>
              <a:t>Sürdürülebilir Şehirler ve Topluluklar</a:t>
            </a:r>
          </a:p>
        </p:txBody>
      </p:sp>
      <p:sp>
        <p:nvSpPr>
          <p:cNvPr id="7" name="">
            <a:extLst xmlns:a="http://schemas.openxmlformats.org/drawingml/2006/main">
              <a:ext uri="{FF2B5EF4-FFF2-40B4-BE49-F238E27FC236}">
                <a16:creationId xmlns:a16="http://schemas.microsoft.com/office/drawing/2014/main" id="{9102D012-B3B7-4610-AE8B-4DF0F3D84B15}"/>
              </a:ext>
            </a:extLst>
          </p:cNvPr>
          <p:cNvSpPr>
            <a:spLocks xmlns:a="http://schemas.openxmlformats.org/drawingml/2006/main" noGrp="1"/>
          </p:cNvSpPr>
          <p:nvPr/>
        </p:nvSpPr>
        <p:spPr>
          <a:xfrm xmlns:a="http://schemas.openxmlformats.org/drawingml/2006/main">
            <a:off x="685800" y="571500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Samsung Innovation Campus</a:t>
            </a:r>
          </a:p>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AI in Marketing Capstone Projesi · Grup 6</a:t>
            </a:r>
          </a:p>
        </p:txBody>
      </p:sp>
    </p:spTree>
    <p:extLst>
      <p:ext uri="{BB962C8B-B14F-4D97-AF65-F5344CB8AC3E}">
        <p14:creationId xmlns:p14="http://schemas.microsoft.com/office/powerpoint/2010/main" val="130685425"/>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9E5758-916D-43D7-A9ED-E7312535EBC7}"/>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Kafe yeri seçimi problemi</a:t>
            </a:r>
          </a:p>
        </p:txBody>
      </p:sp>
      <p:sp>
        <p:nvSpPr>
          <p:cNvPr id="2" name="">
            <a:extLst xmlns:a="http://schemas.openxmlformats.org/drawingml/2006/main">
              <a:ext uri="{FF2B5EF4-FFF2-40B4-BE49-F238E27FC236}">
                <a16:creationId xmlns:a16="http://schemas.microsoft.com/office/drawing/2014/main" id="{E0076682-9D87-4E33-A540-14F2C1BD365C}"/>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83AD8159-4E84-4619-A324-E1D6E5DEF1C2}"/>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Dağınık bilgi</a:t>
            </a:r>
          </a:p>
        </p:txBody>
      </p:sp>
      <p:sp>
        <p:nvSpPr>
          <p:cNvPr id="4" name="">
            <a:extLst xmlns:a="http://schemas.openxmlformats.org/drawingml/2006/main">
              <a:ext uri="{FF2B5EF4-FFF2-40B4-BE49-F238E27FC236}">
                <a16:creationId xmlns:a16="http://schemas.microsoft.com/office/drawing/2014/main" id="{24E88F0B-DE53-4ACE-A32C-81760B874625}"/>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Harita kayıtları ve nüfus verileri farklı kaynaklarda bulunuyor.</a:t>
            </a:r>
          </a:p>
        </p:txBody>
      </p:sp>
      <p:sp>
        <p:nvSpPr>
          <p:cNvPr id="5" name="">
            <a:extLst xmlns:a="http://schemas.openxmlformats.org/drawingml/2006/main">
              <a:ext uri="{FF2B5EF4-FFF2-40B4-BE49-F238E27FC236}">
                <a16:creationId xmlns:a16="http://schemas.microsoft.com/office/drawing/2014/main" id="{AD5413C8-EB90-498F-879A-1F474763E103}"/>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Karşılaştırma güçlüğü</a:t>
            </a:r>
          </a:p>
        </p:txBody>
      </p:sp>
      <p:sp>
        <p:nvSpPr>
          <p:cNvPr id="6" name="">
            <a:extLst xmlns:a="http://schemas.openxmlformats.org/drawingml/2006/main">
              <a:ext uri="{FF2B5EF4-FFF2-40B4-BE49-F238E27FC236}">
                <a16:creationId xmlns:a16="http://schemas.microsoft.com/office/drawing/2014/main" id="{5325E575-156E-4185-95A2-91831268F097}"/>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Aday bölgelerin güçlü ve zayıf yönleri aynı ölçekte görünmüyor.</a:t>
            </a:r>
          </a:p>
        </p:txBody>
      </p:sp>
      <p:sp>
        <p:nvSpPr>
          <p:cNvPr id="7" name="">
            <a:extLst xmlns:a="http://schemas.openxmlformats.org/drawingml/2006/main">
              <a:ext uri="{FF2B5EF4-FFF2-40B4-BE49-F238E27FC236}">
                <a16:creationId xmlns:a16="http://schemas.microsoft.com/office/drawing/2014/main" id="{D99BF503-1251-49E0-877C-E93082BDA584}"/>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Girişimcinin ihtiyacı</a:t>
            </a:r>
          </a:p>
        </p:txBody>
      </p:sp>
      <p:sp>
        <p:nvSpPr>
          <p:cNvPr id="8" name="">
            <a:extLst xmlns:a="http://schemas.openxmlformats.org/drawingml/2006/main">
              <a:ext uri="{FF2B5EF4-FFF2-40B4-BE49-F238E27FC236}">
                <a16:creationId xmlns:a16="http://schemas.microsoft.com/office/drawing/2014/main" id="{3438F615-40E2-4DBD-8FBA-5362CC762A49}"/>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Kendi önceliklerine göre gerekçeli bir aday bölge listesi hazırlamak.</a:t>
            </a:r>
          </a:p>
        </p:txBody>
      </p:sp>
      <p:sp>
        <p:nvSpPr>
          <p:cNvPr id="9" name="">
            <a:extLst xmlns:a="http://schemas.openxmlformats.org/drawingml/2006/main">
              <a:ext uri="{FF2B5EF4-FFF2-40B4-BE49-F238E27FC236}">
                <a16:creationId xmlns:a16="http://schemas.microsoft.com/office/drawing/2014/main" id="{70A65238-E567-43DE-9A87-CD8AEE352A7E}"/>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Karar sorusu: Kafe konseptim için hangi bölgeleri önce incelemeliyim?</a:t>
            </a:r>
          </a:p>
        </p:txBody>
      </p:sp>
    </p:spTree>
    <p:extLst>
      <p:ext uri="{BB962C8B-B14F-4D97-AF65-F5344CB8AC3E}">
        <p14:creationId xmlns:p14="http://schemas.microsoft.com/office/powerpoint/2010/main" val="579697292"/>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5F023E-7F04-4CC3-BB30-80F385E9B607}"/>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Market-location fit odağımız</a:t>
            </a:r>
          </a:p>
        </p:txBody>
      </p:sp>
      <p:sp>
        <p:nvSpPr>
          <p:cNvPr id="2" name="">
            <a:extLst xmlns:a="http://schemas.openxmlformats.org/drawingml/2006/main">
              <a:ext uri="{FF2B5EF4-FFF2-40B4-BE49-F238E27FC236}">
                <a16:creationId xmlns:a16="http://schemas.microsoft.com/office/drawing/2014/main" id="{97FD1C70-0BC5-4062-8AD8-1F02AD6FE88D}"/>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65B799C6-614D-49DF-B20F-B7DAF8D5BD5D}"/>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Pazar çevresi</a:t>
            </a:r>
          </a:p>
        </p:txBody>
      </p:sp>
      <p:sp>
        <p:nvSpPr>
          <p:cNvPr id="4" name="">
            <a:extLst xmlns:a="http://schemas.openxmlformats.org/drawingml/2006/main">
              <a:ext uri="{FF2B5EF4-FFF2-40B4-BE49-F238E27FC236}">
                <a16:creationId xmlns:a16="http://schemas.microsoft.com/office/drawing/2014/main" id="{A90D04EF-0120-46E8-9466-BA980790FF44}"/>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Nüfus, üniversiteler, alışveriş noktaları ve mevcut kafeler.</a:t>
            </a:r>
          </a:p>
        </p:txBody>
      </p:sp>
      <p:sp>
        <p:nvSpPr>
          <p:cNvPr id="5" name="">
            <a:extLst xmlns:a="http://schemas.openxmlformats.org/drawingml/2006/main">
              <a:ext uri="{FF2B5EF4-FFF2-40B4-BE49-F238E27FC236}">
                <a16:creationId xmlns:a16="http://schemas.microsoft.com/office/drawing/2014/main" id="{3B96345A-1325-438A-B782-94637B4D40C6}"/>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Konum</a:t>
            </a:r>
          </a:p>
        </p:txBody>
      </p:sp>
      <p:sp>
        <p:nvSpPr>
          <p:cNvPr id="6" name="">
            <a:extLst xmlns:a="http://schemas.openxmlformats.org/drawingml/2006/main">
              <a:ext uri="{FF2B5EF4-FFF2-40B4-BE49-F238E27FC236}">
                <a16:creationId xmlns:a16="http://schemas.microsoft.com/office/drawing/2014/main" id="{5C20470B-D2DB-4EEA-BE14-507B81472C2A}"/>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300 × 300 m hücre, mahalle, toplu taşıma ve yol bağlantıları.</a:t>
            </a:r>
          </a:p>
        </p:txBody>
      </p:sp>
      <p:sp>
        <p:nvSpPr>
          <p:cNvPr id="7" name="">
            <a:extLst xmlns:a="http://schemas.openxmlformats.org/drawingml/2006/main">
              <a:ext uri="{FF2B5EF4-FFF2-40B4-BE49-F238E27FC236}">
                <a16:creationId xmlns:a16="http://schemas.microsoft.com/office/drawing/2014/main" id="{4A3FA4AF-4871-4281-A92D-57889108C691}"/>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Uyum</a:t>
            </a:r>
          </a:p>
        </p:txBody>
      </p:sp>
      <p:sp>
        <p:nvSpPr>
          <p:cNvPr id="8" name="">
            <a:extLst xmlns:a="http://schemas.openxmlformats.org/drawingml/2006/main">
              <a:ext uri="{FF2B5EF4-FFF2-40B4-BE49-F238E27FC236}">
                <a16:creationId xmlns:a16="http://schemas.microsoft.com/office/drawing/2014/main" id="{4B736412-C62A-4061-9554-908178F78D60}"/>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Girişimcinin öncelikleriyle çevrenin sunduğu koşulların karşılaştırılması.</a:t>
            </a:r>
          </a:p>
        </p:txBody>
      </p:sp>
      <p:sp>
        <p:nvSpPr>
          <p:cNvPr id="9" name="">
            <a:extLst xmlns:a="http://schemas.openxmlformats.org/drawingml/2006/main">
              <a:ext uri="{FF2B5EF4-FFF2-40B4-BE49-F238E27FC236}">
                <a16:creationId xmlns:a16="http://schemas.microsoft.com/office/drawing/2014/main" id="{380AC275-C4CA-4B4D-99B5-14E459798381}"/>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Mevcut sürüm, müşteri çevresine erişimi dolaylı göstergelerle değerlendiriyor.</a:t>
            </a:r>
          </a:p>
        </p:txBody>
      </p:sp>
    </p:spTree>
    <p:extLst>
      <p:ext uri="{BB962C8B-B14F-4D97-AF65-F5344CB8AC3E}">
        <p14:creationId xmlns:p14="http://schemas.microsoft.com/office/powerpoint/2010/main" val="1419945699"/>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3090AE-B601-4A31-AA66-DA4CC298BC2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AI in Marketing ile bağlantı</a:t>
            </a:r>
          </a:p>
        </p:txBody>
      </p:sp>
      <p:sp>
        <p:nvSpPr>
          <p:cNvPr id="2" name="">
            <a:extLst xmlns:a="http://schemas.openxmlformats.org/drawingml/2006/main">
              <a:ext uri="{FF2B5EF4-FFF2-40B4-BE49-F238E27FC236}">
                <a16:creationId xmlns:a16="http://schemas.microsoft.com/office/drawing/2014/main" id="{6BCF3F22-0CF5-4600-BD05-80548CD5293E}"/>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284C9623-B995-406E-853C-0D34F5A6BD4F}"/>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Hedef pazara erişim</a:t>
            </a:r>
          </a:p>
        </p:txBody>
      </p:sp>
      <p:sp>
        <p:nvSpPr>
          <p:cNvPr id="4" name="">
            <a:extLst xmlns:a="http://schemas.openxmlformats.org/drawingml/2006/main">
              <a:ext uri="{FF2B5EF4-FFF2-40B4-BE49-F238E27FC236}">
                <a16:creationId xmlns:a16="http://schemas.microsoft.com/office/drawing/2014/main" id="{00C77F7C-E058-4447-9A64-523979112F71}"/>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Talep oluşturan kurumların ve nüfusun çevresini karşılaştırmak.</a:t>
            </a:r>
          </a:p>
        </p:txBody>
      </p:sp>
      <p:sp>
        <p:nvSpPr>
          <p:cNvPr id="5" name="">
            <a:extLst xmlns:a="http://schemas.openxmlformats.org/drawingml/2006/main">
              <a:ext uri="{FF2B5EF4-FFF2-40B4-BE49-F238E27FC236}">
                <a16:creationId xmlns:a16="http://schemas.microsoft.com/office/drawing/2014/main" id="{BD141838-CD90-4182-8439-5359505849DC}"/>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Rekabet analizi</a:t>
            </a:r>
          </a:p>
        </p:txBody>
      </p:sp>
      <p:sp>
        <p:nvSpPr>
          <p:cNvPr id="6" name="">
            <a:extLst xmlns:a="http://schemas.openxmlformats.org/drawingml/2006/main">
              <a:ext uri="{FF2B5EF4-FFF2-40B4-BE49-F238E27FC236}">
                <a16:creationId xmlns:a16="http://schemas.microsoft.com/office/drawing/2014/main" id="{2BEFEF5F-DB34-4E14-9367-7CC82F7AF871}"/>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Yakındaki kafeleri ve mekânsal yoğunlaşmayı değerlendirmek.</a:t>
            </a:r>
          </a:p>
        </p:txBody>
      </p:sp>
      <p:sp>
        <p:nvSpPr>
          <p:cNvPr id="7" name="">
            <a:extLst xmlns:a="http://schemas.openxmlformats.org/drawingml/2006/main">
              <a:ext uri="{FF2B5EF4-FFF2-40B4-BE49-F238E27FC236}">
                <a16:creationId xmlns:a16="http://schemas.microsoft.com/office/drawing/2014/main" id="{4658B86C-EF85-46E8-8AAB-30E52AF26516}"/>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Pazarlama kararı</a:t>
            </a:r>
          </a:p>
        </p:txBody>
      </p:sp>
      <p:sp>
        <p:nvSpPr>
          <p:cNvPr id="8" name="">
            <a:extLst xmlns:a="http://schemas.openxmlformats.org/drawingml/2006/main">
              <a:ext uri="{FF2B5EF4-FFF2-40B4-BE49-F238E27FC236}">
                <a16:creationId xmlns:a16="http://schemas.microsoft.com/office/drawing/2014/main" id="{AEB4F21E-7DB3-405A-B090-294A63BE6E40}"/>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Kafe konseptine göre öncelikli saha inceleme bölgelerini seçmek.</a:t>
            </a:r>
          </a:p>
        </p:txBody>
      </p:sp>
      <p:sp>
        <p:nvSpPr>
          <p:cNvPr id="9" name="">
            <a:extLst xmlns:a="http://schemas.openxmlformats.org/drawingml/2006/main">
              <a:ext uri="{FF2B5EF4-FFF2-40B4-BE49-F238E27FC236}">
                <a16:creationId xmlns:a16="http://schemas.microsoft.com/office/drawing/2014/main" id="{AD6145F9-FE5A-4F1E-9109-1E4592BB9A23}"/>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Ürün değeri: Açıklanabilir, konum odaklı pazar planlama desteği</a:t>
            </a:r>
          </a:p>
        </p:txBody>
      </p:sp>
    </p:spTree>
    <p:extLst>
      <p:ext uri="{BB962C8B-B14F-4D97-AF65-F5344CB8AC3E}">
        <p14:creationId xmlns:p14="http://schemas.microsoft.com/office/powerpoint/2010/main" val="1754307900"/>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6721A8-BA4B-4BA5-BBC9-F375C5E7FEC1}"/>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BM Hedef 11 odağımız</a:t>
            </a:r>
          </a:p>
        </p:txBody>
      </p:sp>
      <p:sp>
        <p:nvSpPr>
          <p:cNvPr id="2" name="">
            <a:extLst xmlns:a="http://schemas.openxmlformats.org/drawingml/2006/main">
              <a:ext uri="{FF2B5EF4-FFF2-40B4-BE49-F238E27FC236}">
                <a16:creationId xmlns:a16="http://schemas.microsoft.com/office/drawing/2014/main" id="{8E3FD86E-519A-4DAC-A6A4-DA4CE44DE675}"/>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30CAE840-7A3F-4243-A583-A1C9C7E5F86A}"/>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Hedef 11.2</a:t>
            </a:r>
          </a:p>
        </p:txBody>
      </p:sp>
      <p:sp>
        <p:nvSpPr>
          <p:cNvPr id="4" name="">
            <a:extLst xmlns:a="http://schemas.openxmlformats.org/drawingml/2006/main">
              <a:ext uri="{FF2B5EF4-FFF2-40B4-BE49-F238E27FC236}">
                <a16:creationId xmlns:a16="http://schemas.microsoft.com/office/drawing/2014/main" id="{0F5AF99B-214E-4E1D-9FE2-3E1B8F6D9686}"/>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Toplu taşıma erişimini konum değerlendirmesinde görünür kılmak.</a:t>
            </a:r>
          </a:p>
        </p:txBody>
      </p:sp>
      <p:sp>
        <p:nvSpPr>
          <p:cNvPr id="5" name="">
            <a:extLst xmlns:a="http://schemas.openxmlformats.org/drawingml/2006/main">
              <a:ext uri="{FF2B5EF4-FFF2-40B4-BE49-F238E27FC236}">
                <a16:creationId xmlns:a16="http://schemas.microsoft.com/office/drawing/2014/main" id="{FF2E2878-7EB9-403D-86FB-64047C3B05B9}"/>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Hedef 11.3</a:t>
            </a:r>
          </a:p>
        </p:txBody>
      </p:sp>
      <p:sp>
        <p:nvSpPr>
          <p:cNvPr id="6" name="">
            <a:extLst xmlns:a="http://schemas.openxmlformats.org/drawingml/2006/main">
              <a:ext uri="{FF2B5EF4-FFF2-40B4-BE49-F238E27FC236}">
                <a16:creationId xmlns:a16="http://schemas.microsoft.com/office/drawing/2014/main" id="{CD1BCF6D-B85B-4130-A649-82206B567EE0}"/>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Veriye dayalı mekânsal karşılaştırmayla planlama kararlarını desteklemek.</a:t>
            </a:r>
          </a:p>
        </p:txBody>
      </p:sp>
      <p:sp>
        <p:nvSpPr>
          <p:cNvPr id="7" name="">
            <a:extLst xmlns:a="http://schemas.openxmlformats.org/drawingml/2006/main">
              <a:ext uri="{FF2B5EF4-FFF2-40B4-BE49-F238E27FC236}">
                <a16:creationId xmlns:a16="http://schemas.microsoft.com/office/drawing/2014/main" id="{6CED53D0-EC36-465C-B764-A02F847D9618}"/>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Projedeki karşılığı</a:t>
            </a:r>
          </a:p>
        </p:txBody>
      </p:sp>
      <p:sp>
        <p:nvSpPr>
          <p:cNvPr id="8" name="">
            <a:extLst xmlns:a="http://schemas.openxmlformats.org/drawingml/2006/main">
              <a:ext uri="{FF2B5EF4-FFF2-40B4-BE49-F238E27FC236}">
                <a16:creationId xmlns:a16="http://schemas.microsoft.com/office/drawing/2014/main" id="{6FD444CF-606D-4938-8BF4-D7FBED34C8B8}"/>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Metro yakınlığı, duraklar, mahalle nüfusu ve park çevresi.</a:t>
            </a:r>
          </a:p>
        </p:txBody>
      </p:sp>
      <p:sp>
        <p:nvSpPr>
          <p:cNvPr id="9" name="">
            <a:extLst xmlns:a="http://schemas.openxmlformats.org/drawingml/2006/main">
              <a:ext uri="{FF2B5EF4-FFF2-40B4-BE49-F238E27FC236}">
                <a16:creationId xmlns:a16="http://schemas.microsoft.com/office/drawing/2014/main" id="{ACF01F65-BAC8-4236-A9CC-F500A07657A1}"/>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Bu bağlantı tasarım amacıdır. Sürdürülebilirlik etkisi henüz ölçülmedi.</a:t>
            </a:r>
          </a:p>
        </p:txBody>
      </p:sp>
    </p:spTree>
    <p:extLst>
      <p:ext uri="{BB962C8B-B14F-4D97-AF65-F5344CB8AC3E}">
        <p14:creationId xmlns:p14="http://schemas.microsoft.com/office/powerpoint/2010/main" val="64187519"/>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7AF837-9759-4C1C-8692-881A3F0A96AE}"/>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Pilot kapsamı: Ankara, Çankaya</a:t>
            </a:r>
          </a:p>
        </p:txBody>
      </p:sp>
      <p:sp>
        <p:nvSpPr>
          <p:cNvPr id="2" name="">
            <a:extLst xmlns:a="http://schemas.openxmlformats.org/drawingml/2006/main">
              <a:ext uri="{FF2B5EF4-FFF2-40B4-BE49-F238E27FC236}">
                <a16:creationId xmlns:a16="http://schemas.microsoft.com/office/drawing/2014/main" id="{3FB35143-FE47-4B5E-9FEE-C5B077BF1328}"/>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1DA3261C-C179-4671-A5CC-6D26D0851F1B}"/>
              </a:ext>
            </a:extLst>
          </p:cNvPr>
          <p:cNvSpPr>
            <a:spLocks xmlns:a="http://schemas.openxmlformats.org/drawingml/2006/main" noGrp="1"/>
          </p:cNvSpPr>
          <p:nvPr/>
        </p:nvSpPr>
        <p:spPr>
          <a:xfrm xmlns:a="http://schemas.openxmlformats.org/drawingml/2006/main">
            <a:off x="685800" y="182880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23694D"/>
                </a:solidFill>
                <a:latin typeface="DejaVu Sans"/>
                <a:ea typeface="DejaVu Sans"/>
                <a:cs typeface="DejaVu Sans"/>
              </a:defRPr>
            </a:pPr>
            <a:r>
              <a:rPr sz="6900" b="1">
                <a:solidFill>
                  <a:srgbClr val="23694D"/>
                </a:solidFill>
                <a:latin typeface="DejaVu Sans"/>
                <a:ea typeface="DejaVu Sans"/>
                <a:cs typeface="DejaVu Sans"/>
              </a:rPr>
              <a:t>5.361</a:t>
            </a:r>
          </a:p>
        </p:txBody>
      </p:sp>
      <p:sp>
        <p:nvSpPr>
          <p:cNvPr id="4" name="">
            <a:extLst xmlns:a="http://schemas.openxmlformats.org/drawingml/2006/main">
              <a:ext uri="{FF2B5EF4-FFF2-40B4-BE49-F238E27FC236}">
                <a16:creationId xmlns:a16="http://schemas.microsoft.com/office/drawing/2014/main" id="{7476F1FB-E17C-43E8-9981-C7B9F0A0022B}"/>
              </a:ext>
            </a:extLst>
          </p:cNvPr>
          <p:cNvSpPr>
            <a:spLocks xmlns:a="http://schemas.openxmlformats.org/drawingml/2006/main" noGrp="1"/>
          </p:cNvSpPr>
          <p:nvPr/>
        </p:nvSpPr>
        <p:spPr>
          <a:xfrm xmlns:a="http://schemas.openxmlformats.org/drawingml/2006/main">
            <a:off x="685800" y="293370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D31"/>
                </a:solidFill>
                <a:latin typeface="DejaVu Sans"/>
                <a:ea typeface="DejaVu Sans"/>
                <a:cs typeface="DejaVu Sans"/>
              </a:defRPr>
            </a:pPr>
            <a:r>
              <a:rPr sz="2400" b="0">
                <a:solidFill>
                  <a:srgbClr val="173D31"/>
                </a:solidFill>
                <a:latin typeface="DejaVu Sans"/>
                <a:ea typeface="DejaVu Sans"/>
                <a:cs typeface="DejaVu Sans"/>
              </a:rPr>
              <a:t>analiz hücresi</a:t>
            </a:r>
          </a:p>
        </p:txBody>
      </p:sp>
      <p:sp>
        <p:nvSpPr>
          <p:cNvPr id="5" name="">
            <a:extLst xmlns:a="http://schemas.openxmlformats.org/drawingml/2006/main">
              <a:ext uri="{FF2B5EF4-FFF2-40B4-BE49-F238E27FC236}">
                <a16:creationId xmlns:a16="http://schemas.microsoft.com/office/drawing/2014/main" id="{F5285E85-4F08-4115-B50F-D51FAA48E88F}"/>
              </a:ext>
            </a:extLst>
          </p:cNvPr>
          <p:cNvSpPr>
            <a:spLocks xmlns:a="http://schemas.openxmlformats.org/drawingml/2006/main" noGrp="1"/>
          </p:cNvSpPr>
          <p:nvPr/>
        </p:nvSpPr>
        <p:spPr>
          <a:xfrm xmlns:a="http://schemas.openxmlformats.org/drawingml/2006/main">
            <a:off x="6858000" y="19812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23694D"/>
                </a:solidFill>
                <a:latin typeface="DejaVu Sans"/>
                <a:ea typeface="DejaVu Sans"/>
                <a:cs typeface="DejaVu Sans"/>
              </a:defRPr>
            </a:pPr>
            <a:r>
              <a:rPr sz="3825" b="1">
                <a:solidFill>
                  <a:srgbClr val="23694D"/>
                </a:solidFill>
                <a:latin typeface="DejaVu Sans"/>
                <a:ea typeface="DejaVu Sans"/>
                <a:cs typeface="DejaVu Sans"/>
              </a:rPr>
              <a:t>300 × 300 m</a:t>
            </a:r>
          </a:p>
        </p:txBody>
      </p:sp>
      <p:sp>
        <p:nvSpPr>
          <p:cNvPr id="6" name="">
            <a:extLst xmlns:a="http://schemas.openxmlformats.org/drawingml/2006/main">
              <a:ext uri="{FF2B5EF4-FFF2-40B4-BE49-F238E27FC236}">
                <a16:creationId xmlns:a16="http://schemas.microsoft.com/office/drawing/2014/main" id="{16D83800-991D-4D0E-BD8E-570FC37B7801}"/>
              </a:ext>
            </a:extLst>
          </p:cNvPr>
          <p:cNvSpPr>
            <a:spLocks xmlns:a="http://schemas.openxmlformats.org/drawingml/2006/main" noGrp="1"/>
          </p:cNvSpPr>
          <p:nvPr/>
        </p:nvSpPr>
        <p:spPr>
          <a:xfrm xmlns:a="http://schemas.openxmlformats.org/drawingml/2006/main">
            <a:off x="6858000" y="28765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hücre ölçeği</a:t>
            </a:r>
          </a:p>
        </p:txBody>
      </p:sp>
      <p:sp>
        <p:nvSpPr>
          <p:cNvPr id="7" name="">
            <a:extLst xmlns:a="http://schemas.openxmlformats.org/drawingml/2006/main">
              <a:ext uri="{FF2B5EF4-FFF2-40B4-BE49-F238E27FC236}">
                <a16:creationId xmlns:a16="http://schemas.microsoft.com/office/drawing/2014/main" id="{7BD6492A-5C8A-4517-96BB-F0EDEC937DEA}"/>
              </a:ext>
            </a:extLst>
          </p:cNvPr>
          <p:cNvSpPr>
            <a:spLocks xmlns:a="http://schemas.openxmlformats.org/drawingml/2006/main" noGrp="1"/>
          </p:cNvSpPr>
          <p:nvPr/>
        </p:nvSpPr>
        <p:spPr>
          <a:xfrm xmlns:a="http://schemas.openxmlformats.org/drawingml/2006/main">
            <a:off x="685800" y="40576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D31"/>
                </a:solidFill>
                <a:latin typeface="DejaVu Sans"/>
                <a:ea typeface="DejaVu Sans"/>
                <a:cs typeface="DejaVu Sans"/>
              </a:defRPr>
            </a:pPr>
            <a:r>
              <a:rPr sz="2850" b="1">
                <a:solidFill>
                  <a:srgbClr val="173D31"/>
                </a:solidFill>
                <a:latin typeface="DejaVu Sans"/>
                <a:ea typeface="DejaVu Sans"/>
                <a:cs typeface="DejaVu Sans"/>
              </a:rPr>
              <a:t>121 mahalle etiketi</a:t>
            </a:r>
          </a:p>
        </p:txBody>
      </p:sp>
      <p:sp>
        <p:nvSpPr>
          <p:cNvPr id="8" name="">
            <a:extLst xmlns:a="http://schemas.openxmlformats.org/drawingml/2006/main">
              <a:ext uri="{FF2B5EF4-FFF2-40B4-BE49-F238E27FC236}">
                <a16:creationId xmlns:a16="http://schemas.microsoft.com/office/drawing/2014/main" id="{AF8289FB-3690-499A-9D78-C46DBE669249}"/>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Çıktı aday bölge düzeyindedir. Dükkân seçimi saha incelemesi gerektirir.</a:t>
            </a:r>
          </a:p>
        </p:txBody>
      </p:sp>
    </p:spTree>
    <p:extLst>
      <p:ext uri="{BB962C8B-B14F-4D97-AF65-F5344CB8AC3E}">
        <p14:creationId xmlns:p14="http://schemas.microsoft.com/office/powerpoint/2010/main" val="1370595957"/>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706D88-84EA-4BAB-BDC8-964391534A68}"/>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Veri kaynakları</a:t>
            </a:r>
          </a:p>
        </p:txBody>
      </p:sp>
      <p:sp>
        <p:nvSpPr>
          <p:cNvPr id="2" name="">
            <a:extLst xmlns:a="http://schemas.openxmlformats.org/drawingml/2006/main">
              <a:ext uri="{FF2B5EF4-FFF2-40B4-BE49-F238E27FC236}">
                <a16:creationId xmlns:a16="http://schemas.microsoft.com/office/drawing/2014/main" id="{DFD7F433-51C8-4814-ACE8-2972E2465643}"/>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07</a:t>
            </a:r>
          </a:p>
        </p:txBody>
      </p:sp>
      <p:graphicFrame>
        <p:nvGraphicFramePr>
          <p:cNvPr id="7" name=""/>
          <p:cNvGraphicFramePr/>
          <p:nvPr/>
        </p:nvGraphicFramePr>
        <p:xfrm>
          <a:off xmlns:a="http://schemas.openxmlformats.org/drawingml/2006/main" x="685800" y="1733550"/>
          <a:ext xmlns:a="http://schemas.openxmlformats.org/drawingml/2006/main" cx="10820400" cy="3429000"/>
        </p:xfrm>
        <a:graphic xmlns:a="http://schemas.openxmlformats.org/drawingml/2006/main">
          <a:graphicData uri="http://schemas.openxmlformats.org/drawingml/2006/table">
            <a:tbl>
              <a:tblPr/>
              <a:tblGrid>
                <a:gridCol w="2667000"/>
                <a:gridCol w="3667125"/>
                <a:gridCol w="4486275"/>
              </a:tblGrid>
              <a:tr h="857250">
                <a:tc>
                  <a:txBody>
                    <a:bodyPr/>
                    <a:lstStyle/>
                    <a:p>
                      <a:r>
                        <a:rPr sz="1800" b="1">
                          <a:solidFill>
                            <a:srgbClr val="FFFFFF"/>
                          </a:solidFill>
                          <a:latin typeface="DejaVu Sans"/>
                          <a:ea typeface="DejaVu Sans"/>
                          <a:cs typeface="DejaVu Sans"/>
                        </a:rPr>
                        <a:t>Kaynak</a:t>
                      </a:r>
                    </a:p>
                  </a:txBody>
                  <a:tcPr marL="91440" marR="91440" marT="45720" marB="45720">
                    <a:solidFill>
                      <a:srgbClr val="23694D"/>
                    </a:solidFill>
                  </a:tcPr>
                </a:tc>
                <a:tc>
                  <a:txBody>
                    <a:bodyPr/>
                    <a:lstStyle/>
                    <a:p>
                      <a:r>
                        <a:rPr sz="1800" b="1">
                          <a:solidFill>
                            <a:srgbClr val="FFFFFF"/>
                          </a:solidFill>
                          <a:latin typeface="DejaVu Sans"/>
                          <a:ea typeface="DejaVu Sans"/>
                          <a:cs typeface="DejaVu Sans"/>
                        </a:rPr>
                        <a:t>Kullanım</a:t>
                      </a:r>
                    </a:p>
                  </a:txBody>
                  <a:tcPr marL="91440" marR="91440" marT="45720" marB="45720">
                    <a:solidFill>
                      <a:srgbClr val="23694D"/>
                    </a:solidFill>
                  </a:tcPr>
                </a:tc>
                <a:tc>
                  <a:txBody>
                    <a:bodyPr/>
                    <a:lstStyle/>
                    <a:p>
                      <a:r>
                        <a:rPr sz="1800" b="1">
                          <a:solidFill>
                            <a:srgbClr val="FFFFFF"/>
                          </a:solidFill>
                          <a:latin typeface="DejaVu Sans"/>
                          <a:ea typeface="DejaVu Sans"/>
                          <a:cs typeface="DejaVu Sans"/>
                        </a:rPr>
                        <a:t>Önemli sınır</a:t>
                      </a:r>
                    </a:p>
                  </a:txBody>
                  <a:tcPr marL="91440" marR="91440" marT="45720" marB="45720">
                    <a:solidFill>
                      <a:srgbClr val="23694D"/>
                    </a:solidFill>
                  </a:tcPr>
                </a:tc>
              </a:tr>
              <a:tr h="857250">
                <a:tc>
                  <a:txBody>
                    <a:bodyPr/>
                    <a:lstStyle/>
                    <a:p>
                      <a:r>
                        <a:rPr sz="1800" b="0">
                          <a:solidFill>
                            <a:srgbClr val="173D31"/>
                          </a:solidFill>
                          <a:latin typeface="DejaVu Sans"/>
                          <a:ea typeface="DejaVu Sans"/>
                          <a:cs typeface="DejaVu Sans"/>
                        </a:rPr>
                        <a:t>OpenStreetMap</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Yerler, yollar ve ulaşım</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Kapsam ve güncellik değişebilir</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Nüfus CSV’si</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Mahalle nüfusu</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Depoda ADNKS 2025 etiketli</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Mekânsal ızgara</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Ortak analiz birimi</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Bina veya dükkân hassasiyetinde değil</a:t>
                      </a:r>
                    </a:p>
                  </a:txBody>
                  <a:tcPr marL="91440" marR="91440" marT="45720" marB="45720">
                    <a:solidFill>
                      <a:srgbClr val="F6F5EF"/>
                    </a:solidFill>
                  </a:tcPr>
                </a:tc>
              </a:tr>
            </a:tbl>
          </a:graphicData>
        </a:graphic>
      </p:graphicFrame>
      <p:sp>
        <p:nvSpPr>
          <p:cNvPr id="4" name="">
            <a:extLst xmlns:a="http://schemas.openxmlformats.org/drawingml/2006/main">
              <a:ext uri="{FF2B5EF4-FFF2-40B4-BE49-F238E27FC236}">
                <a16:creationId xmlns:a16="http://schemas.microsoft.com/office/drawing/2014/main" id="{08432E93-914B-4B7D-8C70-1594FFAD8E90}"/>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Yerleşik nüfus ve kurum sayıları, ölçülmüş müşteri talebi değildir.</a:t>
            </a:r>
          </a:p>
        </p:txBody>
      </p:sp>
    </p:spTree>
    <p:extLst>
      <p:ext uri="{BB962C8B-B14F-4D97-AF65-F5344CB8AC3E}">
        <p14:creationId xmlns:p14="http://schemas.microsoft.com/office/powerpoint/2010/main" val="529782683"/>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C16A11-99BF-45FE-BBD4-28B86D4D5F15}"/>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Veri hazırlama ve özellik üretimi</a:t>
            </a:r>
          </a:p>
        </p:txBody>
      </p:sp>
      <p:sp>
        <p:nvSpPr>
          <p:cNvPr id="2" name="">
            <a:extLst xmlns:a="http://schemas.openxmlformats.org/drawingml/2006/main">
              <a:ext uri="{FF2B5EF4-FFF2-40B4-BE49-F238E27FC236}">
                <a16:creationId xmlns:a16="http://schemas.microsoft.com/office/drawing/2014/main" id="{9422823F-E97D-40CD-AF7A-0E381D3DB5C0}"/>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A2D8B5BF-A59E-44EB-A596-0397892F9A49}"/>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01  Mekânsal hazırlık</a:t>
            </a:r>
          </a:p>
        </p:txBody>
      </p:sp>
      <p:sp>
        <p:nvSpPr>
          <p:cNvPr id="4" name="">
            <a:extLst xmlns:a="http://schemas.openxmlformats.org/drawingml/2006/main">
              <a:ext uri="{FF2B5EF4-FFF2-40B4-BE49-F238E27FC236}">
                <a16:creationId xmlns:a16="http://schemas.microsoft.com/office/drawing/2014/main" id="{88C9E394-A062-472B-BE1C-04BB2983AEFB}"/>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Çankaya sınırı ve 300 m ızgara. Analiz koordinat sistemi EPSG:32636.</a:t>
            </a:r>
          </a:p>
        </p:txBody>
      </p:sp>
      <p:sp>
        <p:nvSpPr>
          <p:cNvPr id="5" name="">
            <a:extLst xmlns:a="http://schemas.openxmlformats.org/drawingml/2006/main">
              <a:ext uri="{FF2B5EF4-FFF2-40B4-BE49-F238E27FC236}">
                <a16:creationId xmlns:a16="http://schemas.microsoft.com/office/drawing/2014/main" id="{D8BA10B0-6CDA-4580-B6E5-736F187FD122}"/>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02  Çevre özellikleri</a:t>
            </a:r>
          </a:p>
        </p:txBody>
      </p:sp>
      <p:sp>
        <p:nvSpPr>
          <p:cNvPr id="6" name="">
            <a:extLst xmlns:a="http://schemas.openxmlformats.org/drawingml/2006/main">
              <a:ext uri="{FF2B5EF4-FFF2-40B4-BE49-F238E27FC236}">
                <a16:creationId xmlns:a16="http://schemas.microsoft.com/office/drawing/2014/main" id="{868A75A4-DEF6-46E3-A49A-FF90E2704029}"/>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Kurum sayımları, metro mesafesi ve ulaşım göstergeleri.</a:t>
            </a:r>
          </a:p>
        </p:txBody>
      </p:sp>
      <p:sp>
        <p:nvSpPr>
          <p:cNvPr id="7" name="">
            <a:extLst xmlns:a="http://schemas.openxmlformats.org/drawingml/2006/main">
              <a:ext uri="{FF2B5EF4-FFF2-40B4-BE49-F238E27FC236}">
                <a16:creationId xmlns:a16="http://schemas.microsoft.com/office/drawing/2014/main" id="{4876CE5D-3B04-435D-81AE-3C09AB16CB70}"/>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03  Nüfus ve ölçekleme</a:t>
            </a:r>
          </a:p>
        </p:txBody>
      </p:sp>
      <p:sp>
        <p:nvSpPr>
          <p:cNvPr id="8" name="">
            <a:extLst xmlns:a="http://schemas.openxmlformats.org/drawingml/2006/main">
              <a:ext uri="{FF2B5EF4-FFF2-40B4-BE49-F238E27FC236}">
                <a16:creationId xmlns:a16="http://schemas.microsoft.com/office/drawing/2014/main" id="{0363AADC-793F-453C-8AF8-DC0DD5BE3D25}"/>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Nüfusu kesişim alanıyla dağıtma ve ilçe genelinde normalizasyon.</a:t>
            </a:r>
          </a:p>
        </p:txBody>
      </p:sp>
      <p:sp>
        <p:nvSpPr>
          <p:cNvPr id="9" name="">
            <a:extLst xmlns:a="http://schemas.openxmlformats.org/drawingml/2006/main">
              <a:ext uri="{FF2B5EF4-FFF2-40B4-BE49-F238E27FC236}">
                <a16:creationId xmlns:a16="http://schemas.microsoft.com/office/drawing/2014/main" id="{24C5A04A-49B5-4BE0-A5F0-095960C8765C}"/>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Alansal nüfus dağıtımı, mahalle içinde eşit yoğunluk varsayımına dayanır.</a:t>
            </a:r>
          </a:p>
        </p:txBody>
      </p:sp>
    </p:spTree>
    <p:extLst>
      <p:ext uri="{BB962C8B-B14F-4D97-AF65-F5344CB8AC3E}">
        <p14:creationId xmlns:p14="http://schemas.microsoft.com/office/powerpoint/2010/main" val="1138204699"/>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617A41-B246-4878-BD82-51743D4E26FB}"/>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İki puan, iki farklı anlam</a:t>
            </a:r>
          </a:p>
        </p:txBody>
      </p:sp>
      <p:sp>
        <p:nvSpPr>
          <p:cNvPr id="2" name="">
            <a:extLst xmlns:a="http://schemas.openxmlformats.org/drawingml/2006/main">
              <a:ext uri="{FF2B5EF4-FFF2-40B4-BE49-F238E27FC236}">
                <a16:creationId xmlns:a16="http://schemas.microsoft.com/office/drawing/2014/main" id="{BE813CFA-4185-45FA-8828-636047983912}"/>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09</a:t>
            </a:r>
          </a:p>
        </p:txBody>
      </p:sp>
      <p:graphicFrame>
        <p:nvGraphicFramePr>
          <p:cNvPr id="7" name=""/>
          <p:cNvGraphicFramePr/>
          <p:nvPr/>
        </p:nvGraphicFramePr>
        <p:xfrm>
          <a:off xmlns:a="http://schemas.openxmlformats.org/drawingml/2006/main" x="685800" y="1733550"/>
          <a:ext xmlns:a="http://schemas.openxmlformats.org/drawingml/2006/main" cx="10820400" cy="3429000"/>
        </p:xfrm>
        <a:graphic xmlns:a="http://schemas.openxmlformats.org/drawingml/2006/main">
          <a:graphicData uri="http://schemas.openxmlformats.org/drawingml/2006/table">
            <a:tbl>
              <a:tblPr/>
              <a:tblGrid>
                <a:gridCol w="3476625"/>
                <a:gridCol w="7343775"/>
              </a:tblGrid>
              <a:tr h="857250">
                <a:tc>
                  <a:txBody>
                    <a:bodyPr/>
                    <a:lstStyle/>
                    <a:p>
                      <a:r>
                        <a:rPr sz="1800" b="1">
                          <a:solidFill>
                            <a:srgbClr val="FFFFFF"/>
                          </a:solidFill>
                          <a:latin typeface="DejaVu Sans"/>
                          <a:ea typeface="DejaVu Sans"/>
                          <a:cs typeface="DejaVu Sans"/>
                        </a:rPr>
                        <a:t>Katman</a:t>
                      </a:r>
                    </a:p>
                  </a:txBody>
                  <a:tcPr marL="91440" marR="91440" marT="45720" marB="45720">
                    <a:solidFill>
                      <a:srgbClr val="23694D"/>
                    </a:solidFill>
                  </a:tcPr>
                </a:tc>
                <a:tc>
                  <a:txBody>
                    <a:bodyPr/>
                    <a:lstStyle/>
                    <a:p>
                      <a:r>
                        <a:rPr sz="1800" b="1">
                          <a:solidFill>
                            <a:srgbClr val="FFFFFF"/>
                          </a:solidFill>
                          <a:latin typeface="DejaVu Sans"/>
                          <a:ea typeface="DejaVu Sans"/>
                          <a:cs typeface="DejaVu Sans"/>
                        </a:rPr>
                        <a:t>Yanıtladığı soru</a:t>
                      </a:r>
                    </a:p>
                  </a:txBody>
                  <a:tcPr marL="91440" marR="91440" marT="45720" marB="45720">
                    <a:solidFill>
                      <a:srgbClr val="23694D"/>
                    </a:solidFill>
                  </a:tcPr>
                </a:tc>
              </a:tr>
              <a:tr h="857250">
                <a:tc>
                  <a:txBody>
                    <a:bodyPr/>
                    <a:lstStyle/>
                    <a:p>
                      <a:r>
                        <a:rPr sz="1800" b="0">
                          <a:solidFill>
                            <a:srgbClr val="173D31"/>
                          </a:solidFill>
                          <a:latin typeface="DejaVu Sans"/>
                          <a:ea typeface="DejaVu Sans"/>
                          <a:cs typeface="DejaVu Sans"/>
                        </a:rPr>
                        <a:t>MCDA uygunluk</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Seçilen önceliklere göre bu konum nasıl sıralanır?</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Random Forest benzerlik</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Kayıtlı kafelerin bulunduğu çevrelere ne kadar benzer?</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Karar desteği</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Hangi bölgeler saha incelemesine alınmalı?</a:t>
                      </a:r>
                    </a:p>
                  </a:txBody>
                  <a:tcPr marL="91440" marR="91440" marT="45720" marB="45720">
                    <a:solidFill>
                      <a:srgbClr val="F6F5EF"/>
                    </a:solidFill>
                  </a:tcPr>
                </a:tc>
              </a:tr>
            </a:tbl>
          </a:graphicData>
        </a:graphic>
      </p:graphicFrame>
      <p:sp>
        <p:nvSpPr>
          <p:cNvPr id="4" name="">
            <a:extLst xmlns:a="http://schemas.openxmlformats.org/drawingml/2006/main">
              <a:ext uri="{FF2B5EF4-FFF2-40B4-BE49-F238E27FC236}">
                <a16:creationId xmlns:a16="http://schemas.microsoft.com/office/drawing/2014/main" id="{26EE7854-32F1-4456-A4FF-3D9D3C857389}"/>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Uygunluk ve benzerlik puanları 0–100 ölçeğindedir.</a:t>
            </a:r>
          </a:p>
        </p:txBody>
      </p:sp>
    </p:spTree>
    <p:extLst>
      <p:ext uri="{BB962C8B-B14F-4D97-AF65-F5344CB8AC3E}">
        <p14:creationId xmlns:p14="http://schemas.microsoft.com/office/powerpoint/2010/main" val="1970897745"/>
      </p:ext>
    </p:extLst>
  </p:cSld>
</p:sld>
</file>

<file path=ppt/slides/slide1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8C1833-5041-4A9A-B445-1A06EA7F0BDD}"/>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Uygunluk puanının yapısı</a:t>
            </a:r>
          </a:p>
        </p:txBody>
      </p:sp>
      <p:sp>
        <p:nvSpPr>
          <p:cNvPr id="2" name="">
            <a:extLst xmlns:a="http://schemas.openxmlformats.org/drawingml/2006/main">
              <a:ext uri="{FF2B5EF4-FFF2-40B4-BE49-F238E27FC236}">
                <a16:creationId xmlns:a16="http://schemas.microsoft.com/office/drawing/2014/main" id="{A7CDD59C-D197-4C6A-8CD2-B9B24E35F9CD}"/>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6C683F19-FCA1-4218-8203-3A711C5F0726}"/>
              </a:ext>
            </a:extLst>
          </p:cNvPr>
          <p:cNvSpPr>
            <a:spLocks xmlns:a="http://schemas.openxmlformats.org/drawingml/2006/main" noGrp="1"/>
          </p:cNvSpPr>
          <p:nvPr/>
        </p:nvSpPr>
        <p:spPr>
          <a:xfrm xmlns:a="http://schemas.openxmlformats.org/drawingml/2006/main">
            <a:off x="685800" y="14478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5F"/>
                </a:solidFill>
                <a:latin typeface="DejaVu Sans"/>
                <a:ea typeface="DejaVu Sans"/>
                <a:cs typeface="DejaVu Sans"/>
              </a:defRPr>
            </a:pPr>
            <a:r>
              <a:rPr sz="1725" b="0">
                <a:solidFill>
                  <a:srgbClr val="56675F"/>
                </a:solidFill>
                <a:latin typeface="DejaVu Sans"/>
                <a:ea typeface="DejaVu Sans"/>
                <a:cs typeface="DejaVu Sans"/>
              </a:rPr>
              <a:t>Başlangıç ağırlıkları (%)</a:t>
            </a:r>
          </a:p>
        </p:txBody>
      </p:sp>
      <p:graphicFrame>
        <p:nvGraphicFramePr>
          <p:cNvPr id="10" name="Chart"/>
          <p:cNvGraphicFramePr/>
          <p:nvPr/>
        </p:nvGraphicFramePr>
        <p:xfrm>
          <a:off xmlns:a="http://schemas.openxmlformats.org/drawingml/2006/main" x="685800" y="1809750"/>
          <a:ext xmlns:a="http://schemas.openxmlformats.org/drawingml/2006/main" cx="7239000" cy="3190875"/>
        </p:xfrm>
        <a:graphic xmlns:a="http://schemas.openxmlformats.org/drawingml/2006/main">
          <a:graphicData uri="http://schemas.openxmlformats.org/drawingml/2006/chart">
            <c:chart xmlns:r="http://schemas.openxmlformats.org/officeDocument/2006/relationships" xmlns:c="http://schemas.openxmlformats.org/drawingml/2006/chart" r:id="Rb96f566390214ff3"/>
          </a:graphicData>
        </a:graphic>
      </p:graphicFrame>
      <p:sp>
        <p:nvSpPr>
          <p:cNvPr id="5" name="">
            <a:extLst xmlns:a="http://schemas.openxmlformats.org/drawingml/2006/main">
              <a:ext uri="{FF2B5EF4-FFF2-40B4-BE49-F238E27FC236}">
                <a16:creationId xmlns:a16="http://schemas.microsoft.com/office/drawing/2014/main" id="{B6BF9CB0-2E7C-4DFC-9AA1-1C5099D05FC7}"/>
              </a:ext>
            </a:extLst>
          </p:cNvPr>
          <p:cNvSpPr>
            <a:spLocks xmlns:a="http://schemas.openxmlformats.org/drawingml/2006/main" noGrp="1"/>
          </p:cNvSpPr>
          <p:nvPr/>
        </p:nvSpPr>
        <p:spPr>
          <a:xfrm xmlns:a="http://schemas.openxmlformats.org/drawingml/2006/main">
            <a:off x="8477250" y="2190750"/>
            <a:ext cx="295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Koşullu bonus</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En fazla +5 puan</a:t>
            </a:r>
          </a:p>
          <a:p xmlns:a="http://schemas.openxmlformats.org/drawingml/2006/main">
            <a:r>
              <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Rekabet cezası</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En fazla −5 puan</a:t>
            </a:r>
          </a:p>
        </p:txBody>
      </p:sp>
      <p:sp>
        <p:nvSpPr>
          <p:cNvPr id="6" name="">
            <a:extLst xmlns:a="http://schemas.openxmlformats.org/drawingml/2006/main">
              <a:ext uri="{FF2B5EF4-FFF2-40B4-BE49-F238E27FC236}">
                <a16:creationId xmlns:a16="http://schemas.microsoft.com/office/drawing/2014/main" id="{D40B06B4-8EA7-4294-8407-EBFE2AED318F}"/>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Olumlu ağırlıklar kendi toplamına bölünür. Sonuç 0–100 aralığında tutulur.</a:t>
            </a:r>
          </a:p>
        </p:txBody>
      </p:sp>
    </p:spTree>
    <p:extLst>
      <p:ext uri="{BB962C8B-B14F-4D97-AF65-F5344CB8AC3E}">
        <p14:creationId xmlns:p14="http://schemas.microsoft.com/office/powerpoint/2010/main" val="2044936349"/>
      </p:ext>
    </p:extLst>
  </p:cSld>
</p:sld>
</file>

<file path=ppt/slides/slide1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30A247-D23A-4FE1-9C60-08D8D383B39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Talep ve erişim göstergeleri</a:t>
            </a:r>
          </a:p>
        </p:txBody>
      </p:sp>
      <p:sp>
        <p:nvSpPr>
          <p:cNvPr id="2" name="">
            <a:extLst xmlns:a="http://schemas.openxmlformats.org/drawingml/2006/main">
              <a:ext uri="{FF2B5EF4-FFF2-40B4-BE49-F238E27FC236}">
                <a16:creationId xmlns:a16="http://schemas.microsoft.com/office/drawing/2014/main" id="{11C4641F-21E3-4713-BB41-B7A24DC014F1}"/>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11</a:t>
            </a:r>
          </a:p>
        </p:txBody>
      </p:sp>
      <p:graphicFrame>
        <p:nvGraphicFramePr>
          <p:cNvPr id="7" name=""/>
          <p:cNvGraphicFramePr/>
          <p:nvPr/>
        </p:nvGraphicFramePr>
        <p:xfrm>
          <a:off xmlns:a="http://schemas.openxmlformats.org/drawingml/2006/main" x="685800" y="1733550"/>
          <a:ext xmlns:a="http://schemas.openxmlformats.org/drawingml/2006/main" cx="10820400" cy="3429000"/>
        </p:xfrm>
        <a:graphic xmlns:a="http://schemas.openxmlformats.org/drawingml/2006/main">
          <a:graphicData uri="http://schemas.openxmlformats.org/drawingml/2006/table">
            <a:tbl>
              <a:tblPr/>
              <a:tblGrid>
                <a:gridCol w="2762250"/>
                <a:gridCol w="8058150"/>
              </a:tblGrid>
              <a:tr h="857250">
                <a:tc>
                  <a:txBody>
                    <a:bodyPr/>
                    <a:lstStyle/>
                    <a:p>
                      <a:r>
                        <a:rPr sz="1800" b="1">
                          <a:solidFill>
                            <a:srgbClr val="FFFFFF"/>
                          </a:solidFill>
                          <a:latin typeface="DejaVu Sans"/>
                          <a:ea typeface="DejaVu Sans"/>
                          <a:cs typeface="DejaVu Sans"/>
                        </a:rPr>
                        <a:t>Bileşen</a:t>
                      </a:r>
                    </a:p>
                  </a:txBody>
                  <a:tcPr marL="91440" marR="91440" marT="45720" marB="45720">
                    <a:solidFill>
                      <a:srgbClr val="23694D"/>
                    </a:solidFill>
                  </a:tcPr>
                </a:tc>
                <a:tc>
                  <a:txBody>
                    <a:bodyPr/>
                    <a:lstStyle/>
                    <a:p>
                      <a:r>
                        <a:rPr sz="1800" b="1">
                          <a:solidFill>
                            <a:srgbClr val="FFFFFF"/>
                          </a:solidFill>
                          <a:latin typeface="DejaVu Sans"/>
                          <a:ea typeface="DejaVu Sans"/>
                          <a:cs typeface="DejaVu Sans"/>
                        </a:rPr>
                        <a:t>Alt göstergeler</a:t>
                      </a:r>
                    </a:p>
                  </a:txBody>
                  <a:tcPr marL="91440" marR="91440" marT="45720" marB="45720">
                    <a:solidFill>
                      <a:srgbClr val="23694D"/>
                    </a:solidFill>
                  </a:tcPr>
                </a:tc>
              </a:tr>
              <a:tr h="857250">
                <a:tc>
                  <a:txBody>
                    <a:bodyPr/>
                    <a:lstStyle/>
                    <a:p>
                      <a:r>
                        <a:rPr sz="1800" b="0">
                          <a:solidFill>
                            <a:srgbClr val="173D31"/>
                          </a:solidFill>
                          <a:latin typeface="DejaVu Sans"/>
                          <a:ea typeface="DejaVu Sans"/>
                          <a:cs typeface="DejaVu Sans"/>
                        </a:rPr>
                        <a:t>Talep</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Üniversite, alışveriş, okul, park, ofis, devlet dairesi, kreş</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Erişim</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Otobüs durakları, metro yakınlığı, yol kesişimleri</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Nüfus</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Mahalle nüfusunun hücrelere alansal dağıtımı</a:t>
                      </a:r>
                    </a:p>
                  </a:txBody>
                  <a:tcPr marL="91440" marR="91440" marT="45720" marB="45720">
                    <a:solidFill>
                      <a:srgbClr val="F6F5EF"/>
                    </a:solidFill>
                  </a:tcPr>
                </a:tc>
              </a:tr>
            </a:tbl>
          </a:graphicData>
        </a:graphic>
      </p:graphicFrame>
      <p:sp>
        <p:nvSpPr>
          <p:cNvPr id="4" name="">
            <a:extLst xmlns:a="http://schemas.openxmlformats.org/drawingml/2006/main">
              <a:ext uri="{FF2B5EF4-FFF2-40B4-BE49-F238E27FC236}">
                <a16:creationId xmlns:a16="http://schemas.microsoft.com/office/drawing/2014/main" id="{8CDC1AB7-E9F6-47AB-BF09-B27C3147DC21}"/>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Eksik talep katmanlarında mevcut alt ağırlıklar yeniden oranlanır.</a:t>
            </a:r>
          </a:p>
        </p:txBody>
      </p:sp>
    </p:spTree>
    <p:extLst>
      <p:ext uri="{BB962C8B-B14F-4D97-AF65-F5344CB8AC3E}">
        <p14:creationId xmlns:p14="http://schemas.microsoft.com/office/powerpoint/2010/main" val="185878543"/>
      </p:ext>
    </p:extLst>
  </p:cSld>
</p:sld>
</file>

<file path=ppt/slides/slide1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BB904A-F24F-483C-BBF5-E4AC3C3AA419}"/>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Rekabet ve yoğunluk dengesi</a:t>
            </a:r>
          </a:p>
        </p:txBody>
      </p:sp>
      <p:sp>
        <p:nvSpPr>
          <p:cNvPr id="2" name="">
            <a:extLst xmlns:a="http://schemas.openxmlformats.org/drawingml/2006/main">
              <a:ext uri="{FF2B5EF4-FFF2-40B4-BE49-F238E27FC236}">
                <a16:creationId xmlns:a16="http://schemas.microsoft.com/office/drawing/2014/main" id="{9A82EF76-7D61-4F68-BB66-D4CD2D75F72B}"/>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12</a:t>
            </a:r>
          </a:p>
        </p:txBody>
      </p:sp>
      <p:graphicFrame>
        <p:nvGraphicFramePr>
          <p:cNvPr id="7" name=""/>
          <p:cNvGraphicFramePr/>
          <p:nvPr/>
        </p:nvGraphicFramePr>
        <p:xfrm>
          <a:off xmlns:a="http://schemas.openxmlformats.org/drawingml/2006/main" x="685800" y="1733550"/>
          <a:ext xmlns:a="http://schemas.openxmlformats.org/drawingml/2006/main" cx="10820400" cy="3429000"/>
        </p:xfrm>
        <a:graphic xmlns:a="http://schemas.openxmlformats.org/drawingml/2006/main">
          <a:graphicData uri="http://schemas.openxmlformats.org/drawingml/2006/table">
            <a:tbl>
              <a:tblPr/>
              <a:tblGrid>
                <a:gridCol w="3714750"/>
                <a:gridCol w="2095500"/>
                <a:gridCol w="5010150"/>
              </a:tblGrid>
              <a:tr h="857250">
                <a:tc>
                  <a:txBody>
                    <a:bodyPr/>
                    <a:lstStyle/>
                    <a:p>
                      <a:r>
                        <a:rPr sz="1800" b="1">
                          <a:solidFill>
                            <a:srgbClr val="FFFFFF"/>
                          </a:solidFill>
                          <a:latin typeface="DejaVu Sans"/>
                          <a:ea typeface="DejaVu Sans"/>
                          <a:cs typeface="DejaVu Sans"/>
                        </a:rPr>
                        <a:t>Mekânsal çevre</a:t>
                      </a:r>
                    </a:p>
                  </a:txBody>
                  <a:tcPr marL="91440" marR="91440" marT="45720" marB="45720">
                    <a:solidFill>
                      <a:srgbClr val="23694D"/>
                    </a:solidFill>
                  </a:tcPr>
                </a:tc>
                <a:tc>
                  <a:txBody>
                    <a:bodyPr/>
                    <a:lstStyle/>
                    <a:p>
                      <a:r>
                        <a:rPr sz="1800" b="1">
                          <a:solidFill>
                            <a:srgbClr val="FFFFFF"/>
                          </a:solidFill>
                          <a:latin typeface="DejaVu Sans"/>
                          <a:ea typeface="DejaVu Sans"/>
                          <a:cs typeface="DejaVu Sans"/>
                        </a:rPr>
                        <a:t>Kafe eşiği</a:t>
                      </a:r>
                    </a:p>
                  </a:txBody>
                  <a:tcPr marL="91440" marR="91440" marT="45720" marB="45720">
                    <a:solidFill>
                      <a:srgbClr val="23694D"/>
                    </a:solidFill>
                  </a:tcPr>
                </a:tc>
                <a:tc>
                  <a:txBody>
                    <a:bodyPr/>
                    <a:lstStyle/>
                    <a:p>
                      <a:r>
                        <a:rPr sz="1800" b="1">
                          <a:solidFill>
                            <a:srgbClr val="FFFFFF"/>
                          </a:solidFill>
                          <a:latin typeface="DejaVu Sans"/>
                          <a:ea typeface="DejaVu Sans"/>
                          <a:cs typeface="DejaVu Sans"/>
                        </a:rPr>
                        <a:t>Varsayılan ceza</a:t>
                      </a:r>
                    </a:p>
                  </a:txBody>
                  <a:tcPr marL="91440" marR="91440" marT="45720" marB="45720">
                    <a:solidFill>
                      <a:srgbClr val="23694D"/>
                    </a:solidFill>
                  </a:tcPr>
                </a:tc>
              </a:tr>
              <a:tr h="857250">
                <a:tc>
                  <a:txBody>
                    <a:bodyPr/>
                    <a:lstStyle/>
                    <a:p>
                      <a:r>
                        <a:rPr sz="1800" b="0">
                          <a:solidFill>
                            <a:srgbClr val="173D31"/>
                          </a:solidFill>
                          <a:latin typeface="DejaVu Sans"/>
                          <a:ea typeface="DejaVu Sans"/>
                          <a:cs typeface="DejaVu Sans"/>
                        </a:rPr>
                        <a:t>Merkez hücre</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 2</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Her aşılan eşik ≈ 1,67 puan</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3 × 3 blok, 9 hücre</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 6</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Toplam en fazla 5 puan</a:t>
                      </a:r>
                    </a:p>
                  </a:txBody>
                  <a:tcPr marL="91440" marR="91440" marT="45720" marB="45720">
                    <a:solidFill>
                      <a:srgbClr val="F6F5EF"/>
                    </a:solidFill>
                  </a:tcPr>
                </a:tc>
              </a:tr>
              <a:tr h="857250">
                <a:tc>
                  <a:txBody>
                    <a:bodyPr/>
                    <a:lstStyle/>
                    <a:p>
                      <a:r>
                        <a:rPr sz="1800" b="0">
                          <a:solidFill>
                            <a:srgbClr val="173D31"/>
                          </a:solidFill>
                          <a:latin typeface="DejaVu Sans"/>
                          <a:ea typeface="DejaVu Sans"/>
                          <a:cs typeface="DejaVu Sans"/>
                        </a:rPr>
                        <a:t>5 × 5 blok, 25 hücre</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 13</a:t>
                      </a:r>
                    </a:p>
                  </a:txBody>
                  <a:tcPr marL="91440" marR="91440" marT="45720" marB="45720">
                    <a:solidFill>
                      <a:srgbClr val="F6F5EF"/>
                    </a:solidFill>
                  </a:tcPr>
                </a:tc>
                <a:tc>
                  <a:txBody>
                    <a:bodyPr/>
                    <a:lstStyle/>
                    <a:p>
                      <a:r>
                        <a:rPr sz="1800" b="0">
                          <a:solidFill>
                            <a:srgbClr val="173D31"/>
                          </a:solidFill>
                          <a:latin typeface="DejaVu Sans"/>
                          <a:ea typeface="DejaVu Sans"/>
                          <a:cs typeface="DejaVu Sans"/>
                        </a:rPr>
                        <a:t>Eşik aşılırsa bonus kapanır</a:t>
                      </a:r>
                    </a:p>
                  </a:txBody>
                  <a:tcPr marL="91440" marR="91440" marT="45720" marB="45720">
                    <a:solidFill>
                      <a:srgbClr val="F6F5EF"/>
                    </a:solidFill>
                  </a:tcPr>
                </a:tc>
              </a:tr>
            </a:tbl>
          </a:graphicData>
        </a:graphic>
      </p:graphicFrame>
      <p:sp>
        <p:nvSpPr>
          <p:cNvPr id="4" name="">
            <a:extLst xmlns:a="http://schemas.openxmlformats.org/drawingml/2006/main">
              <a:ext uri="{FF2B5EF4-FFF2-40B4-BE49-F238E27FC236}">
                <a16:creationId xmlns:a16="http://schemas.microsoft.com/office/drawing/2014/main" id="{59BAC320-8E30-45D8-91C4-06BD29076085}"/>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Rekabet bilinmiyorsa yoğunluk bonusu verilmez, etkilenen puan geçicidir.</a:t>
            </a:r>
          </a:p>
        </p:txBody>
      </p:sp>
    </p:spTree>
    <p:extLst>
      <p:ext uri="{BB962C8B-B14F-4D97-AF65-F5344CB8AC3E}">
        <p14:creationId xmlns:p14="http://schemas.microsoft.com/office/powerpoint/2010/main" val="469579729"/>
      </p:ext>
    </p:extLst>
  </p:cSld>
</p:sld>
</file>

<file path=ppt/slides/slide1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1B7495-6726-4640-93DF-67F81F342C85}"/>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Yapay zekâ: Random Forest</a:t>
            </a:r>
          </a:p>
        </p:txBody>
      </p:sp>
      <p:sp>
        <p:nvSpPr>
          <p:cNvPr id="2" name="">
            <a:extLst xmlns:a="http://schemas.openxmlformats.org/drawingml/2006/main">
              <a:ext uri="{FF2B5EF4-FFF2-40B4-BE49-F238E27FC236}">
                <a16:creationId xmlns:a16="http://schemas.microsoft.com/office/drawing/2014/main" id="{B6BDBB72-8F6C-454F-9648-0A9A1E403396}"/>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525AC5A2-3E1A-49B6-ADDF-C0B242344AA1}"/>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Öğrenilen hedef</a:t>
            </a:r>
          </a:p>
        </p:txBody>
      </p:sp>
      <p:sp>
        <p:nvSpPr>
          <p:cNvPr id="4" name="">
            <a:extLst xmlns:a="http://schemas.openxmlformats.org/drawingml/2006/main">
              <a:ext uri="{FF2B5EF4-FFF2-40B4-BE49-F238E27FC236}">
                <a16:creationId xmlns:a16="http://schemas.microsoft.com/office/drawing/2014/main" id="{38AD124E-E19F-4382-A2F2-7A530B8CF265}"/>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500 m çevrede en az bir kayıtlı kafe varlığı.</a:t>
            </a:r>
          </a:p>
        </p:txBody>
      </p:sp>
      <p:sp>
        <p:nvSpPr>
          <p:cNvPr id="5" name="">
            <a:extLst xmlns:a="http://schemas.openxmlformats.org/drawingml/2006/main">
              <a:ext uri="{FF2B5EF4-FFF2-40B4-BE49-F238E27FC236}">
                <a16:creationId xmlns:a16="http://schemas.microsoft.com/office/drawing/2014/main" id="{F15E171A-38DD-4FF9-BB25-6E57755843BA}"/>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Model yapısı</a:t>
            </a:r>
          </a:p>
        </p:txBody>
      </p:sp>
      <p:sp>
        <p:nvSpPr>
          <p:cNvPr id="6" name="">
            <a:extLst xmlns:a="http://schemas.openxmlformats.org/drawingml/2006/main">
              <a:ext uri="{FF2B5EF4-FFF2-40B4-BE49-F238E27FC236}">
                <a16:creationId xmlns:a16="http://schemas.microsoft.com/office/drawing/2014/main" id="{F1F2F17A-9F90-437C-8649-D6A5A507B08F}"/>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300 ağaç. Çevre, erişim ve nüfus özellikleri.</a:t>
            </a:r>
          </a:p>
        </p:txBody>
      </p:sp>
      <p:sp>
        <p:nvSpPr>
          <p:cNvPr id="7" name="">
            <a:extLst xmlns:a="http://schemas.openxmlformats.org/drawingml/2006/main">
              <a:ext uri="{FF2B5EF4-FFF2-40B4-BE49-F238E27FC236}">
                <a16:creationId xmlns:a16="http://schemas.microsoft.com/office/drawing/2014/main" id="{645BA173-6AFA-40C3-B056-C72CFD5170E9}"/>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Veri sızıntısı önlemi</a:t>
            </a:r>
          </a:p>
        </p:txBody>
      </p:sp>
      <p:sp>
        <p:nvSpPr>
          <p:cNvPr id="8" name="">
            <a:extLst xmlns:a="http://schemas.openxmlformats.org/drawingml/2006/main">
              <a:ext uri="{FF2B5EF4-FFF2-40B4-BE49-F238E27FC236}">
                <a16:creationId xmlns:a16="http://schemas.microsoft.com/office/drawing/2014/main" id="{E994D3B7-0A65-437F-8B4A-CD5DC007FA26}"/>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Doğrudan kafe girdilerini çıkarma ve kafesiz çeşitlilik hesabı.</a:t>
            </a:r>
          </a:p>
        </p:txBody>
      </p:sp>
      <p:sp>
        <p:nvSpPr>
          <p:cNvPr id="9" name="">
            <a:extLst xmlns:a="http://schemas.openxmlformats.org/drawingml/2006/main">
              <a:ext uri="{FF2B5EF4-FFF2-40B4-BE49-F238E27FC236}">
                <a16:creationId xmlns:a16="http://schemas.microsoft.com/office/drawing/2014/main" id="{0A1B7964-EFD7-4C8C-8D6A-82BCE7903A93}"/>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Benzerlik puanı, eğitim dışında tutulan tahmin olasılığı × 100 olarak hesaplanır.</a:t>
            </a:r>
          </a:p>
        </p:txBody>
      </p:sp>
    </p:spTree>
    <p:extLst>
      <p:ext uri="{BB962C8B-B14F-4D97-AF65-F5344CB8AC3E}">
        <p14:creationId xmlns:p14="http://schemas.microsoft.com/office/powerpoint/2010/main" val="113996076"/>
      </p:ext>
    </p:extLst>
  </p:cSld>
</p:sld>
</file>

<file path=ppt/slides/slide1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9A71E8-5EA0-4E32-B9AB-BECA829AAC04}"/>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Model doğrulama sonuçları</a:t>
            </a:r>
          </a:p>
        </p:txBody>
      </p:sp>
      <p:sp>
        <p:nvSpPr>
          <p:cNvPr id="2" name="">
            <a:extLst xmlns:a="http://schemas.openxmlformats.org/drawingml/2006/main">
              <a:ext uri="{FF2B5EF4-FFF2-40B4-BE49-F238E27FC236}">
                <a16:creationId xmlns:a16="http://schemas.microsoft.com/office/drawing/2014/main" id="{88373CA6-4439-4164-B3BB-90A7F70BD202}"/>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14</a:t>
            </a:r>
          </a:p>
        </p:txBody>
      </p:sp>
      <p:graphicFrame>
        <p:nvGraphicFramePr>
          <p:cNvPr id="9" name="Chart"/>
          <p:cNvGraphicFramePr/>
          <p:nvPr/>
        </p:nvGraphicFramePr>
        <p:xfrm>
          <a:off xmlns:a="http://schemas.openxmlformats.org/drawingml/2006/main" x="685800" y="1695450"/>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c24b0532853e4b6a"/>
          </a:graphicData>
        </a:graphic>
      </p:graphicFrame>
      <p:sp>
        <p:nvSpPr>
          <p:cNvPr id="4" name="">
            <a:extLst xmlns:a="http://schemas.openxmlformats.org/drawingml/2006/main">
              <a:ext uri="{FF2B5EF4-FFF2-40B4-BE49-F238E27FC236}">
                <a16:creationId xmlns:a16="http://schemas.microsoft.com/office/drawing/2014/main" id="{C47F7C15-C16D-45A9-8CCD-A986AF3717B1}"/>
              </a:ext>
            </a:extLst>
          </p:cNvPr>
          <p:cNvSpPr>
            <a:spLocks xmlns:a="http://schemas.openxmlformats.org/drawingml/2006/main" noGrp="1"/>
          </p:cNvSpPr>
          <p:nvPr/>
        </p:nvSpPr>
        <p:spPr>
          <a:xfrm xmlns:a="http://schemas.openxmlformats.org/drawingml/2006/main">
            <a:off x="8543925" y="201930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23694D"/>
                </a:solidFill>
                <a:latin typeface="DejaVu Sans"/>
                <a:ea typeface="DejaVu Sans"/>
                <a:cs typeface="DejaVu Sans"/>
              </a:defRPr>
            </a:pPr>
            <a:r>
              <a:rPr sz="5475" b="1">
                <a:solidFill>
                  <a:srgbClr val="23694D"/>
                </a:solidFill>
                <a:latin typeface="DejaVu Sans"/>
                <a:ea typeface="DejaVu Sans"/>
                <a:cs typeface="DejaVu Sans"/>
              </a:rPr>
              <a:t>0,960</a:t>
            </a:r>
          </a:p>
        </p:txBody>
      </p:sp>
      <p:sp>
        <p:nvSpPr>
          <p:cNvPr id="5" name="">
            <a:extLst xmlns:a="http://schemas.openxmlformats.org/drawingml/2006/main">
              <a:ext uri="{FF2B5EF4-FFF2-40B4-BE49-F238E27FC236}">
                <a16:creationId xmlns:a16="http://schemas.microsoft.com/office/drawing/2014/main" id="{7DF38573-DAE4-44D4-846C-26EB64C8356B}"/>
              </a:ext>
            </a:extLst>
          </p:cNvPr>
          <p:cNvSpPr>
            <a:spLocks xmlns:a="http://schemas.openxmlformats.org/drawingml/2006/main" noGrp="1"/>
          </p:cNvSpPr>
          <p:nvPr/>
        </p:nvSpPr>
        <p:spPr>
          <a:xfrm xmlns:a="http://schemas.openxmlformats.org/drawingml/2006/main">
            <a:off x="8591550" y="3124200"/>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Ortalama kat</a:t>
            </a:r>
          </a:p>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ROC-AUC</a:t>
            </a:r>
          </a:p>
        </p:txBody>
      </p:sp>
      <p:sp>
        <p:nvSpPr>
          <p:cNvPr id="6" name="">
            <a:extLst xmlns:a="http://schemas.openxmlformats.org/drawingml/2006/main">
              <a:ext uri="{FF2B5EF4-FFF2-40B4-BE49-F238E27FC236}">
                <a16:creationId xmlns:a16="http://schemas.microsoft.com/office/drawing/2014/main" id="{2EBAB9D9-4503-4855-843D-B113F37BA3BF}"/>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Mahalle bazında ayrım. Kayıtlı veri. Bağımsız dış test kümesi henüz yok.</a:t>
            </a:r>
          </a:p>
        </p:txBody>
      </p:sp>
    </p:spTree>
    <p:extLst>
      <p:ext uri="{BB962C8B-B14F-4D97-AF65-F5344CB8AC3E}">
        <p14:creationId xmlns:p14="http://schemas.microsoft.com/office/powerpoint/2010/main" val="2041536456"/>
      </p:ext>
    </p:extLst>
  </p:cSld>
</p:sld>
</file>

<file path=ppt/slides/slide1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525358-7B98-4E1D-A40C-7694CE37F96B}"/>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Modelde öne çıkan özellikler</a:t>
            </a:r>
          </a:p>
        </p:txBody>
      </p:sp>
      <p:sp>
        <p:nvSpPr>
          <p:cNvPr id="2" name="">
            <a:extLst xmlns:a="http://schemas.openxmlformats.org/drawingml/2006/main">
              <a:ext uri="{FF2B5EF4-FFF2-40B4-BE49-F238E27FC236}">
                <a16:creationId xmlns:a16="http://schemas.microsoft.com/office/drawing/2014/main" id="{05A10924-AD74-4D02-BEB3-C246CB0EA83C}"/>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A959BBAF-825F-4E65-8192-E7FEB3D1E493}"/>
              </a:ext>
            </a:extLst>
          </p:cNvPr>
          <p:cNvSpPr>
            <a:spLocks xmlns:a="http://schemas.openxmlformats.org/drawingml/2006/main" noGrp="1"/>
          </p:cNvSpPr>
          <p:nvPr/>
        </p:nvSpPr>
        <p:spPr>
          <a:xfrm xmlns:a="http://schemas.openxmlformats.org/drawingml/2006/main">
            <a:off x="685800" y="136207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5F"/>
                </a:solidFill>
                <a:latin typeface="DejaVu Sans"/>
                <a:ea typeface="DejaVu Sans"/>
                <a:cs typeface="DejaVu Sans"/>
              </a:defRPr>
            </a:pPr>
            <a:r>
              <a:rPr sz="1725" b="0">
                <a:solidFill>
                  <a:srgbClr val="56675F"/>
                </a:solidFill>
                <a:latin typeface="DejaVu Sans"/>
                <a:ea typeface="DejaVu Sans"/>
                <a:cs typeface="DejaVu Sans"/>
              </a:rPr>
              <a:t>Gini önem payları (%)</a:t>
            </a:r>
          </a:p>
        </p:txBody>
      </p:sp>
      <p:graphicFrame>
        <p:nvGraphicFramePr>
          <p:cNvPr id="9" name="Chart"/>
          <p:cNvGraphicFramePr/>
          <p:nvPr/>
        </p:nvGraphicFramePr>
        <p:xfrm>
          <a:off xmlns:a="http://schemas.openxmlformats.org/drawingml/2006/main" x="685800" y="1638300"/>
          <a:ext xmlns:a="http://schemas.openxmlformats.org/drawingml/2006/main" cx="10572750" cy="3810000"/>
        </p:xfrm>
        <a:graphic xmlns:a="http://schemas.openxmlformats.org/drawingml/2006/main">
          <a:graphicData uri="http://schemas.openxmlformats.org/drawingml/2006/chart">
            <c:chart xmlns:r="http://schemas.openxmlformats.org/officeDocument/2006/relationships" xmlns:c="http://schemas.openxmlformats.org/drawingml/2006/chart" r:id="R6df1f622038e4dc1"/>
          </a:graphicData>
        </a:graphic>
      </p:graphicFrame>
      <p:sp>
        <p:nvSpPr>
          <p:cNvPr id="5" name="">
            <a:extLst xmlns:a="http://schemas.openxmlformats.org/drawingml/2006/main">
              <a:ext uri="{FF2B5EF4-FFF2-40B4-BE49-F238E27FC236}">
                <a16:creationId xmlns:a16="http://schemas.microsoft.com/office/drawing/2014/main" id="{5A90538B-AE6B-420C-AA54-80D7F6DAA01D}"/>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Tam veri modeli Gini önemleri. Özellik önemi, nedensel etki değildir.</a:t>
            </a:r>
          </a:p>
        </p:txBody>
      </p:sp>
    </p:spTree>
    <p:extLst>
      <p:ext uri="{BB962C8B-B14F-4D97-AF65-F5344CB8AC3E}">
        <p14:creationId xmlns:p14="http://schemas.microsoft.com/office/powerpoint/2010/main" val="313072091"/>
      </p:ext>
    </p:extLst>
  </p:cSld>
</p:sld>
</file>

<file path=ppt/slides/slide1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BDA307-EB31-4D8B-9D25-AB66E0086B8B}"/>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Uygunluk haritası</a:t>
            </a:r>
          </a:p>
        </p:txBody>
      </p:sp>
      <p:sp>
        <p:nvSpPr>
          <p:cNvPr id="2" name="">
            <a:extLst xmlns:a="http://schemas.openxmlformats.org/drawingml/2006/main">
              <a:ext uri="{FF2B5EF4-FFF2-40B4-BE49-F238E27FC236}">
                <a16:creationId xmlns:a16="http://schemas.microsoft.com/office/drawing/2014/main" id="{60EA328F-1606-4324-B006-F4DD21FFF678}"/>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cd52bb516084ae4"/>
          <a:stretch xmlns:a="http://schemas.openxmlformats.org/drawingml/2006/main"/>
        </p:blipFill>
        <p:spPr>
          <a:xfrm xmlns:a="http://schemas.openxmlformats.org/drawingml/2006/main">
            <a:off x="1720274" y="1476375"/>
            <a:ext cx="3884177"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B84634-E225-4E97-A3F3-5EC84C241DA6}"/>
              </a:ext>
            </a:extLst>
          </p:cNvPr>
          <p:cNvSpPr>
            <a:spLocks xmlns:a="http://schemas.openxmlformats.org/drawingml/2006/main" noGrp="1"/>
          </p:cNvSpPr>
          <p:nvPr/>
        </p:nvSpPr>
        <p:spPr>
          <a:xfrm xmlns:a="http://schemas.openxmlformats.org/drawingml/2006/main">
            <a:off x="7219950" y="1762125"/>
            <a:ext cx="42291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Açık ton</a:t>
            </a:r>
          </a:p>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Daha düşük uygunluk</a:t>
            </a:r>
          </a:p>
          <a:p xmlns:a="http://schemas.openxmlformats.org/drawingml/2006/main">
            <a:r>
              <a:t/>
            </a:r>
          </a:p>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Koyu ton</a:t>
            </a:r>
          </a:p>
          <a:p xmlns:a="http://schemas.openxmlformats.org/drawingml/2006/main">
            <a:pPr>
              <a:defRPr sz="2250" b="0">
                <a:solidFill>
                  <a:srgbClr val="173D31"/>
                </a:solidFill>
                <a:latin typeface="DejaVu Sans"/>
                <a:ea typeface="DejaVu Sans"/>
                <a:cs typeface="DejaVu Sans"/>
              </a:defRPr>
            </a:pPr>
            <a:r>
              <a:rPr sz="2250" b="0">
                <a:solidFill>
                  <a:srgbClr val="173D31"/>
                </a:solidFill>
                <a:latin typeface="DejaVu Sans"/>
                <a:ea typeface="DejaVu Sans"/>
                <a:cs typeface="DejaVu Sans"/>
              </a:rPr>
              <a:t>Daha yüksek uygunluk</a:t>
            </a:r>
          </a:p>
        </p:txBody>
      </p:sp>
      <p:sp>
        <p:nvSpPr>
          <p:cNvPr id="5" name="">
            <a:extLst xmlns:a="http://schemas.openxmlformats.org/drawingml/2006/main">
              <a:ext uri="{FF2B5EF4-FFF2-40B4-BE49-F238E27FC236}">
                <a16:creationId xmlns:a16="http://schemas.microsoft.com/office/drawing/2014/main" id="{318E89EE-EA3E-41D2-9EB0-F82F8BD23135}"/>
              </a:ext>
            </a:extLst>
          </p:cNvPr>
          <p:cNvSpPr>
            <a:spLocks xmlns:a="http://schemas.openxmlformats.org/drawingml/2006/main" noGrp="1"/>
          </p:cNvSpPr>
          <p:nvPr/>
        </p:nvSpPr>
        <p:spPr>
          <a:xfrm xmlns:a="http://schemas.openxmlformats.org/drawingml/2006/main">
            <a:off x="7219950" y="4476750"/>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75F"/>
                </a:solidFill>
                <a:latin typeface="DejaVu Sans"/>
                <a:ea typeface="DejaVu Sans"/>
                <a:cs typeface="DejaVu Sans"/>
              </a:defRPr>
            </a:pPr>
            <a:r>
              <a:rPr sz="2025" b="0">
                <a:solidFill>
                  <a:srgbClr val="56675F"/>
                </a:solidFill>
                <a:latin typeface="DejaVu Sans"/>
                <a:ea typeface="DejaVu Sans"/>
                <a:cs typeface="DejaVu Sans"/>
              </a:rPr>
              <a:t>Kayıtlı proje çıktısı</a:t>
            </a:r>
          </a:p>
          <a:p xmlns:a="http://schemas.openxmlformats.org/drawingml/2006/main">
            <a:pPr>
              <a:defRPr sz="2025" b="0">
                <a:solidFill>
                  <a:srgbClr val="56675F"/>
                </a:solidFill>
                <a:latin typeface="DejaVu Sans"/>
                <a:ea typeface="DejaVu Sans"/>
                <a:cs typeface="DejaVu Sans"/>
              </a:defRPr>
            </a:pPr>
            <a:r>
              <a:rPr sz="2025" b="0">
                <a:solidFill>
                  <a:srgbClr val="56675F"/>
                </a:solidFill>
                <a:latin typeface="DejaVu Sans"/>
                <a:ea typeface="DejaVu Sans"/>
                <a:cs typeface="DejaVu Sans"/>
              </a:rPr>
              <a:t>Gelir veya kâr haritası olarak yorumlanmaz.</a:t>
            </a:r>
          </a:p>
        </p:txBody>
      </p:sp>
    </p:spTree>
    <p:extLst>
      <p:ext uri="{BB962C8B-B14F-4D97-AF65-F5344CB8AC3E}">
        <p14:creationId xmlns:p14="http://schemas.microsoft.com/office/powerpoint/2010/main" val="1726727279"/>
      </p:ext>
    </p:extLst>
  </p:cSld>
</p:sld>
</file>

<file path=ppt/slides/slide1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5DE2CC-B7FF-4ECC-8CE6-3799C04F00E8}"/>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Streamlit uygulamasında kullanıcı akışı</a:t>
            </a:r>
          </a:p>
        </p:txBody>
      </p:sp>
      <p:sp>
        <p:nvSpPr>
          <p:cNvPr id="2" name="">
            <a:extLst xmlns:a="http://schemas.openxmlformats.org/drawingml/2006/main">
              <a:ext uri="{FF2B5EF4-FFF2-40B4-BE49-F238E27FC236}">
                <a16:creationId xmlns:a16="http://schemas.microsoft.com/office/drawing/2014/main" id="{5F6A1D08-9C47-4D81-998E-E32A8EE3B4A0}"/>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1DA6240B-34FF-4572-AD3A-45209E3BEC34}"/>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01  Senaryo</a:t>
            </a:r>
          </a:p>
        </p:txBody>
      </p:sp>
      <p:sp>
        <p:nvSpPr>
          <p:cNvPr id="4" name="">
            <a:extLst xmlns:a="http://schemas.openxmlformats.org/drawingml/2006/main">
              <a:ext uri="{FF2B5EF4-FFF2-40B4-BE49-F238E27FC236}">
                <a16:creationId xmlns:a16="http://schemas.microsoft.com/office/drawing/2014/main" id="{416F1929-CB8E-4AFD-8BF2-E603862329D7}"/>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Mahalle seçimi ve talep, erişim, nüfus ağırlıkları.</a:t>
            </a:r>
          </a:p>
        </p:txBody>
      </p:sp>
      <p:sp>
        <p:nvSpPr>
          <p:cNvPr id="5" name="">
            <a:extLst xmlns:a="http://schemas.openxmlformats.org/drawingml/2006/main">
              <a:ext uri="{FF2B5EF4-FFF2-40B4-BE49-F238E27FC236}">
                <a16:creationId xmlns:a16="http://schemas.microsoft.com/office/drawing/2014/main" id="{169B6F97-63D5-4559-97F2-F6B866FB74CB}"/>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02  Karşılaştırma</a:t>
            </a:r>
          </a:p>
        </p:txBody>
      </p:sp>
      <p:sp>
        <p:nvSpPr>
          <p:cNvPr id="6" name="">
            <a:extLst xmlns:a="http://schemas.openxmlformats.org/drawingml/2006/main">
              <a:ext uri="{FF2B5EF4-FFF2-40B4-BE49-F238E27FC236}">
                <a16:creationId xmlns:a16="http://schemas.microsoft.com/office/drawing/2014/main" id="{2B7EDC47-111D-4BF5-BA32-E4CE067F889F}"/>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2D/3D harita, puan filtresi ve aday hücre listesi.</a:t>
            </a:r>
          </a:p>
        </p:txBody>
      </p:sp>
      <p:sp>
        <p:nvSpPr>
          <p:cNvPr id="7" name="">
            <a:extLst xmlns:a="http://schemas.openxmlformats.org/drawingml/2006/main">
              <a:ext uri="{FF2B5EF4-FFF2-40B4-BE49-F238E27FC236}">
                <a16:creationId xmlns:a16="http://schemas.microsoft.com/office/drawing/2014/main" id="{34461DED-B067-4770-9ED2-D7EC7C7000DC}"/>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03  Gerekçe</a:t>
            </a:r>
          </a:p>
        </p:txBody>
      </p:sp>
      <p:sp>
        <p:nvSpPr>
          <p:cNvPr id="8" name="">
            <a:extLst xmlns:a="http://schemas.openxmlformats.org/drawingml/2006/main">
              <a:ext uri="{FF2B5EF4-FFF2-40B4-BE49-F238E27FC236}">
                <a16:creationId xmlns:a16="http://schemas.microsoft.com/office/drawing/2014/main" id="{AEF00796-E860-4053-8C35-C9C585392980}"/>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Hücre katkıları, rekabet uyarıları ve eksik veri açıklamaları.</a:t>
            </a:r>
          </a:p>
        </p:txBody>
      </p:sp>
      <p:sp>
        <p:nvSpPr>
          <p:cNvPr id="9" name="">
            <a:extLst xmlns:a="http://schemas.openxmlformats.org/drawingml/2006/main">
              <a:ext uri="{FF2B5EF4-FFF2-40B4-BE49-F238E27FC236}">
                <a16:creationId xmlns:a16="http://schemas.microsoft.com/office/drawing/2014/main" id="{CF7BA641-68F0-4C7F-920C-C8CC4D434BF8}"/>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Uygulama, aday bölgelerin gerekçesini kullanıcıya gösterir.</a:t>
            </a:r>
          </a:p>
        </p:txBody>
      </p:sp>
    </p:spTree>
    <p:extLst>
      <p:ext uri="{BB962C8B-B14F-4D97-AF65-F5344CB8AC3E}">
        <p14:creationId xmlns:p14="http://schemas.microsoft.com/office/powerpoint/2010/main" val="432602302"/>
      </p:ext>
    </p:extLst>
  </p:cSld>
</p:sld>
</file>

<file path=ppt/slides/slide1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64A2A4-BAE2-4E7F-9E0F-D2571DFBCA7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Örnek kullanım: öğrenci odaklı kafe</a:t>
            </a:r>
          </a:p>
        </p:txBody>
      </p:sp>
      <p:sp>
        <p:nvSpPr>
          <p:cNvPr id="2" name="">
            <a:extLst xmlns:a="http://schemas.openxmlformats.org/drawingml/2006/main">
              <a:ext uri="{FF2B5EF4-FFF2-40B4-BE49-F238E27FC236}">
                <a16:creationId xmlns:a16="http://schemas.microsoft.com/office/drawing/2014/main" id="{03D637E2-3CB0-4DCE-B38F-8101F2B6045C}"/>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6A0FACBF-5E5C-4CB8-8CFE-34D2F97241F8}"/>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İşletme varsayımı</a:t>
            </a:r>
          </a:p>
        </p:txBody>
      </p:sp>
      <p:sp>
        <p:nvSpPr>
          <p:cNvPr id="4" name="">
            <a:extLst xmlns:a="http://schemas.openxmlformats.org/drawingml/2006/main">
              <a:ext uri="{FF2B5EF4-FFF2-40B4-BE49-F238E27FC236}">
                <a16:creationId xmlns:a16="http://schemas.microsoft.com/office/drawing/2014/main" id="{3474452E-550E-47C1-955F-AFBE550BCD30}"/>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Öğrenci çevresine erişmek isteyen bir kafe konsepti.</a:t>
            </a:r>
          </a:p>
        </p:txBody>
      </p:sp>
      <p:sp>
        <p:nvSpPr>
          <p:cNvPr id="5" name="">
            <a:extLst xmlns:a="http://schemas.openxmlformats.org/drawingml/2006/main">
              <a:ext uri="{FF2B5EF4-FFF2-40B4-BE49-F238E27FC236}">
                <a16:creationId xmlns:a16="http://schemas.microsoft.com/office/drawing/2014/main" id="{43C11FD3-9EB3-49B5-8378-2DA42F49E605}"/>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Panelde karşılaştırma</a:t>
            </a:r>
          </a:p>
        </p:txBody>
      </p:sp>
      <p:sp>
        <p:nvSpPr>
          <p:cNvPr id="6" name="">
            <a:extLst xmlns:a="http://schemas.openxmlformats.org/drawingml/2006/main">
              <a:ext uri="{FF2B5EF4-FFF2-40B4-BE49-F238E27FC236}">
                <a16:creationId xmlns:a16="http://schemas.microsoft.com/office/drawing/2014/main" id="{8B86512B-A185-45F9-8236-5AF6731EA03B}"/>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Talep ve erişim ağırlıklarını artırarak aday hücreleri inceleme.</a:t>
            </a:r>
          </a:p>
        </p:txBody>
      </p:sp>
      <p:sp>
        <p:nvSpPr>
          <p:cNvPr id="7" name="">
            <a:extLst xmlns:a="http://schemas.openxmlformats.org/drawingml/2006/main">
              <a:ext uri="{FF2B5EF4-FFF2-40B4-BE49-F238E27FC236}">
                <a16:creationId xmlns:a16="http://schemas.microsoft.com/office/drawing/2014/main" id="{6D0FD805-960C-41D6-83BA-51F73249ADD7}"/>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Saha kontrolü</a:t>
            </a:r>
          </a:p>
        </p:txBody>
      </p:sp>
      <p:sp>
        <p:nvSpPr>
          <p:cNvPr id="8" name="">
            <a:extLst xmlns:a="http://schemas.openxmlformats.org/drawingml/2006/main">
              <a:ext uri="{FF2B5EF4-FFF2-40B4-BE49-F238E27FC236}">
                <a16:creationId xmlns:a16="http://schemas.microsoft.com/office/drawing/2014/main" id="{A132E439-8108-46E6-9579-3B8CDE04655A}"/>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Fiili yürüme güzergâhı, kira, fiyat uyumu ve saatlik hareketlilik.</a:t>
            </a:r>
          </a:p>
        </p:txBody>
      </p:sp>
      <p:sp>
        <p:nvSpPr>
          <p:cNvPr id="9" name="">
            <a:extLst xmlns:a="http://schemas.openxmlformats.org/drawingml/2006/main">
              <a:ext uri="{FF2B5EF4-FFF2-40B4-BE49-F238E27FC236}">
                <a16:creationId xmlns:a16="http://schemas.microsoft.com/office/drawing/2014/main" id="{6E5733BF-1FD9-4FF1-91C7-7D94DB9304C7}"/>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Bu senaryo örnektir. Öğrenci müşteri davranışı mevcut veriyle ölçülmez.</a:t>
            </a:r>
          </a:p>
        </p:txBody>
      </p:sp>
    </p:spTree>
    <p:extLst>
      <p:ext uri="{BB962C8B-B14F-4D97-AF65-F5344CB8AC3E}">
        <p14:creationId xmlns:p14="http://schemas.microsoft.com/office/powerpoint/2010/main" val="21186812"/>
      </p:ext>
    </p:extLst>
  </p:cSld>
</p:sld>
</file>

<file path=ppt/slides/slide1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74B5F7-69CD-4029-9B38-1900CA8516B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Mevcut durum ve sınırlılıklar</a:t>
            </a:r>
          </a:p>
        </p:txBody>
      </p:sp>
      <p:sp>
        <p:nvSpPr>
          <p:cNvPr id="2" name="">
            <a:extLst xmlns:a="http://schemas.openxmlformats.org/drawingml/2006/main">
              <a:ext uri="{FF2B5EF4-FFF2-40B4-BE49-F238E27FC236}">
                <a16:creationId xmlns:a16="http://schemas.microsoft.com/office/drawing/2014/main" id="{CE2FE1EC-2891-4005-AA4B-431DC21BE950}"/>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0A124D12-AF50-4E3C-90F0-38C162A3EBDC}"/>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Çalışan prototip</a:t>
            </a:r>
          </a:p>
        </p:txBody>
      </p:sp>
      <p:sp>
        <p:nvSpPr>
          <p:cNvPr id="4" name="">
            <a:extLst xmlns:a="http://schemas.openxmlformats.org/drawingml/2006/main">
              <a:ext uri="{FF2B5EF4-FFF2-40B4-BE49-F238E27FC236}">
                <a16:creationId xmlns:a16="http://schemas.microsoft.com/office/drawing/2014/main" id="{2F51B949-1718-47A2-83F7-0F5C9C568B7D}"/>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Puanlama, benzerlik modeli, haritalar, filtreler ve açıklamalar.</a:t>
            </a:r>
          </a:p>
        </p:txBody>
      </p:sp>
      <p:sp>
        <p:nvSpPr>
          <p:cNvPr id="5" name="">
            <a:extLst xmlns:a="http://schemas.openxmlformats.org/drawingml/2006/main">
              <a:ext uri="{FF2B5EF4-FFF2-40B4-BE49-F238E27FC236}">
                <a16:creationId xmlns:a16="http://schemas.microsoft.com/office/drawing/2014/main" id="{90E201C3-6EC3-4978-95C5-6F3B2572EB77}"/>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Veri yenileme ihtiyacı</a:t>
            </a:r>
          </a:p>
        </p:txBody>
      </p:sp>
      <p:sp>
        <p:nvSpPr>
          <p:cNvPr id="6" name="">
            <a:extLst xmlns:a="http://schemas.openxmlformats.org/drawingml/2006/main">
              <a:ext uri="{FF2B5EF4-FFF2-40B4-BE49-F238E27FC236}">
                <a16:creationId xmlns:a16="http://schemas.microsoft.com/office/drawing/2014/main" id="{9A6EBA71-E798-4928-B73B-102F38FB9BED}"/>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Ham kafe koordinatları ve yeni talep katmanları kayıtlı veride eksik.</a:t>
            </a:r>
          </a:p>
        </p:txBody>
      </p:sp>
      <p:sp>
        <p:nvSpPr>
          <p:cNvPr id="7" name="">
            <a:extLst xmlns:a="http://schemas.openxmlformats.org/drawingml/2006/main">
              <a:ext uri="{FF2B5EF4-FFF2-40B4-BE49-F238E27FC236}">
                <a16:creationId xmlns:a16="http://schemas.microsoft.com/office/drawing/2014/main" id="{99D86C15-9FEC-4805-94A8-1152E1D671C0}"/>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Ölçüm sınırı</a:t>
            </a:r>
          </a:p>
        </p:txBody>
      </p:sp>
      <p:sp>
        <p:nvSpPr>
          <p:cNvPr id="8" name="">
            <a:extLst xmlns:a="http://schemas.openxmlformats.org/drawingml/2006/main">
              <a:ext uri="{FF2B5EF4-FFF2-40B4-BE49-F238E27FC236}">
                <a16:creationId xmlns:a16="http://schemas.microsoft.com/office/drawing/2014/main" id="{511A7683-10A8-431A-8E53-758D4B99DEA5}"/>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Kira, satış, gerçek yaya akışı ve müşteri tercihleri veri setinde yok.</a:t>
            </a:r>
          </a:p>
        </p:txBody>
      </p:sp>
      <p:sp>
        <p:nvSpPr>
          <p:cNvPr id="9" name="">
            <a:extLst xmlns:a="http://schemas.openxmlformats.org/drawingml/2006/main">
              <a:ext uri="{FF2B5EF4-FFF2-40B4-BE49-F238E27FC236}">
                <a16:creationId xmlns:a16="http://schemas.microsoft.com/office/drawing/2014/main" id="{9A48C00D-770D-43FA-A3F3-4BEFC4B99597}"/>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Dokümantasyonda 43 test kaydı var. Ticari etki ve canlı yayın doğrulanmış değil.</a:t>
            </a:r>
          </a:p>
        </p:txBody>
      </p:sp>
    </p:spTree>
    <p:extLst>
      <p:ext uri="{BB962C8B-B14F-4D97-AF65-F5344CB8AC3E}">
        <p14:creationId xmlns:p14="http://schemas.microsoft.com/office/powerpoint/2010/main" val="1205399998"/>
      </p:ext>
    </p:extLst>
  </p:cSld>
</p:sld>
</file>

<file path=ppt/slides/slide2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E23B3D-23DA-487F-83BD-F4091FCDF55B}"/>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Pilot değerlendirme ve geliştirme planı</a:t>
            </a:r>
          </a:p>
        </p:txBody>
      </p:sp>
      <p:sp>
        <p:nvSpPr>
          <p:cNvPr id="2" name="">
            <a:extLst xmlns:a="http://schemas.openxmlformats.org/drawingml/2006/main">
              <a:ext uri="{FF2B5EF4-FFF2-40B4-BE49-F238E27FC236}">
                <a16:creationId xmlns:a16="http://schemas.microsoft.com/office/drawing/2014/main" id="{84E64E14-D095-4805-83EC-C794F4650F26}"/>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20</a:t>
            </a:r>
          </a:p>
        </p:txBody>
      </p:sp>
      <p:sp>
        <p:nvSpPr>
          <p:cNvPr id="3" name="">
            <a:extLst xmlns:a="http://schemas.openxmlformats.org/drawingml/2006/main">
              <a:ext uri="{FF2B5EF4-FFF2-40B4-BE49-F238E27FC236}">
                <a16:creationId xmlns:a16="http://schemas.microsoft.com/office/drawing/2014/main" id="{460974BD-B06B-48DF-998C-DBB74562321F}"/>
              </a:ext>
            </a:extLst>
          </p:cNvPr>
          <p:cNvSpPr>
            <a:spLocks xmlns:a="http://schemas.openxmlformats.org/drawingml/2006/main" noGrp="1"/>
          </p:cNvSpPr>
          <p:nvPr/>
        </p:nvSpPr>
        <p:spPr>
          <a:xfrm xmlns:a="http://schemas.openxmlformats.org/drawingml/2006/main">
            <a:off x="685800" y="1809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Önce veri</a:t>
            </a:r>
          </a:p>
        </p:txBody>
      </p:sp>
      <p:sp>
        <p:nvSpPr>
          <p:cNvPr id="4" name="">
            <a:extLst xmlns:a="http://schemas.openxmlformats.org/drawingml/2006/main">
              <a:ext uri="{FF2B5EF4-FFF2-40B4-BE49-F238E27FC236}">
                <a16:creationId xmlns:a16="http://schemas.microsoft.com/office/drawing/2014/main" id="{A1C7CF79-194A-4F5A-AC83-C9A4459F43CB}"/>
              </a:ext>
            </a:extLst>
          </p:cNvPr>
          <p:cNvSpPr>
            <a:spLocks xmlns:a="http://schemas.openxmlformats.org/drawingml/2006/main" noGrp="1"/>
          </p:cNvSpPr>
          <p:nvPr/>
        </p:nvSpPr>
        <p:spPr>
          <a:xfrm xmlns:a="http://schemas.openxmlformats.org/drawingml/2006/main">
            <a:off x="4095750" y="18097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OSM katmanlarını yenileme, kafe koordinatlarını ve okul etiketlerini kontrol.</a:t>
            </a:r>
          </a:p>
        </p:txBody>
      </p:sp>
      <p:sp>
        <p:nvSpPr>
          <p:cNvPr id="5" name="">
            <a:extLst xmlns:a="http://schemas.openxmlformats.org/drawingml/2006/main">
              <a:ext uri="{FF2B5EF4-FFF2-40B4-BE49-F238E27FC236}">
                <a16:creationId xmlns:a16="http://schemas.microsoft.com/office/drawing/2014/main" id="{0C750FF4-49AC-46F6-8E90-1E70CF4C1EDB}"/>
              </a:ext>
            </a:extLst>
          </p:cNvPr>
          <p:cNvSpPr>
            <a:spLocks xmlns:a="http://schemas.openxmlformats.org/drawingml/2006/main" noGrp="1"/>
          </p:cNvSpPr>
          <p:nvPr/>
        </p:nvSpPr>
        <p:spPr>
          <a:xfrm xmlns:a="http://schemas.openxmlformats.org/drawingml/2006/main">
            <a:off x="685800" y="28384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Sonra saha pilotu</a:t>
            </a:r>
          </a:p>
        </p:txBody>
      </p:sp>
      <p:sp>
        <p:nvSpPr>
          <p:cNvPr id="6" name="">
            <a:extLst xmlns:a="http://schemas.openxmlformats.org/drawingml/2006/main">
              <a:ext uri="{FF2B5EF4-FFF2-40B4-BE49-F238E27FC236}">
                <a16:creationId xmlns:a16="http://schemas.microsoft.com/office/drawing/2014/main" id="{9A48DE5B-9281-4BCF-9409-BD4E1D7121FC}"/>
              </a:ext>
            </a:extLst>
          </p:cNvPr>
          <p:cNvSpPr>
            <a:spLocks xmlns:a="http://schemas.openxmlformats.org/drawingml/2006/main" noGrp="1"/>
          </p:cNvSpPr>
          <p:nvPr/>
        </p:nvSpPr>
        <p:spPr>
          <a:xfrm xmlns:a="http://schemas.openxmlformats.org/drawingml/2006/main">
            <a:off x="4095750" y="28384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Manuel inceleme ile uygulamada aday listesi hazırlama süresini karşılaştırma.</a:t>
            </a:r>
          </a:p>
        </p:txBody>
      </p:sp>
      <p:sp>
        <p:nvSpPr>
          <p:cNvPr id="7" name="">
            <a:extLst xmlns:a="http://schemas.openxmlformats.org/drawingml/2006/main">
              <a:ext uri="{FF2B5EF4-FFF2-40B4-BE49-F238E27FC236}">
                <a16:creationId xmlns:a16="http://schemas.microsoft.com/office/drawing/2014/main" id="{5C5BDE9A-D55E-415D-A2EB-D692E93810E8}"/>
              </a:ext>
            </a:extLst>
          </p:cNvPr>
          <p:cNvSpPr>
            <a:spLocks xmlns:a="http://schemas.openxmlformats.org/drawingml/2006/main" noGrp="1"/>
          </p:cNvSpPr>
          <p:nvPr/>
        </p:nvSpPr>
        <p:spPr>
          <a:xfrm xmlns:a="http://schemas.openxmlformats.org/drawingml/2006/main">
            <a:off x="685800" y="38671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694D"/>
                </a:solidFill>
                <a:latin typeface="DejaVu Sans"/>
                <a:ea typeface="DejaVu Sans"/>
                <a:cs typeface="DejaVu Sans"/>
              </a:defRPr>
            </a:pPr>
            <a:r>
              <a:rPr sz="2175" b="1">
                <a:solidFill>
                  <a:srgbClr val="23694D"/>
                </a:solidFill>
                <a:latin typeface="DejaVu Sans"/>
                <a:ea typeface="DejaVu Sans"/>
                <a:cs typeface="DejaVu Sans"/>
              </a:rPr>
              <a:t>Daha güçlü doğrulama</a:t>
            </a:r>
          </a:p>
        </p:txBody>
      </p:sp>
      <p:sp>
        <p:nvSpPr>
          <p:cNvPr id="8" name="">
            <a:extLst xmlns:a="http://schemas.openxmlformats.org/drawingml/2006/main">
              <a:ext uri="{FF2B5EF4-FFF2-40B4-BE49-F238E27FC236}">
                <a16:creationId xmlns:a16="http://schemas.microsoft.com/office/drawing/2014/main" id="{4F64D06C-F10F-4874-80E0-7A6C9CF0C453}"/>
              </a:ext>
            </a:extLst>
          </p:cNvPr>
          <p:cNvSpPr>
            <a:spLocks xmlns:a="http://schemas.openxmlformats.org/drawingml/2006/main" noGrp="1"/>
          </p:cNvSpPr>
          <p:nvPr/>
        </p:nvSpPr>
        <p:spPr>
          <a:xfrm xmlns:a="http://schemas.openxmlformats.org/drawingml/2006/main">
            <a:off x="4095750" y="38671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D31"/>
                </a:solidFill>
                <a:latin typeface="DejaVu Sans"/>
                <a:ea typeface="DejaVu Sans"/>
                <a:cs typeface="DejaVu Sans"/>
              </a:defRPr>
            </a:pPr>
            <a:r>
              <a:rPr sz="2025" b="0">
                <a:solidFill>
                  <a:srgbClr val="173D31"/>
                </a:solidFill>
                <a:latin typeface="DejaVu Sans"/>
                <a:ea typeface="DejaVu Sans"/>
                <a:cs typeface="DejaVu Sans"/>
              </a:rPr>
              <a:t>Bağımsız bölge testi, saha gözlemi, kira ve gerçek hareketlilik verisi.</a:t>
            </a:r>
          </a:p>
        </p:txBody>
      </p:sp>
      <p:sp>
        <p:nvSpPr>
          <p:cNvPr id="9" name="">
            <a:extLst xmlns:a="http://schemas.openxmlformats.org/drawingml/2006/main">
              <a:ext uri="{FF2B5EF4-FFF2-40B4-BE49-F238E27FC236}">
                <a16:creationId xmlns:a16="http://schemas.microsoft.com/office/drawing/2014/main" id="{69422F89-B9F6-4EF8-B39D-D846F82AADC7}"/>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Pilot KPI önerisi: Aday liste hazırlama süresi ve saha uygunluğu</a:t>
            </a:r>
          </a:p>
        </p:txBody>
      </p:sp>
    </p:spTree>
    <p:extLst>
      <p:ext uri="{BB962C8B-B14F-4D97-AF65-F5344CB8AC3E}">
        <p14:creationId xmlns:p14="http://schemas.microsoft.com/office/powerpoint/2010/main" val="395765153"/>
      </p:ext>
    </p:extLst>
  </p:cSld>
</p:sld>
</file>

<file path=ppt/slides/slide2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772536-A6DA-4BFE-8A76-35D06CB4CF34}"/>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Projenin sunduğu değer</a:t>
            </a:r>
          </a:p>
        </p:txBody>
      </p:sp>
      <p:sp>
        <p:nvSpPr>
          <p:cNvPr id="2" name="">
            <a:extLst xmlns:a="http://schemas.openxmlformats.org/drawingml/2006/main">
              <a:ext uri="{FF2B5EF4-FFF2-40B4-BE49-F238E27FC236}">
                <a16:creationId xmlns:a16="http://schemas.microsoft.com/office/drawing/2014/main" id="{9A7E46E7-36B4-431C-8E8F-CAE4C3ACF36A}"/>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21</a:t>
            </a:r>
          </a:p>
        </p:txBody>
      </p:sp>
      <p:sp>
        <p:nvSpPr>
          <p:cNvPr id="3" name="">
            <a:extLst xmlns:a="http://schemas.openxmlformats.org/drawingml/2006/main">
              <a:ext uri="{FF2B5EF4-FFF2-40B4-BE49-F238E27FC236}">
                <a16:creationId xmlns:a16="http://schemas.microsoft.com/office/drawing/2014/main" id="{06ED9ADE-6089-4A88-86C9-1945C5BF55CE}"/>
              </a:ext>
            </a:extLst>
          </p:cNvPr>
          <p:cNvSpPr>
            <a:spLocks xmlns:a="http://schemas.openxmlformats.org/drawingml/2006/main" noGrp="1"/>
          </p:cNvSpPr>
          <p:nvPr/>
        </p:nvSpPr>
        <p:spPr>
          <a:xfrm xmlns:a="http://schemas.openxmlformats.org/drawingml/2006/main">
            <a:off x="6858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694D"/>
                </a:solidFill>
                <a:latin typeface="DejaVu Sans"/>
                <a:ea typeface="DejaVu Sans"/>
                <a:cs typeface="DejaVu Sans"/>
              </a:defRPr>
            </a:pPr>
            <a:r>
              <a:rPr sz="3900" b="1">
                <a:solidFill>
                  <a:srgbClr val="23694D"/>
                </a:solidFill>
                <a:latin typeface="DejaVu Sans"/>
                <a:ea typeface="DejaVu Sans"/>
                <a:cs typeface="DejaVu Sans"/>
              </a:rPr>
              <a:t>Pazar–konum uyumu</a:t>
            </a:r>
          </a:p>
        </p:txBody>
      </p:sp>
      <p:sp>
        <p:nvSpPr>
          <p:cNvPr id="4" name="">
            <a:extLst xmlns:a="http://schemas.openxmlformats.org/drawingml/2006/main">
              <a:ext uri="{FF2B5EF4-FFF2-40B4-BE49-F238E27FC236}">
                <a16:creationId xmlns:a16="http://schemas.microsoft.com/office/drawing/2014/main" id="{2F4045B4-A32A-496B-A3D0-E8EC6A1CC852}"/>
              </a:ext>
            </a:extLst>
          </p:cNvPr>
          <p:cNvSpPr>
            <a:spLocks xmlns:a="http://schemas.openxmlformats.org/drawingml/2006/main" noGrp="1"/>
          </p:cNvSpPr>
          <p:nvPr/>
        </p:nvSpPr>
        <p:spPr>
          <a:xfrm xmlns:a="http://schemas.openxmlformats.org/drawingml/2006/main">
            <a:off x="685800" y="2876550"/>
            <a:ext cx="108204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Kafe girişimcileri için gerekçeli aday bölge seçimi.</a:t>
            </a:r>
          </a:p>
          <a:p xmlns:a="http://schemas.openxmlformats.org/drawingml/2006/main">
            <a:r>
              <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Hedef 11 odağında ulaşım ve mahalle erişiminin görünürlüğü.</a:t>
            </a:r>
          </a:p>
          <a:p xmlns:a="http://schemas.openxmlformats.org/drawingml/2006/main">
            <a:r>
              <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Ayarlanabilir uygunluk ve ayrı bir yapay zekâ benzerlik katmanı.</a:t>
            </a:r>
          </a:p>
        </p:txBody>
      </p:sp>
      <p:sp>
        <p:nvSpPr>
          <p:cNvPr id="5" name="">
            <a:extLst xmlns:a="http://schemas.openxmlformats.org/drawingml/2006/main">
              <a:ext uri="{FF2B5EF4-FFF2-40B4-BE49-F238E27FC236}">
                <a16:creationId xmlns:a16="http://schemas.microsoft.com/office/drawing/2014/main" id="{2A6872A6-3D31-40FA-AD0C-E59345C51A1B}"/>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B7939"/>
                </a:solidFill>
                <a:latin typeface="DejaVu Sans"/>
                <a:ea typeface="DejaVu Sans"/>
                <a:cs typeface="DejaVu Sans"/>
              </a:defRPr>
            </a:pPr>
            <a:r>
              <a:rPr sz="1875" b="1">
                <a:solidFill>
                  <a:srgbClr val="CB7939"/>
                </a:solidFill>
                <a:latin typeface="DejaVu Sans"/>
                <a:ea typeface="DejaVu Sans"/>
                <a:cs typeface="DejaVu Sans"/>
              </a:rPr>
              <a:t>Bir sonraki kanıt: Gerçek kullanıcılarla saha pilotu</a:t>
            </a:r>
          </a:p>
        </p:txBody>
      </p:sp>
    </p:spTree>
    <p:extLst>
      <p:ext uri="{BB962C8B-B14F-4D97-AF65-F5344CB8AC3E}">
        <p14:creationId xmlns:p14="http://schemas.microsoft.com/office/powerpoint/2010/main" val="1610291486"/>
      </p:ext>
    </p:extLst>
  </p:cSld>
</p:sld>
</file>

<file path=ppt/slides/slide2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9E6E61-42BE-41A2-9EC9-D476027AD833}"/>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1"/>
                </a:solidFill>
                <a:latin typeface="DejaVu Sans"/>
                <a:ea typeface="DejaVu Sans"/>
                <a:cs typeface="DejaVu Sans"/>
              </a:defRPr>
            </a:pPr>
            <a:r>
              <a:rPr sz="3300" b="1">
                <a:solidFill>
                  <a:srgbClr val="173D31"/>
                </a:solidFill>
                <a:latin typeface="DejaVu Sans"/>
                <a:ea typeface="DejaVu Sans"/>
                <a:cs typeface="DejaVu Sans"/>
              </a:rPr>
              <a:t>Kaynaklar ve teknik ek</a:t>
            </a:r>
          </a:p>
        </p:txBody>
      </p:sp>
      <p:sp>
        <p:nvSpPr>
          <p:cNvPr id="2" name="">
            <a:extLst xmlns:a="http://schemas.openxmlformats.org/drawingml/2006/main">
              <a:ext uri="{FF2B5EF4-FFF2-40B4-BE49-F238E27FC236}">
                <a16:creationId xmlns:a16="http://schemas.microsoft.com/office/drawing/2014/main" id="{4A796CCA-BF6A-429F-8D74-2C86252E1038}"/>
              </a:ext>
            </a:extLst>
          </p:cNvPr>
          <p:cNvSpPr>
            <a:spLocks xmlns:a="http://schemas.openxmlformats.org/drawingml/2006/main" noGrp="1"/>
          </p:cNvSpPr>
          <p:nvPr/>
        </p:nvSpPr>
        <p:spPr>
          <a:xfrm xmlns:a="http://schemas.openxmlformats.org/drawingml/2006/main">
            <a:off x="11144250" y="63436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75F"/>
                </a:solidFill>
                <a:latin typeface="DejaVu Sans"/>
                <a:ea typeface="DejaVu Sans"/>
                <a:cs typeface="DejaVu Sans"/>
              </a:defRPr>
            </a:pPr>
            <a:r>
              <a:rPr sz="1275" b="0">
                <a:solidFill>
                  <a:srgbClr val="56675F"/>
                </a:solidFill>
                <a:latin typeface="DejaVu Sans"/>
                <a:ea typeface="DejaVu Sans"/>
                <a:cs typeface="DejaVu Sans"/>
              </a:rPr>
              <a:t>22</a:t>
            </a:r>
          </a:p>
        </p:txBody>
      </p:sp>
      <p:sp>
        <p:nvSpPr>
          <p:cNvPr id="3" name="">
            <a:extLst xmlns:a="http://schemas.openxmlformats.org/drawingml/2006/main">
              <a:ext uri="{FF2B5EF4-FFF2-40B4-BE49-F238E27FC236}">
                <a16:creationId xmlns:a16="http://schemas.microsoft.com/office/drawing/2014/main" id="{B5B799A2-C130-4465-88F0-78EF2FAE1B86}"/>
              </a:ext>
            </a:extLst>
          </p:cNvPr>
          <p:cNvSpPr>
            <a:spLocks xmlns:a="http://schemas.openxmlformats.org/drawingml/2006/main" noGrp="1"/>
          </p:cNvSpPr>
          <p:nvPr/>
        </p:nvSpPr>
        <p:spPr>
          <a:xfrm xmlns:a="http://schemas.openxmlformats.org/drawingml/2006/main">
            <a:off x="685800" y="1714500"/>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Proje ve yöntem</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GitHub deposu, README_TR.md, veri sözlüğü</a:t>
            </a:r>
          </a:p>
          <a:p xmlns:a="http://schemas.openxmlformats.org/drawingml/2006/main">
            <a:r>
              <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Model sonuçları</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docs/model_validation.md · 5 Ekim 2026</a:t>
            </a:r>
          </a:p>
          <a:p xmlns:a="http://schemas.openxmlformats.org/drawingml/2006/main">
            <a:r>
              <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Sürdürülebilirlik çerçevesi</a:t>
            </a:r>
          </a:p>
          <a:p xmlns:a="http://schemas.openxmlformats.org/drawingml/2006/main">
            <a:pPr>
              <a:defRPr sz="2175" b="0">
                <a:solidFill>
                  <a:srgbClr val="173D31"/>
                </a:solidFill>
                <a:latin typeface="DejaVu Sans"/>
                <a:ea typeface="DejaVu Sans"/>
                <a:cs typeface="DejaVu Sans"/>
              </a:defRPr>
            </a:pPr>
            <a:r>
              <a:rPr sz="2175" b="0">
                <a:solidFill>
                  <a:srgbClr val="173D31"/>
                </a:solidFill>
                <a:latin typeface="DejaVu Sans"/>
                <a:ea typeface="DejaVu Sans"/>
                <a:cs typeface="DejaVu Sans"/>
              </a:rPr>
              <a:t>Birleşmiş Milletler · sdgs.un.org/goals/goal11</a:t>
            </a:r>
          </a:p>
        </p:txBody>
      </p:sp>
      <p:sp>
        <p:nvSpPr>
          <p:cNvPr id="4" name="">
            <a:extLst xmlns:a="http://schemas.openxmlformats.org/drawingml/2006/main">
              <a:ext uri="{FF2B5EF4-FFF2-40B4-BE49-F238E27FC236}">
                <a16:creationId xmlns:a16="http://schemas.microsoft.com/office/drawing/2014/main" id="{A617406E-6C8D-451C-9E17-9DEA8125E975}"/>
              </a:ext>
            </a:extLst>
          </p:cNvPr>
          <p:cNvSpPr>
            <a:spLocks xmlns:a="http://schemas.openxmlformats.org/drawingml/2006/main" noGrp="1"/>
          </p:cNvSpPr>
          <p:nvPr/>
        </p:nvSpPr>
        <p:spPr>
          <a:xfrm xmlns:a="http://schemas.openxmlformats.org/drawingml/2006/main">
            <a:off x="6858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75F"/>
                </a:solidFill>
                <a:latin typeface="DejaVu Sans"/>
                <a:ea typeface="DejaVu Sans"/>
                <a:cs typeface="DejaVu Sans"/>
              </a:defRPr>
            </a:pPr>
            <a:r>
              <a:rPr sz="1650" b="0">
                <a:solidFill>
                  <a:srgbClr val="56675F"/>
                </a:solidFill>
                <a:latin typeface="DejaVu Sans"/>
                <a:ea typeface="DejaVu Sans"/>
                <a:cs typeface="DejaVu Sans"/>
              </a:rPr>
              <a:t>Kaynak sürümü: 457b4b6 · İnceleme tarihi: 7 Ekim 2026</a:t>
            </a:r>
          </a:p>
        </p:txBody>
      </p:sp>
    </p:spTree>
    <p:extLst>
      <p:ext uri="{BB962C8B-B14F-4D97-AF65-F5344CB8AC3E}">
        <p14:creationId xmlns:p14="http://schemas.microsoft.com/office/powerpoint/2010/main" val="1431889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2026-10-07T16:29:42.7140000Z</dcterms:created>
  <dcterms:modified xsi:type="dcterms:W3CDTF">2026-10-07T16:29:42.7140000Z</dcterms:modified>
</coreProperties>
</file>